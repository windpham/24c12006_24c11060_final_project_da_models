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5" r:id="rId1"/>
  </p:sldMasterIdLst>
  <p:notesMasterIdLst>
    <p:notesMasterId r:id="rId44"/>
  </p:notesMasterIdLst>
  <p:sldIdLst>
    <p:sldId id="256" r:id="rId2"/>
    <p:sldId id="257" r:id="rId3"/>
    <p:sldId id="318" r:id="rId4"/>
    <p:sldId id="294" r:id="rId5"/>
    <p:sldId id="295" r:id="rId6"/>
    <p:sldId id="296" r:id="rId7"/>
    <p:sldId id="297" r:id="rId8"/>
    <p:sldId id="298" r:id="rId9"/>
    <p:sldId id="299" r:id="rId10"/>
    <p:sldId id="300" r:id="rId11"/>
    <p:sldId id="319" r:id="rId12"/>
    <p:sldId id="317" r:id="rId13"/>
    <p:sldId id="320" r:id="rId14"/>
    <p:sldId id="321" r:id="rId15"/>
    <p:sldId id="308" r:id="rId16"/>
    <p:sldId id="323" r:id="rId17"/>
    <p:sldId id="309" r:id="rId18"/>
    <p:sldId id="310" r:id="rId19"/>
    <p:sldId id="324" r:id="rId20"/>
    <p:sldId id="325" r:id="rId21"/>
    <p:sldId id="311" r:id="rId22"/>
    <p:sldId id="326" r:id="rId23"/>
    <p:sldId id="327" r:id="rId24"/>
    <p:sldId id="312" r:id="rId25"/>
    <p:sldId id="328" r:id="rId26"/>
    <p:sldId id="313" r:id="rId27"/>
    <p:sldId id="329" r:id="rId28"/>
    <p:sldId id="314" r:id="rId29"/>
    <p:sldId id="330" r:id="rId30"/>
    <p:sldId id="331" r:id="rId31"/>
    <p:sldId id="332" r:id="rId32"/>
    <p:sldId id="315" r:id="rId33"/>
    <p:sldId id="316" r:id="rId34"/>
    <p:sldId id="333" r:id="rId35"/>
    <p:sldId id="334" r:id="rId36"/>
    <p:sldId id="335" r:id="rId37"/>
    <p:sldId id="336" r:id="rId38"/>
    <p:sldId id="337" r:id="rId39"/>
    <p:sldId id="338" r:id="rId40"/>
    <p:sldId id="339" r:id="rId41"/>
    <p:sldId id="340" r:id="rId42"/>
    <p:sldId id="322" r:id="rId43"/>
  </p:sldIdLst>
  <p:sldSz cx="9144000" cy="5143500" type="screen16x9"/>
  <p:notesSz cx="6858000" cy="9144000"/>
  <p:embeddedFontLst>
    <p:embeddedFont>
      <p:font typeface="Bahnschrift SemiBold Condensed" panose="020B0502040204020203" pitchFamily="34" charset="0"/>
      <p:bold r:id="rId45"/>
    </p:embeddedFont>
    <p:embeddedFont>
      <p:font typeface="Century" panose="02040604050505020304" pitchFamily="18" charset="0"/>
      <p:regular r:id="rId46"/>
    </p:embeddedFont>
    <p:embeddedFont>
      <p:font typeface="Didact Gothic" panose="00000500000000000000" pitchFamily="2" charset="0"/>
      <p:regular r:id="rId47"/>
    </p:embeddedFont>
    <p:embeddedFont>
      <p:font typeface="Libre Franklin" pitchFamily="2" charset="0"/>
      <p:regular r:id="rId48"/>
      <p:bold r:id="rId49"/>
      <p:italic r:id="rId50"/>
      <p:boldItalic r:id="rId51"/>
    </p:embeddedFont>
    <p:embeddedFont>
      <p:font typeface="Montserrat" panose="00000500000000000000" pitchFamily="2" charset="0"/>
      <p:regular r:id="rId52"/>
      <p:bold r:id="rId53"/>
    </p:embeddedFont>
    <p:embeddedFont>
      <p:font typeface="Nunito Light" pitchFamily="2" charset="0"/>
      <p:regular r:id="rId54"/>
      <p:italic r:id="rId55"/>
    </p:embeddedFont>
    <p:embeddedFont>
      <p:font typeface="Poppins" panose="00000500000000000000" pitchFamily="2" charset="0"/>
      <p:regular r:id="rId56"/>
      <p:bold r:id="rId57"/>
      <p:italic r:id="rId58"/>
      <p:boldItalic r:id="rId59"/>
    </p:embeddedFont>
    <p:embeddedFont>
      <p:font typeface="Raleway" pitchFamily="2" charset="0"/>
      <p:regular r:id="rId60"/>
      <p:bold r:id="rId61"/>
      <p:italic r:id="rId62"/>
      <p:boldItalic r:id="rId63"/>
    </p:embeddedFont>
    <p:embeddedFont>
      <p:font typeface="Segoe UI Black" panose="020B0A02040204020203" pitchFamily="34" charset="0"/>
      <p:bold r:id="rId64"/>
      <p:boldItalic r:id="rId6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A5D7B47-62A6-4617-9382-30DE93583E0C}" v="1" dt="2026-01-30T16:02:59.190"/>
  </p1510:revLst>
</p1510:revInfo>
</file>

<file path=ppt/tableStyles.xml><?xml version="1.0" encoding="utf-8"?>
<a:tblStyleLst xmlns:a="http://schemas.openxmlformats.org/drawingml/2006/main" def="{796E0CDC-5D70-4933-84AB-4C97D0D1E0CE}">
  <a:tblStyle styleId="{796E0CDC-5D70-4933-84AB-4C97D0D1E0C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9" d="100"/>
          <a:sy n="139" d="100"/>
        </p:scale>
        <p:origin x="80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3.fntdata"/><Relationship Id="rId63" Type="http://schemas.openxmlformats.org/officeDocument/2006/relationships/font" Target="fonts/font19.fntdata"/><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1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font" Target="fonts/font12.fntdata"/><Relationship Id="rId64" Type="http://schemas.openxmlformats.org/officeDocument/2006/relationships/font" Target="fonts/font20.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openxmlformats.org/officeDocument/2006/relationships/font" Target="fonts/font15.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62" Type="http://schemas.openxmlformats.org/officeDocument/2006/relationships/font" Target="fonts/font18.fntdata"/><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65" Type="http://schemas.openxmlformats.org/officeDocument/2006/relationships/font" Target="fonts/font21.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6.fntdata"/><Relationship Id="rId55" Type="http://schemas.openxmlformats.org/officeDocument/2006/relationships/font" Target="fonts/font11.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d asd" userId="b4befc514d541a6f" providerId="LiveId" clId="{B6038FD3-2B18-4F7A-92ED-D33EE05E090D}"/>
    <pc:docChg chg="addSld modSld">
      <pc:chgData name="asd asd" userId="b4befc514d541a6f" providerId="LiveId" clId="{B6038FD3-2B18-4F7A-92ED-D33EE05E090D}" dt="2026-01-30T16:02:59.177" v="0"/>
      <pc:docMkLst>
        <pc:docMk/>
      </pc:docMkLst>
      <pc:sldChg chg="add">
        <pc:chgData name="asd asd" userId="b4befc514d541a6f" providerId="LiveId" clId="{B6038FD3-2B18-4F7A-92ED-D33EE05E090D}" dt="2026-01-30T16:02:59.177" v="0"/>
        <pc:sldMkLst>
          <pc:docMk/>
          <pc:sldMk cId="0" sldId="315"/>
        </pc:sldMkLst>
      </pc:sldChg>
      <pc:sldChg chg="add">
        <pc:chgData name="asd asd" userId="b4befc514d541a6f" providerId="LiveId" clId="{B6038FD3-2B18-4F7A-92ED-D33EE05E090D}" dt="2026-01-30T16:02:59.177" v="0"/>
        <pc:sldMkLst>
          <pc:docMk/>
          <pc:sldMk cId="0" sldId="316"/>
        </pc:sldMkLst>
      </pc:sldChg>
      <pc:sldChg chg="add">
        <pc:chgData name="asd asd" userId="b4befc514d541a6f" providerId="LiveId" clId="{B6038FD3-2B18-4F7A-92ED-D33EE05E090D}" dt="2026-01-30T16:02:59.177" v="0"/>
        <pc:sldMkLst>
          <pc:docMk/>
          <pc:sldMk cId="0" sldId="322"/>
        </pc:sldMkLst>
      </pc:sldChg>
      <pc:sldChg chg="add">
        <pc:chgData name="asd asd" userId="b4befc514d541a6f" providerId="LiveId" clId="{B6038FD3-2B18-4F7A-92ED-D33EE05E090D}" dt="2026-01-30T16:02:59.177" v="0"/>
        <pc:sldMkLst>
          <pc:docMk/>
          <pc:sldMk cId="4096627422" sldId="331"/>
        </pc:sldMkLst>
      </pc:sldChg>
      <pc:sldChg chg="add">
        <pc:chgData name="asd asd" userId="b4befc514d541a6f" providerId="LiveId" clId="{B6038FD3-2B18-4F7A-92ED-D33EE05E090D}" dt="2026-01-30T16:02:59.177" v="0"/>
        <pc:sldMkLst>
          <pc:docMk/>
          <pc:sldMk cId="3929202884" sldId="332"/>
        </pc:sldMkLst>
      </pc:sldChg>
      <pc:sldChg chg="add">
        <pc:chgData name="asd asd" userId="b4befc514d541a6f" providerId="LiveId" clId="{B6038FD3-2B18-4F7A-92ED-D33EE05E090D}" dt="2026-01-30T16:02:59.177" v="0"/>
        <pc:sldMkLst>
          <pc:docMk/>
          <pc:sldMk cId="3697553333" sldId="333"/>
        </pc:sldMkLst>
      </pc:sldChg>
      <pc:sldChg chg="add">
        <pc:chgData name="asd asd" userId="b4befc514d541a6f" providerId="LiveId" clId="{B6038FD3-2B18-4F7A-92ED-D33EE05E090D}" dt="2026-01-30T16:02:59.177" v="0"/>
        <pc:sldMkLst>
          <pc:docMk/>
          <pc:sldMk cId="38158927" sldId="334"/>
        </pc:sldMkLst>
      </pc:sldChg>
      <pc:sldChg chg="add">
        <pc:chgData name="asd asd" userId="b4befc514d541a6f" providerId="LiveId" clId="{B6038FD3-2B18-4F7A-92ED-D33EE05E090D}" dt="2026-01-30T16:02:59.177" v="0"/>
        <pc:sldMkLst>
          <pc:docMk/>
          <pc:sldMk cId="0" sldId="335"/>
        </pc:sldMkLst>
      </pc:sldChg>
      <pc:sldChg chg="add">
        <pc:chgData name="asd asd" userId="b4befc514d541a6f" providerId="LiveId" clId="{B6038FD3-2B18-4F7A-92ED-D33EE05E090D}" dt="2026-01-30T16:02:59.177" v="0"/>
        <pc:sldMkLst>
          <pc:docMk/>
          <pc:sldMk cId="3928523224" sldId="336"/>
        </pc:sldMkLst>
      </pc:sldChg>
      <pc:sldChg chg="add">
        <pc:chgData name="asd asd" userId="b4befc514d541a6f" providerId="LiveId" clId="{B6038FD3-2B18-4F7A-92ED-D33EE05E090D}" dt="2026-01-30T16:02:59.177" v="0"/>
        <pc:sldMkLst>
          <pc:docMk/>
          <pc:sldMk cId="0" sldId="337"/>
        </pc:sldMkLst>
      </pc:sldChg>
      <pc:sldChg chg="add">
        <pc:chgData name="asd asd" userId="b4befc514d541a6f" providerId="LiveId" clId="{B6038FD3-2B18-4F7A-92ED-D33EE05E090D}" dt="2026-01-30T16:02:59.177" v="0"/>
        <pc:sldMkLst>
          <pc:docMk/>
          <pc:sldMk cId="0" sldId="338"/>
        </pc:sldMkLst>
      </pc:sldChg>
      <pc:sldChg chg="add">
        <pc:chgData name="asd asd" userId="b4befc514d541a6f" providerId="LiveId" clId="{B6038FD3-2B18-4F7A-92ED-D33EE05E090D}" dt="2026-01-30T16:02:59.177" v="0"/>
        <pc:sldMkLst>
          <pc:docMk/>
          <pc:sldMk cId="2306713959" sldId="339"/>
        </pc:sldMkLst>
      </pc:sldChg>
      <pc:sldChg chg="add">
        <pc:chgData name="asd asd" userId="b4befc514d541a6f" providerId="LiveId" clId="{B6038FD3-2B18-4F7A-92ED-D33EE05E090D}" dt="2026-01-30T16:02:59.177" v="0"/>
        <pc:sldMkLst>
          <pc:docMk/>
          <pc:sldMk cId="0" sldId="34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2b1324a7d30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2b1324a7d30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4"/>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grpSp>
        <p:nvGrpSpPr>
          <p:cNvPr id="21" name="Google Shape;21;p4"/>
          <p:cNvGrpSpPr/>
          <p:nvPr/>
        </p:nvGrpSpPr>
        <p:grpSpPr>
          <a:xfrm>
            <a:off x="0" y="0"/>
            <a:ext cx="9144000" cy="312600"/>
            <a:chOff x="0" y="0"/>
            <a:chExt cx="9144000" cy="312600"/>
          </a:xfrm>
        </p:grpSpPr>
        <p:sp>
          <p:nvSpPr>
            <p:cNvPr id="22" name="Google Shape;22;p4"/>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3" name="Google Shape;23;p4"/>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8" name="Google Shape;68;p13"/>
          <p:cNvSpPr txBox="1">
            <a:spLocks noGrp="1"/>
          </p:cNvSpPr>
          <p:nvPr>
            <p:ph type="title" idx="2" hasCustomPrompt="1"/>
          </p:nvPr>
        </p:nvSpPr>
        <p:spPr>
          <a:xfrm>
            <a:off x="72000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9" name="Google Shape;69;p13"/>
          <p:cNvSpPr txBox="1">
            <a:spLocks noGrp="1"/>
          </p:cNvSpPr>
          <p:nvPr>
            <p:ph type="title" idx="3" hasCustomPrompt="1"/>
          </p:nvPr>
        </p:nvSpPr>
        <p:spPr>
          <a:xfrm>
            <a:off x="72000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0" name="Google Shape;70;p13"/>
          <p:cNvSpPr txBox="1">
            <a:spLocks noGrp="1"/>
          </p:cNvSpPr>
          <p:nvPr>
            <p:ph type="title" idx="4" hasCustomPrompt="1"/>
          </p:nvPr>
        </p:nvSpPr>
        <p:spPr>
          <a:xfrm>
            <a:off x="3419275"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1" name="Google Shape;71;p13"/>
          <p:cNvSpPr txBox="1">
            <a:spLocks noGrp="1"/>
          </p:cNvSpPr>
          <p:nvPr>
            <p:ph type="title" idx="5" hasCustomPrompt="1"/>
          </p:nvPr>
        </p:nvSpPr>
        <p:spPr>
          <a:xfrm>
            <a:off x="3419275"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2" name="Google Shape;72;p13"/>
          <p:cNvSpPr txBox="1">
            <a:spLocks noGrp="1"/>
          </p:cNvSpPr>
          <p:nvPr>
            <p:ph type="title" idx="6" hasCustomPrompt="1"/>
          </p:nvPr>
        </p:nvSpPr>
        <p:spPr>
          <a:xfrm>
            <a:off x="611855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3" name="Google Shape;73;p13"/>
          <p:cNvSpPr txBox="1">
            <a:spLocks noGrp="1"/>
          </p:cNvSpPr>
          <p:nvPr>
            <p:ph type="title" idx="7" hasCustomPrompt="1"/>
          </p:nvPr>
        </p:nvSpPr>
        <p:spPr>
          <a:xfrm>
            <a:off x="611855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4" name="Google Shape;74;p13"/>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5" name="Google Shape;75;p13"/>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6" name="Google Shape;76;p13"/>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7" name="Google Shape;77;p13"/>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8" name="Google Shape;78;p13"/>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9" name="Google Shape;79;p13"/>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80" name="Google Shape;80;p13"/>
          <p:cNvGrpSpPr/>
          <p:nvPr/>
        </p:nvGrpSpPr>
        <p:grpSpPr>
          <a:xfrm>
            <a:off x="0" y="0"/>
            <a:ext cx="9144000" cy="312600"/>
            <a:chOff x="0" y="0"/>
            <a:chExt cx="9144000" cy="312600"/>
          </a:xfrm>
        </p:grpSpPr>
        <p:sp>
          <p:nvSpPr>
            <p:cNvPr id="81" name="Google Shape;81;p1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82" name="Google Shape;82;p1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1" r:id="rId13"/>
    <p:sldLayoutId id="2147483662" r:id="rId1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7"/>
        <p:cNvGrpSpPr/>
        <p:nvPr/>
      </p:nvGrpSpPr>
      <p:grpSpPr>
        <a:xfrm>
          <a:off x="0" y="0"/>
          <a:ext cx="0" cy="0"/>
          <a:chOff x="0" y="0"/>
          <a:chExt cx="0" cy="0"/>
        </a:xfrm>
      </p:grpSpPr>
      <p:sp>
        <p:nvSpPr>
          <p:cNvPr id="108" name="Google Shape;108;p20"/>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p>
            <a:pPr lvl="0"/>
            <a:r>
              <a:rPr lang="en-US" dirty="0">
                <a:latin typeface="Bahnschrift SemiBold Condensed" panose="020B0502040204020203" pitchFamily="34" charset="0"/>
              </a:rPr>
              <a:t>PHÂN TÍCH DỮ LIỆU </a:t>
            </a:r>
            <a:br>
              <a:rPr lang="en-US" dirty="0">
                <a:latin typeface="Bahnschrift SemiBold Condensed" panose="020B0502040204020203" pitchFamily="34" charset="0"/>
              </a:rPr>
            </a:br>
            <a:r>
              <a:rPr lang="en-US" dirty="0">
                <a:latin typeface="Bahnschrift SemiBold Condensed" panose="020B0502040204020203" pitchFamily="34" charset="0"/>
              </a:rPr>
              <a:t>BÁN LẺ TRỰC TUYẾN</a:t>
            </a:r>
            <a:endParaRPr b="0" dirty="0">
              <a:latin typeface="Bahnschrift SemiBold Condensed" panose="020B0502040204020203" pitchFamily="34" charset="0"/>
            </a:endParaRPr>
          </a:p>
        </p:txBody>
      </p:sp>
      <p:sp>
        <p:nvSpPr>
          <p:cNvPr id="109" name="Google Shape;109;p20"/>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Here is where your presentation begins</a:t>
            </a:r>
            <a:endParaRPr/>
          </a:p>
        </p:txBody>
      </p:sp>
      <p:cxnSp>
        <p:nvCxnSpPr>
          <p:cNvPr id="110" name="Google Shape;110;p20"/>
          <p:cNvCxnSpPr/>
          <p:nvPr/>
        </p:nvCxnSpPr>
        <p:spPr>
          <a:xfrm>
            <a:off x="1431100" y="3636300"/>
            <a:ext cx="58350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1"/>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Table of contents</a:t>
            </a:r>
            <a:endParaRPr/>
          </a:p>
        </p:txBody>
      </p:sp>
      <p:sp>
        <p:nvSpPr>
          <p:cNvPr id="116" name="Google Shape;116;p21"/>
          <p:cNvSpPr txBox="1">
            <a:spLocks noGrp="1"/>
          </p:cNvSpPr>
          <p:nvPr>
            <p:ph type="title" idx="2"/>
          </p:nvPr>
        </p:nvSpPr>
        <p:spPr>
          <a:xfrm>
            <a:off x="720000" y="1611324"/>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01</a:t>
            </a:r>
            <a:endParaRPr/>
          </a:p>
        </p:txBody>
      </p:sp>
      <p:sp>
        <p:nvSpPr>
          <p:cNvPr id="117" name="Google Shape;117;p21"/>
          <p:cNvSpPr txBox="1">
            <a:spLocks noGrp="1"/>
          </p:cNvSpPr>
          <p:nvPr>
            <p:ph type="title" idx="3"/>
          </p:nvPr>
        </p:nvSpPr>
        <p:spPr>
          <a:xfrm>
            <a:off x="720000" y="3044627"/>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04</a:t>
            </a:r>
            <a:endParaRPr/>
          </a:p>
        </p:txBody>
      </p:sp>
      <p:sp>
        <p:nvSpPr>
          <p:cNvPr id="118" name="Google Shape;118;p21"/>
          <p:cNvSpPr txBox="1">
            <a:spLocks noGrp="1"/>
          </p:cNvSpPr>
          <p:nvPr>
            <p:ph type="title" idx="4"/>
          </p:nvPr>
        </p:nvSpPr>
        <p:spPr>
          <a:xfrm>
            <a:off x="3419275" y="1611324"/>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02</a:t>
            </a:r>
            <a:endParaRPr/>
          </a:p>
        </p:txBody>
      </p:sp>
      <p:sp>
        <p:nvSpPr>
          <p:cNvPr id="119" name="Google Shape;119;p21"/>
          <p:cNvSpPr txBox="1">
            <a:spLocks noGrp="1"/>
          </p:cNvSpPr>
          <p:nvPr>
            <p:ph type="title" idx="5"/>
          </p:nvPr>
        </p:nvSpPr>
        <p:spPr>
          <a:xfrm>
            <a:off x="3419275" y="3044627"/>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05</a:t>
            </a:r>
            <a:endParaRPr/>
          </a:p>
        </p:txBody>
      </p:sp>
      <p:sp>
        <p:nvSpPr>
          <p:cNvPr id="120" name="Google Shape;120;p21"/>
          <p:cNvSpPr txBox="1">
            <a:spLocks noGrp="1"/>
          </p:cNvSpPr>
          <p:nvPr>
            <p:ph type="title" idx="6"/>
          </p:nvPr>
        </p:nvSpPr>
        <p:spPr>
          <a:xfrm>
            <a:off x="6118550" y="1611324"/>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03</a:t>
            </a:r>
            <a:endParaRPr/>
          </a:p>
        </p:txBody>
      </p:sp>
      <p:sp>
        <p:nvSpPr>
          <p:cNvPr id="121" name="Google Shape;121;p21"/>
          <p:cNvSpPr txBox="1">
            <a:spLocks noGrp="1"/>
          </p:cNvSpPr>
          <p:nvPr>
            <p:ph type="title" idx="7"/>
          </p:nvPr>
        </p:nvSpPr>
        <p:spPr>
          <a:xfrm>
            <a:off x="6118550" y="3044627"/>
            <a:ext cx="734700" cy="504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06</a:t>
            </a:r>
            <a:endParaRPr/>
          </a:p>
        </p:txBody>
      </p:sp>
      <p:sp>
        <p:nvSpPr>
          <p:cNvPr id="122" name="Google Shape;122;p21"/>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Section</a:t>
            </a:r>
            <a:endParaRPr/>
          </a:p>
        </p:txBody>
      </p:sp>
      <p:sp>
        <p:nvSpPr>
          <p:cNvPr id="123" name="Google Shape;123;p21"/>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4" name="Google Shape;124;p21"/>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5" name="Google Shape;125;p21"/>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6" name="Google Shape;126;p21"/>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sp>
        <p:nvSpPr>
          <p:cNvPr id="127" name="Google Shape;127;p21"/>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
              <a:t>Section </a:t>
            </a:r>
            <a:endParaRPr/>
          </a:p>
        </p:txBody>
      </p:sp>
      <p:cxnSp>
        <p:nvCxnSpPr>
          <p:cNvPr id="128" name="Google Shape;128;p21"/>
          <p:cNvCxnSpPr/>
          <p:nvPr/>
        </p:nvCxnSpPr>
        <p:spPr>
          <a:xfrm>
            <a:off x="821254" y="3560313"/>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29" name="Google Shape;129;p21"/>
          <p:cNvCxnSpPr/>
          <p:nvPr/>
        </p:nvCxnSpPr>
        <p:spPr>
          <a:xfrm>
            <a:off x="3503733" y="3560313"/>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0" name="Google Shape;130;p21"/>
          <p:cNvCxnSpPr/>
          <p:nvPr/>
        </p:nvCxnSpPr>
        <p:spPr>
          <a:xfrm>
            <a:off x="6143983" y="3560313"/>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1" name="Google Shape;131;p21"/>
          <p:cNvCxnSpPr/>
          <p:nvPr/>
        </p:nvCxnSpPr>
        <p:spPr>
          <a:xfrm>
            <a:off x="821254" y="2116088"/>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2" name="Google Shape;132;p21"/>
          <p:cNvCxnSpPr/>
          <p:nvPr/>
        </p:nvCxnSpPr>
        <p:spPr>
          <a:xfrm>
            <a:off x="3503733" y="2116088"/>
            <a:ext cx="1205700" cy="0"/>
          </a:xfrm>
          <a:prstGeom prst="straightConnector1">
            <a:avLst/>
          </a:prstGeom>
          <a:noFill/>
          <a:ln w="9525" cap="flat" cmpd="sng">
            <a:solidFill>
              <a:schemeClr val="dk1"/>
            </a:solidFill>
            <a:prstDash val="solid"/>
            <a:round/>
            <a:headEnd type="none" w="med" len="med"/>
            <a:tailEnd type="none" w="med" len="med"/>
          </a:ln>
        </p:spPr>
      </p:cxnSp>
      <p:cxnSp>
        <p:nvCxnSpPr>
          <p:cNvPr id="133" name="Google Shape;133;p21"/>
          <p:cNvCxnSpPr/>
          <p:nvPr/>
        </p:nvCxnSpPr>
        <p:spPr>
          <a:xfrm>
            <a:off x="6143983" y="2116088"/>
            <a:ext cx="1205700" cy="0"/>
          </a:xfrm>
          <a:prstGeom prst="straightConnector1">
            <a:avLst/>
          </a:prstGeom>
          <a:noFill/>
          <a:ln w="9525" cap="flat" cmpd="sng">
            <a:solidFill>
              <a:schemeClr val="dk1"/>
            </a:solidFill>
            <a:prstDash val="solid"/>
            <a:round/>
            <a:headEnd type="none" w="med" len="med"/>
            <a:tailEnd type="none" w="med" len="med"/>
          </a:ln>
        </p:spPr>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8A439-74CA-EFA1-996E-2542FEC1C246}"/>
              </a:ext>
            </a:extLst>
          </p:cNvPr>
          <p:cNvSpPr>
            <a:spLocks noGrp="1"/>
          </p:cNvSpPr>
          <p:nvPr>
            <p:ph type="title"/>
          </p:nvPr>
        </p:nvSpPr>
        <p:spPr>
          <a:xfrm>
            <a:off x="1560046" y="1744650"/>
            <a:ext cx="6576000" cy="1654200"/>
          </a:xfrm>
        </p:spPr>
        <p:txBody>
          <a:bodyPr/>
          <a:lstStyle/>
          <a:p>
            <a:r>
              <a:rPr lang="en-US" dirty="0">
                <a:latin typeface="Segoe UI Black" panose="020B0A02040204020203" pitchFamily="34" charset="0"/>
                <a:ea typeface="Segoe UI Black" panose="020B0A02040204020203" pitchFamily="34" charset="0"/>
                <a:cs typeface="Arial" panose="020B0604020202020204" pitchFamily="34" charset="0"/>
              </a:rPr>
              <a:t>1. BỐI CẢNH VÀ MỤC TIÊU</a:t>
            </a:r>
          </a:p>
        </p:txBody>
      </p:sp>
    </p:spTree>
    <p:extLst>
      <p:ext uri="{BB962C8B-B14F-4D97-AF65-F5344CB8AC3E}">
        <p14:creationId xmlns:p14="http://schemas.microsoft.com/office/powerpoint/2010/main" val="6534743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4400" dirty="0">
                <a:solidFill>
                  <a:schemeClr val="bg2"/>
                </a:solidFill>
                <a:latin typeface="Aptos Display" panose="020B0004020202020204" pitchFamily="34" charset="0"/>
              </a:rPr>
              <a:t>Business Goal 1</a:t>
            </a:r>
          </a:p>
        </p:txBody>
      </p:sp>
      <p:sp>
        <p:nvSpPr>
          <p:cNvPr id="4" name="Picture Placeholder 3"/>
          <p:cNvSpPr>
            <a:spLocks noGrp="1"/>
          </p:cNvSpPr>
          <p:nvPr>
            <p:ph type="pic" idx="4294967295"/>
          </p:nvPr>
        </p:nvSpPr>
        <p:spPr>
          <a:xfrm>
            <a:off x="550623" y="1399087"/>
            <a:ext cx="3407767" cy="3642144"/>
          </a:xfrm>
          <a:noFill/>
          <a:ln>
            <a:noFill/>
          </a:ln>
        </p:spPr>
        <p:txBody>
          <a:bodyPr/>
          <a:lstStyle/>
          <a:p>
            <a:pPr marL="152400" indent="0">
              <a:buNone/>
            </a:pPr>
            <a:r>
              <a:rPr sz="2400" dirty="0">
                <a:latin typeface="Century" panose="02040604050505020304" pitchFamily="18" charset="0"/>
              </a:rPr>
              <a:t>Trong </a:t>
            </a:r>
            <a:r>
              <a:rPr sz="2400" dirty="0" err="1">
                <a:latin typeface="Century" panose="02040604050505020304" pitchFamily="18" charset="0"/>
              </a:rPr>
              <a:t>vòng</a:t>
            </a:r>
            <a:r>
              <a:rPr sz="2400" dirty="0">
                <a:latin typeface="Century" panose="02040604050505020304" pitchFamily="18" charset="0"/>
              </a:rPr>
              <a:t> 2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xây</a:t>
            </a:r>
            <a:r>
              <a:rPr sz="2400" dirty="0">
                <a:latin typeface="Century" panose="02040604050505020304" pitchFamily="18" charset="0"/>
              </a:rPr>
              <a:t> </a:t>
            </a:r>
            <a:r>
              <a:rPr sz="2400" dirty="0" err="1">
                <a:latin typeface="Century" panose="02040604050505020304" pitchFamily="18" charset="0"/>
              </a:rPr>
              <a:t>dựng</a:t>
            </a:r>
            <a:r>
              <a:rPr sz="2400" dirty="0">
                <a:latin typeface="Century" panose="02040604050505020304" pitchFamily="18" charset="0"/>
              </a:rPr>
              <a:t> </a:t>
            </a:r>
            <a:r>
              <a:rPr sz="2400" dirty="0" err="1">
                <a:latin typeface="Century" panose="02040604050505020304" pitchFamily="18" charset="0"/>
              </a:rPr>
              <a:t>báo</a:t>
            </a:r>
            <a:r>
              <a:rPr sz="2400" dirty="0">
                <a:latin typeface="Century" panose="02040604050505020304" pitchFamily="18" charset="0"/>
              </a:rPr>
              <a:t> </a:t>
            </a:r>
            <a:r>
              <a:rPr sz="2400" dirty="0" err="1">
                <a:latin typeface="Century" panose="02040604050505020304" pitchFamily="18" charset="0"/>
              </a:rPr>
              <a:t>cáo</a:t>
            </a:r>
            <a:r>
              <a:rPr sz="2400" dirty="0">
                <a:latin typeface="Century" panose="02040604050505020304" pitchFamily="18" charset="0"/>
              </a:rPr>
              <a:t> </a:t>
            </a:r>
            <a:r>
              <a:rPr sz="2400" dirty="0" err="1">
                <a:latin typeface="Century" panose="02040604050505020304" pitchFamily="18" charset="0"/>
              </a:rPr>
              <a:t>phân</a:t>
            </a:r>
            <a:r>
              <a:rPr sz="2400" dirty="0">
                <a:latin typeface="Century" panose="02040604050505020304" pitchFamily="18" charset="0"/>
              </a:rPr>
              <a:t> </a:t>
            </a:r>
            <a:r>
              <a:rPr sz="2400" dirty="0" err="1">
                <a:latin typeface="Century" panose="02040604050505020304" pitchFamily="18" charset="0"/>
              </a:rPr>
              <a:t>tích</a:t>
            </a:r>
            <a:r>
              <a:rPr sz="2400" dirty="0">
                <a:latin typeface="Century" panose="02040604050505020304" pitchFamily="18" charset="0"/>
              </a:rPr>
              <a:t> </a:t>
            </a:r>
            <a:r>
              <a:rPr sz="2400" dirty="0" err="1">
                <a:latin typeface="Century" panose="02040604050505020304" pitchFamily="18" charset="0"/>
              </a:rPr>
              <a:t>chuỗi</a:t>
            </a:r>
            <a:r>
              <a:rPr sz="2400" dirty="0">
                <a:latin typeface="Century" panose="02040604050505020304" pitchFamily="18" charset="0"/>
              </a:rPr>
              <a:t> </a:t>
            </a:r>
            <a:r>
              <a:rPr sz="2400" dirty="0" err="1">
                <a:latin typeface="Century" panose="02040604050505020304" pitchFamily="18" charset="0"/>
              </a:rPr>
              <a:t>thời</a:t>
            </a:r>
            <a:r>
              <a:rPr sz="2400" dirty="0">
                <a:latin typeface="Century" panose="02040604050505020304" pitchFamily="18" charset="0"/>
              </a:rPr>
              <a:t> </a:t>
            </a:r>
            <a:r>
              <a:rPr sz="2400" dirty="0" err="1">
                <a:latin typeface="Century" panose="02040604050505020304" pitchFamily="18" charset="0"/>
              </a:rPr>
              <a:t>gian</a:t>
            </a:r>
            <a:r>
              <a:rPr sz="2400" dirty="0">
                <a:latin typeface="Century" panose="02040604050505020304" pitchFamily="18" charset="0"/>
              </a:rPr>
              <a:t> </a:t>
            </a:r>
            <a:r>
              <a:rPr sz="2400" dirty="0" err="1">
                <a:latin typeface="Century" panose="02040604050505020304" pitchFamily="18" charset="0"/>
              </a:rPr>
              <a:t>doanh</a:t>
            </a:r>
            <a:r>
              <a:rPr sz="2400" dirty="0">
                <a:latin typeface="Century" panose="02040604050505020304" pitchFamily="18" charset="0"/>
              </a:rPr>
              <a:t> </a:t>
            </a:r>
            <a:r>
              <a:rPr sz="2400" dirty="0" err="1">
                <a:latin typeface="Century" panose="02040604050505020304" pitchFamily="18" charset="0"/>
              </a:rPr>
              <a:t>thu</a:t>
            </a:r>
            <a:r>
              <a:rPr sz="2400" dirty="0">
                <a:latin typeface="Century" panose="02040604050505020304" pitchFamily="18" charset="0"/>
              </a:rPr>
              <a:t> </a:t>
            </a:r>
            <a:r>
              <a:rPr sz="2400" dirty="0" err="1">
                <a:latin typeface="Century" panose="02040604050505020304" pitchFamily="18" charset="0"/>
              </a:rPr>
              <a:t>theo</a:t>
            </a:r>
            <a:r>
              <a:rPr sz="2400" dirty="0">
                <a:latin typeface="Century" panose="02040604050505020304" pitchFamily="18" charset="0"/>
              </a:rPr>
              <a:t> </a:t>
            </a:r>
            <a:r>
              <a:rPr sz="2400" dirty="0" err="1">
                <a:latin typeface="Century" panose="02040604050505020304" pitchFamily="18" charset="0"/>
              </a:rPr>
              <a:t>ngày</a:t>
            </a:r>
            <a:r>
              <a:rPr sz="2400" dirty="0">
                <a:latin typeface="Century" panose="02040604050505020304" pitchFamily="18" charset="0"/>
              </a:rPr>
              <a:t> – </a:t>
            </a:r>
            <a:r>
              <a:rPr sz="2400" dirty="0" err="1">
                <a:latin typeface="Century" panose="02040604050505020304" pitchFamily="18" charset="0"/>
              </a:rPr>
              <a:t>tuần</a:t>
            </a:r>
            <a:r>
              <a:rPr sz="2400" dirty="0">
                <a:latin typeface="Century" panose="02040604050505020304" pitchFamily="18" charset="0"/>
              </a:rPr>
              <a:t> – </a:t>
            </a:r>
            <a:r>
              <a:rPr sz="2400" dirty="0" err="1">
                <a:latin typeface="Century" panose="02040604050505020304" pitchFamily="18" charset="0"/>
              </a:rPr>
              <a:t>tháng</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a:t>
            </a:r>
            <a:r>
              <a:rPr lang="en-US" sz="2400" dirty="0">
                <a:latin typeface="Century" panose="02040604050505020304" pitchFamily="18" charset="0"/>
              </a:rPr>
              <a:t> </a:t>
            </a:r>
            <a:r>
              <a:rPr sz="2400" dirty="0" err="1">
                <a:latin typeface="Century" panose="02040604050505020304" pitchFamily="18" charset="0"/>
              </a:rPr>
              <a:t>xác</a:t>
            </a:r>
            <a:r>
              <a:rPr sz="2400" dirty="0">
                <a:latin typeface="Century" panose="02040604050505020304" pitchFamily="18" charset="0"/>
              </a:rPr>
              <a:t> </a:t>
            </a:r>
            <a:r>
              <a:rPr sz="2400" dirty="0" err="1">
                <a:latin typeface="Century" panose="02040604050505020304" pitchFamily="18" charset="0"/>
              </a:rPr>
              <a:t>định</a:t>
            </a:r>
            <a:r>
              <a:rPr sz="2400" dirty="0">
                <a:latin typeface="Century" panose="02040604050505020304" pitchFamily="18" charset="0"/>
              </a:rPr>
              <a:t> xu </a:t>
            </a:r>
            <a:r>
              <a:rPr sz="2400" dirty="0" err="1">
                <a:latin typeface="Century" panose="02040604050505020304" pitchFamily="18" charset="0"/>
              </a:rPr>
              <a:t>hướng</a:t>
            </a:r>
            <a:r>
              <a:rPr sz="2400" dirty="0">
                <a:latin typeface="Century" panose="02040604050505020304" pitchFamily="18" charset="0"/>
              </a:rPr>
              <a:t> </a:t>
            </a:r>
            <a:r>
              <a:rPr sz="2400" dirty="0" err="1">
                <a:latin typeface="Century" panose="02040604050505020304" pitchFamily="18" charset="0"/>
              </a:rPr>
              <a:t>nền</a:t>
            </a:r>
            <a:r>
              <a:rPr sz="2400" dirty="0">
                <a:latin typeface="Century" panose="02040604050505020304" pitchFamily="18" charset="0"/>
              </a:rPr>
              <a:t>, </a:t>
            </a:r>
            <a:r>
              <a:rPr sz="2400" dirty="0" err="1">
                <a:latin typeface="Century" panose="02040604050505020304" pitchFamily="18" charset="0"/>
              </a:rPr>
              <a:t>mùa</a:t>
            </a:r>
            <a:r>
              <a:rPr sz="2400" dirty="0">
                <a:latin typeface="Century" panose="02040604050505020304" pitchFamily="18" charset="0"/>
              </a:rPr>
              <a:t> </a:t>
            </a:r>
            <a:r>
              <a:rPr sz="2400" dirty="0" err="1">
                <a:latin typeface="Century" panose="02040604050505020304" pitchFamily="18" charset="0"/>
              </a:rPr>
              <a:t>vụ</a:t>
            </a:r>
            <a:r>
              <a:rPr sz="2400" dirty="0">
                <a:latin typeface="Century" panose="02040604050505020304" pitchFamily="18" charset="0"/>
              </a:rPr>
              <a:t> </a:t>
            </a:r>
            <a:r>
              <a:rPr sz="2400" dirty="0" err="1">
                <a:latin typeface="Century" panose="02040604050505020304" pitchFamily="18" charset="0"/>
              </a:rPr>
              <a:t>và</a:t>
            </a:r>
            <a:r>
              <a:rPr sz="2400" dirty="0">
                <a:latin typeface="Century" panose="02040604050505020304" pitchFamily="18" charset="0"/>
              </a:rPr>
              <a:t> </a:t>
            </a:r>
            <a:r>
              <a:rPr sz="2400" dirty="0" err="1">
                <a:latin typeface="Century" panose="02040604050505020304" pitchFamily="18" charset="0"/>
              </a:rPr>
              <a:t>biến</a:t>
            </a:r>
            <a:r>
              <a:rPr sz="2400" dirty="0">
                <a:latin typeface="Century" panose="02040604050505020304" pitchFamily="18" charset="0"/>
              </a:rPr>
              <a:t> </a:t>
            </a:r>
            <a:r>
              <a:rPr sz="2400" dirty="0" err="1">
                <a:latin typeface="Century" panose="02040604050505020304" pitchFamily="18" charset="0"/>
              </a:rPr>
              <a:t>động</a:t>
            </a:r>
            <a:r>
              <a:rPr sz="2400" dirty="0">
                <a:latin typeface="Century" panose="02040604050505020304" pitchFamily="18" charset="0"/>
              </a:rPr>
              <a:t> </a:t>
            </a:r>
            <a:r>
              <a:rPr sz="2400" dirty="0" err="1">
                <a:latin typeface="Century" panose="02040604050505020304" pitchFamily="18" charset="0"/>
              </a:rPr>
              <a:t>ngắn</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 </a:t>
            </a:r>
            <a:endParaRPr lang="en-US" sz="2400" dirty="0">
              <a:latin typeface="Century" panose="02040604050505020304" pitchFamily="18" charset="0"/>
            </a:endParaRPr>
          </a:p>
        </p:txBody>
      </p:sp>
      <p:sp>
        <p:nvSpPr>
          <p:cNvPr id="10" name="TextBox 9">
            <a:extLst>
              <a:ext uri="{FF2B5EF4-FFF2-40B4-BE49-F238E27FC236}">
                <a16:creationId xmlns:a16="http://schemas.microsoft.com/office/drawing/2014/main" id="{58AF09A5-8F1D-7E06-C826-912B9C4E1293}"/>
              </a:ext>
            </a:extLst>
          </p:cNvPr>
          <p:cNvSpPr txBox="1"/>
          <p:nvPr/>
        </p:nvSpPr>
        <p:spPr>
          <a:xfrm>
            <a:off x="4247147" y="1399087"/>
            <a:ext cx="4176853" cy="2677656"/>
          </a:xfrm>
          <a:prstGeom prst="rect">
            <a:avLst/>
          </a:prstGeom>
          <a:noFill/>
        </p:spPr>
        <p:txBody>
          <a:bodyPr wrap="square">
            <a:spAutoFit/>
          </a:bodyPr>
          <a:lstStyle/>
          <a:p>
            <a:pPr marL="152400" indent="0">
              <a:buNone/>
            </a:pPr>
            <a:r>
              <a:rPr lang="vi-VN" sz="2400" dirty="0">
                <a:latin typeface="Century" panose="02040604050505020304" pitchFamily="18" charset="0"/>
              </a:rPr>
              <a:t>Mục tiêu</a:t>
            </a:r>
            <a:r>
              <a:rPr lang="en-US" sz="2400" dirty="0">
                <a:latin typeface="Century" panose="02040604050505020304" pitchFamily="18" charset="0"/>
              </a:rPr>
              <a:t>:</a:t>
            </a:r>
          </a:p>
          <a:p>
            <a:pPr marL="152400" indent="0">
              <a:buNone/>
            </a:pPr>
            <a:r>
              <a:rPr lang="vi-VN" sz="2400" dirty="0">
                <a:latin typeface="Century" panose="02040604050505020304" pitchFamily="18" charset="0"/>
                <a:sym typeface="Wingdings" panose="05000000000000000000" pitchFamily="2" charset="2"/>
              </a:rPr>
              <a:t></a:t>
            </a:r>
            <a:r>
              <a:rPr lang="en-US" sz="2400" dirty="0">
                <a:latin typeface="Century" panose="02040604050505020304" pitchFamily="18" charset="0"/>
                <a:sym typeface="Wingdings" panose="05000000000000000000" pitchFamily="2" charset="2"/>
              </a:rPr>
              <a:t> </a:t>
            </a:r>
            <a:r>
              <a:rPr lang="vi-VN" sz="2400" dirty="0">
                <a:latin typeface="Century" panose="02040604050505020304" pitchFamily="18" charset="0"/>
              </a:rPr>
              <a:t>hỗ trợ nhà quản lý phân biệt tăng trưởng thực sự và biến động ngẫu nhiên</a:t>
            </a:r>
            <a:endParaRPr lang="en-US" sz="2400" dirty="0">
              <a:latin typeface="Century" panose="02040604050505020304" pitchFamily="18" charset="0"/>
            </a:endParaRPr>
          </a:p>
          <a:p>
            <a:pPr marL="152400" indent="0">
              <a:buNone/>
            </a:pPr>
            <a:r>
              <a:rPr lang="vi-VN" sz="2400" dirty="0">
                <a:latin typeface="Century" panose="02040604050505020304" pitchFamily="18" charset="0"/>
                <a:sym typeface="Wingdings" panose="05000000000000000000" pitchFamily="2" charset="2"/>
              </a:rPr>
              <a:t></a:t>
            </a:r>
            <a:r>
              <a:rPr lang="vi-VN" sz="2400" dirty="0">
                <a:latin typeface="Century" panose="02040604050505020304" pitchFamily="18" charset="0"/>
              </a:rPr>
              <a:t> làm cơ sở cho điều chỉnh chiến lược kinh doanh trong năm hiện tại.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r>
              <a:rPr sz="4400" dirty="0" err="1">
                <a:latin typeface="Aptos Display" panose="020B0004020202020204" pitchFamily="34" charset="0"/>
              </a:rPr>
              <a:t>Mục</a:t>
            </a:r>
            <a:r>
              <a:rPr sz="4400" dirty="0">
                <a:latin typeface="Aptos Display" panose="020B0004020202020204" pitchFamily="34" charset="0"/>
              </a:rPr>
              <a:t> </a:t>
            </a:r>
            <a:r>
              <a:rPr sz="4400" dirty="0" err="1">
                <a:latin typeface="Aptos Display" panose="020B0004020202020204" pitchFamily="34" charset="0"/>
              </a:rPr>
              <a:t>tiêu</a:t>
            </a:r>
            <a:r>
              <a:rPr sz="4400" dirty="0">
                <a:latin typeface="Aptos Display" panose="020B0004020202020204" pitchFamily="34" charset="0"/>
              </a:rPr>
              <a:t> </a:t>
            </a: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537501" y="1540211"/>
            <a:ext cx="8068998" cy="2165515"/>
          </a:xfrm>
          <a:noFill/>
          <a:ln>
            <a:noFill/>
          </a:ln>
        </p:spPr>
        <p:txBody>
          <a:bodyPr/>
          <a:lstStyle/>
          <a:p>
            <a:pPr marL="152400" indent="0">
              <a:buNone/>
            </a:pP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tích</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làm</a:t>
            </a:r>
            <a:r>
              <a:rPr sz="2500" dirty="0">
                <a:latin typeface="Century" panose="02040604050505020304" pitchFamily="18" charset="0"/>
              </a:rPr>
              <a:t> </a:t>
            </a:r>
            <a:r>
              <a:rPr sz="2500" dirty="0" err="1">
                <a:latin typeface="Century" panose="02040604050505020304" pitchFamily="18" charset="0"/>
              </a:rPr>
              <a:t>rõ</a:t>
            </a:r>
            <a:r>
              <a:rPr sz="2500" dirty="0">
                <a:latin typeface="Century" panose="02040604050505020304" pitchFamily="18" charset="0"/>
              </a:rPr>
              <a:t> xu </a:t>
            </a: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gian</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a:t>
            </a:r>
            <a:r>
              <a:rPr sz="2500" dirty="0" err="1">
                <a:latin typeface="Century" panose="02040604050505020304" pitchFamily="18" charset="0"/>
              </a:rPr>
              <a:t>năm</a:t>
            </a:r>
            <a:r>
              <a:rPr sz="2500" dirty="0">
                <a:latin typeface="Century" panose="02040604050505020304" pitchFamily="18" charset="0"/>
              </a:rPr>
              <a:t> </a:t>
            </a:r>
            <a:r>
              <a:rPr sz="2500" dirty="0" err="1">
                <a:latin typeface="Century" panose="02040604050505020304" pitchFamily="18" charset="0"/>
              </a:rPr>
              <a:t>hiện</a:t>
            </a:r>
            <a:r>
              <a:rPr sz="2500" dirty="0">
                <a:latin typeface="Century" panose="02040604050505020304" pitchFamily="18" charset="0"/>
              </a:rPr>
              <a:t> </a:t>
            </a:r>
            <a:r>
              <a:rPr sz="2500" dirty="0" err="1">
                <a:latin typeface="Century" panose="02040604050505020304" pitchFamily="18" charset="0"/>
              </a:rPr>
              <a:t>tại</a:t>
            </a:r>
            <a:endParaRPr lang="en-US" sz="2500" dirty="0">
              <a:latin typeface="Century" panose="02040604050505020304" pitchFamily="18" charset="0"/>
            </a:endParaRPr>
          </a:p>
          <a:p>
            <a:pPr marL="152400" indent="0">
              <a:buNone/>
            </a:pPr>
            <a:r>
              <a:rPr lang="en-US" sz="2500" dirty="0">
                <a:latin typeface="Century" panose="02040604050505020304" pitchFamily="18" charset="0"/>
                <a:sym typeface="Wingdings" panose="05000000000000000000" pitchFamily="2" charset="2"/>
              </a:rPr>
              <a:t></a:t>
            </a:r>
            <a:r>
              <a:rPr sz="2500" dirty="0">
                <a:latin typeface="Century" panose="02040604050505020304" pitchFamily="18" charset="0"/>
              </a:rPr>
              <a:t> </a:t>
            </a:r>
            <a:r>
              <a:rPr sz="2500" dirty="0" err="1">
                <a:latin typeface="Century" panose="02040604050505020304" pitchFamily="18" charset="0"/>
              </a:rPr>
              <a:t>giúp</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nghiệp</a:t>
            </a:r>
            <a:r>
              <a:rPr sz="2500" dirty="0">
                <a:latin typeface="Century" panose="02040604050505020304" pitchFamily="18" charset="0"/>
              </a:rPr>
              <a:t> </a:t>
            </a:r>
            <a:r>
              <a:rPr sz="2500" dirty="0" err="1">
                <a:latin typeface="Century" panose="02040604050505020304" pitchFamily="18" charset="0"/>
              </a:rPr>
              <a:t>nhận</a:t>
            </a:r>
            <a:r>
              <a:rPr sz="2500" dirty="0">
                <a:latin typeface="Century" panose="02040604050505020304" pitchFamily="18" charset="0"/>
              </a:rPr>
              <a:t> </a:t>
            </a:r>
            <a:r>
              <a:rPr sz="2500" dirty="0" err="1">
                <a:latin typeface="Century" panose="02040604050505020304" pitchFamily="18" charset="0"/>
              </a:rPr>
              <a:t>diện</a:t>
            </a:r>
            <a:r>
              <a:rPr sz="2500" dirty="0">
                <a:latin typeface="Century" panose="02040604050505020304" pitchFamily="18" charset="0"/>
              </a:rPr>
              <a:t> </a:t>
            </a:r>
            <a:r>
              <a:rPr sz="2500" dirty="0" err="1">
                <a:latin typeface="Century" panose="02040604050505020304" pitchFamily="18" charset="0"/>
              </a:rPr>
              <a:t>giai</a:t>
            </a:r>
            <a:r>
              <a:rPr sz="2500" dirty="0">
                <a:latin typeface="Century" panose="02040604050505020304" pitchFamily="18" charset="0"/>
              </a:rPr>
              <a:t> </a:t>
            </a:r>
            <a:r>
              <a:rPr sz="2500" dirty="0" err="1">
                <a:latin typeface="Century" panose="02040604050505020304" pitchFamily="18" charset="0"/>
              </a:rPr>
              <a:t>đoạn</a:t>
            </a:r>
            <a:r>
              <a:rPr sz="2500" dirty="0">
                <a:latin typeface="Century" panose="02040604050505020304" pitchFamily="18" charset="0"/>
              </a:rPr>
              <a:t> </a:t>
            </a:r>
            <a:r>
              <a:rPr sz="2500" dirty="0" err="1">
                <a:latin typeface="Century" panose="02040604050505020304" pitchFamily="18" charset="0"/>
              </a:rPr>
              <a:t>tăng</a:t>
            </a:r>
            <a:r>
              <a:rPr sz="2500" dirty="0">
                <a:latin typeface="Century" panose="02040604050505020304" pitchFamily="18" charset="0"/>
              </a:rPr>
              <a:t> </a:t>
            </a:r>
            <a:r>
              <a:rPr sz="2500" dirty="0" err="1">
                <a:latin typeface="Century" panose="02040604050505020304" pitchFamily="18" charset="0"/>
              </a:rPr>
              <a:t>trưởng</a:t>
            </a:r>
            <a:r>
              <a:rPr sz="2500" dirty="0">
                <a:latin typeface="Century" panose="02040604050505020304" pitchFamily="18" charset="0"/>
              </a:rPr>
              <a:t>, </a:t>
            </a:r>
            <a:r>
              <a:rPr sz="2500" dirty="0" err="1">
                <a:latin typeface="Century" panose="02040604050505020304" pitchFamily="18" charset="0"/>
              </a:rPr>
              <a:t>suy</a:t>
            </a:r>
            <a:r>
              <a:rPr sz="2500" dirty="0">
                <a:latin typeface="Century" panose="02040604050505020304" pitchFamily="18" charset="0"/>
              </a:rPr>
              <a:t> </a:t>
            </a:r>
            <a:r>
              <a:rPr sz="2500" dirty="0" err="1">
                <a:latin typeface="Century" panose="02040604050505020304" pitchFamily="18" charset="0"/>
              </a:rPr>
              <a:t>giảm</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điểm</a:t>
            </a:r>
            <a:r>
              <a:rPr sz="2500" dirty="0">
                <a:latin typeface="Century" panose="02040604050505020304" pitchFamily="18" charset="0"/>
              </a:rPr>
              <a:t> </a:t>
            </a:r>
            <a:r>
              <a:rPr sz="2500" dirty="0" err="1">
                <a:latin typeface="Century" panose="02040604050505020304" pitchFamily="18" charset="0"/>
              </a:rPr>
              <a:t>cần</a:t>
            </a:r>
            <a:r>
              <a:rPr sz="2500" dirty="0">
                <a:latin typeface="Century" panose="02040604050505020304" pitchFamily="18" charset="0"/>
              </a:rPr>
              <a:t> can </a:t>
            </a:r>
            <a:r>
              <a:rPr sz="2500" dirty="0" err="1">
                <a:latin typeface="Century" panose="02040604050505020304" pitchFamily="18" charset="0"/>
              </a:rPr>
              <a:t>thiệp</a:t>
            </a:r>
            <a:r>
              <a:rPr sz="2500" dirty="0">
                <a:latin typeface="Century" panose="02040604050505020304" pitchFamily="18" charset="0"/>
              </a:rPr>
              <a:t> </a:t>
            </a:r>
            <a:r>
              <a:rPr sz="2500" dirty="0" err="1">
                <a:latin typeface="Century" panose="02040604050505020304" pitchFamily="18" charset="0"/>
              </a:rPr>
              <a:t>chiến</a:t>
            </a:r>
            <a:r>
              <a:rPr sz="2500" dirty="0">
                <a:latin typeface="Century" panose="02040604050505020304" pitchFamily="18" charset="0"/>
              </a:rPr>
              <a:t> </a:t>
            </a:r>
            <a:r>
              <a:rPr sz="2500" dirty="0" err="1">
                <a:latin typeface="Century" panose="02040604050505020304" pitchFamily="18" charset="0"/>
              </a:rPr>
              <a:t>lược</a:t>
            </a:r>
            <a:r>
              <a:rPr sz="2500" dirty="0">
                <a:latin typeface="Century" panose="02040604050505020304" pitchFamily="18" charset="0"/>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0000" y="539500"/>
            <a:ext cx="7704000" cy="729902"/>
          </a:xfrm>
          <a:noFill/>
          <a:ln>
            <a:noFill/>
          </a:ln>
        </p:spPr>
        <p:txBody>
          <a:bodyPr spcFirstLastPara="1" wrap="square" lIns="91425" tIns="91425" rIns="91425" bIns="91425" anchor="t" anchorCtr="0">
            <a:noAutofit/>
          </a:bodyPr>
          <a:lstStyle/>
          <a:p>
            <a:r>
              <a:rPr sz="4400" dirty="0" err="1">
                <a:latin typeface="Aptos Display" panose="020B0004020202020204" pitchFamily="34" charset="0"/>
              </a:rPr>
              <a:t>Bài</a:t>
            </a:r>
            <a:r>
              <a:rPr sz="4400" dirty="0">
                <a:latin typeface="Aptos Display" panose="020B0004020202020204" pitchFamily="34" charset="0"/>
              </a:rPr>
              <a:t> </a:t>
            </a:r>
            <a:r>
              <a:rPr sz="4400" dirty="0" err="1">
                <a:latin typeface="Aptos Display" panose="020B0004020202020204" pitchFamily="34" charset="0"/>
              </a:rPr>
              <a:t>toán</a:t>
            </a:r>
            <a:r>
              <a:rPr sz="4400" dirty="0">
                <a:latin typeface="Aptos Display" panose="020B0004020202020204" pitchFamily="34" charset="0"/>
              </a:rPr>
              <a:t> </a:t>
            </a:r>
            <a:r>
              <a:rPr sz="4400" dirty="0" err="1">
                <a:latin typeface="Aptos Display" panose="020B0004020202020204" pitchFamily="34" charset="0"/>
              </a:rPr>
              <a:t>nghiệp</a:t>
            </a:r>
            <a:r>
              <a:rPr sz="4400" dirty="0">
                <a:latin typeface="Aptos Display" panose="020B0004020202020204" pitchFamily="34" charset="0"/>
              </a:rPr>
              <a:t> </a:t>
            </a:r>
            <a:r>
              <a:rPr sz="4400" dirty="0" err="1">
                <a:latin typeface="Aptos Display" panose="020B0004020202020204" pitchFamily="34" charset="0"/>
              </a:rPr>
              <a:t>vụ</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687726" y="1811020"/>
            <a:ext cx="7768547" cy="2180067"/>
          </a:xfrm>
          <a:noFill/>
          <a:ln>
            <a:noFill/>
          </a:ln>
        </p:spPr>
        <p:txBody>
          <a:bodyPr/>
          <a:lstStyle/>
          <a:p>
            <a:pPr marL="152400" indent="0">
              <a:buNone/>
            </a:pPr>
            <a:r>
              <a:rPr sz="2500" dirty="0">
                <a:latin typeface="Century" panose="02040604050505020304" pitchFamily="18" charset="0"/>
              </a:rPr>
              <a:t>Doanh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mạnh</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ngày</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tuần</a:t>
            </a:r>
            <a:r>
              <a:rPr sz="2500" dirty="0">
                <a:latin typeface="Century" panose="02040604050505020304" pitchFamily="18" charset="0"/>
              </a:rPr>
              <a:t> </a:t>
            </a:r>
            <a:endParaRPr lang="en-US" sz="2500" dirty="0">
              <a:latin typeface="Century" panose="02040604050505020304" pitchFamily="18" charset="0"/>
            </a:endParaRPr>
          </a:p>
          <a:p>
            <a:pPr marL="152400" indent="0">
              <a:buNone/>
            </a:pPr>
            <a:r>
              <a:rPr lang="en-US" sz="2500" dirty="0">
                <a:latin typeface="Century" panose="02040604050505020304" pitchFamily="18" charset="0"/>
                <a:sym typeface="Wingdings" panose="05000000000000000000" pitchFamily="2" charset="2"/>
              </a:rPr>
              <a:t></a:t>
            </a:r>
            <a:r>
              <a:rPr lang="en-US" sz="2500" dirty="0">
                <a:latin typeface="Century" panose="02040604050505020304" pitchFamily="18" charset="0"/>
              </a:rPr>
              <a:t> </a:t>
            </a:r>
            <a:r>
              <a:rPr sz="2500" dirty="0" err="1">
                <a:latin typeface="Century" panose="02040604050505020304" pitchFamily="18" charset="0"/>
              </a:rPr>
              <a:t>nhà</a:t>
            </a:r>
            <a:r>
              <a:rPr sz="2500" dirty="0">
                <a:latin typeface="Century" panose="02040604050505020304" pitchFamily="18" charset="0"/>
              </a:rPr>
              <a:t> </a:t>
            </a:r>
            <a:r>
              <a:rPr sz="2500" dirty="0" err="1">
                <a:latin typeface="Century" panose="02040604050505020304" pitchFamily="18" charset="0"/>
              </a:rPr>
              <a:t>quản</a:t>
            </a:r>
            <a:r>
              <a:rPr sz="2500" dirty="0">
                <a:latin typeface="Century" panose="02040604050505020304" pitchFamily="18" charset="0"/>
              </a:rPr>
              <a:t> </a:t>
            </a:r>
            <a:r>
              <a:rPr sz="2500" dirty="0" err="1">
                <a:latin typeface="Century" panose="02040604050505020304" pitchFamily="18" charset="0"/>
              </a:rPr>
              <a:t>lý</a:t>
            </a:r>
            <a:r>
              <a:rPr sz="2500" dirty="0">
                <a:latin typeface="Century" panose="02040604050505020304" pitchFamily="18" charset="0"/>
              </a:rPr>
              <a:t> </a:t>
            </a:r>
            <a:r>
              <a:rPr sz="2500" dirty="0" err="1">
                <a:latin typeface="Century" panose="02040604050505020304" pitchFamily="18" charset="0"/>
              </a:rPr>
              <a:t>khó</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biệt</a:t>
            </a:r>
            <a:r>
              <a:rPr sz="2500" dirty="0">
                <a:latin typeface="Century" panose="02040604050505020304" pitchFamily="18" charset="0"/>
              </a:rPr>
              <a:t> xu </a:t>
            </a: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thực</a:t>
            </a:r>
            <a:r>
              <a:rPr sz="2500" dirty="0">
                <a:latin typeface="Century" panose="02040604050505020304" pitchFamily="18" charset="0"/>
              </a:rPr>
              <a:t> </a:t>
            </a:r>
            <a:r>
              <a:rPr sz="2500" dirty="0" err="1">
                <a:latin typeface="Century" panose="02040604050505020304" pitchFamily="18" charset="0"/>
              </a:rPr>
              <a:t>sự</a:t>
            </a:r>
            <a:r>
              <a:rPr sz="2500" dirty="0">
                <a:latin typeface="Century" panose="02040604050505020304" pitchFamily="18" charset="0"/>
              </a:rPr>
              <a:t> </a:t>
            </a:r>
            <a:r>
              <a:rPr sz="2500" dirty="0" err="1">
                <a:latin typeface="Century" panose="02040604050505020304" pitchFamily="18" charset="0"/>
              </a:rPr>
              <a:t>với</a:t>
            </a:r>
            <a:r>
              <a:rPr sz="2500" dirty="0">
                <a:latin typeface="Century" panose="02040604050505020304" pitchFamily="18" charset="0"/>
              </a:rPr>
              <a:t> dao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ngắn</a:t>
            </a:r>
            <a:r>
              <a:rPr sz="2500" dirty="0">
                <a:latin typeface="Century" panose="02040604050505020304" pitchFamily="18" charset="0"/>
              </a:rPr>
              <a:t> </a:t>
            </a:r>
            <a:r>
              <a:rPr sz="2500" dirty="0" err="1">
                <a:latin typeface="Century" panose="02040604050505020304" pitchFamily="18" charset="0"/>
              </a:rPr>
              <a:t>hạn</a:t>
            </a:r>
            <a:endParaRPr lang="en-US" sz="2500" dirty="0">
              <a:latin typeface="Century" panose="02040604050505020304" pitchFamily="18" charset="0"/>
            </a:endParaRPr>
          </a:p>
          <a:p>
            <a:pPr marL="152400" indent="0">
              <a:buNone/>
            </a:pPr>
            <a:r>
              <a:rPr lang="en-US" sz="2500" dirty="0">
                <a:latin typeface="Century" panose="02040604050505020304" pitchFamily="18" charset="0"/>
                <a:sym typeface="Wingdings" panose="05000000000000000000" pitchFamily="2" charset="2"/>
              </a:rPr>
              <a:t></a:t>
            </a:r>
            <a:r>
              <a:rPr sz="2500" dirty="0">
                <a:latin typeface="Century" panose="02040604050505020304" pitchFamily="18" charset="0"/>
              </a:rPr>
              <a:t> </a:t>
            </a:r>
            <a:r>
              <a:rPr sz="2500" dirty="0" err="1">
                <a:latin typeface="Century" panose="02040604050505020304" pitchFamily="18" charset="0"/>
              </a:rPr>
              <a:t>ảnh</a:t>
            </a:r>
            <a:r>
              <a:rPr sz="2500" dirty="0">
                <a:latin typeface="Century" panose="02040604050505020304" pitchFamily="18" charset="0"/>
              </a:rPr>
              <a:t> </a:t>
            </a:r>
            <a:r>
              <a:rPr sz="2500" dirty="0" err="1">
                <a:latin typeface="Century" panose="02040604050505020304" pitchFamily="18" charset="0"/>
              </a:rPr>
              <a:t>hưởng</a:t>
            </a:r>
            <a:r>
              <a:rPr sz="2500" dirty="0">
                <a:latin typeface="Century" panose="02040604050505020304" pitchFamily="18" charset="0"/>
              </a:rPr>
              <a:t> </a:t>
            </a:r>
            <a:r>
              <a:rPr sz="2500" dirty="0" err="1">
                <a:latin typeface="Century" panose="02040604050505020304" pitchFamily="18" charset="0"/>
              </a:rPr>
              <a:t>đến</a:t>
            </a:r>
            <a:r>
              <a:rPr sz="2500" dirty="0">
                <a:latin typeface="Century" panose="02040604050505020304" pitchFamily="18" charset="0"/>
              </a:rPr>
              <a:t> </a:t>
            </a:r>
            <a:r>
              <a:rPr sz="2500" dirty="0" err="1">
                <a:latin typeface="Century" panose="02040604050505020304" pitchFamily="18" charset="0"/>
              </a:rPr>
              <a:t>quyết</a:t>
            </a:r>
            <a:r>
              <a:rPr sz="2500" dirty="0">
                <a:latin typeface="Century" panose="02040604050505020304" pitchFamily="18" charset="0"/>
              </a:rPr>
              <a:t> </a:t>
            </a:r>
            <a:r>
              <a:rPr sz="2500" dirty="0" err="1">
                <a:latin typeface="Century" panose="02040604050505020304" pitchFamily="18" charset="0"/>
              </a:rPr>
              <a:t>định</a:t>
            </a:r>
            <a:r>
              <a:rPr sz="2500" dirty="0">
                <a:latin typeface="Century" panose="02040604050505020304" pitchFamily="18" charset="0"/>
              </a:rPr>
              <a:t> </a:t>
            </a:r>
            <a:r>
              <a:rPr sz="2500" dirty="0" err="1">
                <a:latin typeface="Century" panose="02040604050505020304" pitchFamily="18" charset="0"/>
              </a:rPr>
              <a:t>giá</a:t>
            </a:r>
            <a:r>
              <a:rPr sz="2500" dirty="0">
                <a:latin typeface="Century" panose="02040604050505020304" pitchFamily="18" charset="0"/>
              </a:rPr>
              <a:t>, </a:t>
            </a:r>
            <a:r>
              <a:rPr sz="2500" dirty="0" err="1">
                <a:latin typeface="Century" panose="02040604050505020304" pitchFamily="18" charset="0"/>
              </a:rPr>
              <a:t>chương</a:t>
            </a:r>
            <a:r>
              <a:rPr sz="2500" dirty="0">
                <a:latin typeface="Century" panose="02040604050505020304" pitchFamily="18" charset="0"/>
              </a:rPr>
              <a:t> </a:t>
            </a:r>
            <a:r>
              <a:rPr sz="2500" dirty="0" err="1">
                <a:latin typeface="Century" panose="02040604050505020304" pitchFamily="18" charset="0"/>
              </a:rPr>
              <a:t>trình</a:t>
            </a:r>
            <a:r>
              <a:rPr sz="2500" dirty="0">
                <a:latin typeface="Century" panose="02040604050505020304" pitchFamily="18" charset="0"/>
              </a:rPr>
              <a:t> </a:t>
            </a:r>
            <a:r>
              <a:rPr sz="2500" dirty="0" err="1">
                <a:latin typeface="Century" panose="02040604050505020304" pitchFamily="18" charset="0"/>
              </a:rPr>
              <a:t>bán</a:t>
            </a:r>
            <a:r>
              <a:rPr sz="2500" dirty="0">
                <a:latin typeface="Century" panose="02040604050505020304" pitchFamily="18" charset="0"/>
              </a:rPr>
              <a:t> </a:t>
            </a:r>
            <a:r>
              <a:rPr sz="2500" dirty="0" err="1">
                <a:latin typeface="Century" panose="02040604050505020304" pitchFamily="18" charset="0"/>
              </a:rPr>
              <a:t>hàng</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bổ</a:t>
            </a:r>
            <a:r>
              <a:rPr sz="2500" dirty="0">
                <a:latin typeface="Century" panose="02040604050505020304" pitchFamily="18" charset="0"/>
              </a:rPr>
              <a:t> </a:t>
            </a:r>
            <a:r>
              <a:rPr sz="2500" dirty="0" err="1">
                <a:latin typeface="Century" panose="02040604050505020304" pitchFamily="18" charset="0"/>
              </a:rPr>
              <a:t>nguồn</a:t>
            </a:r>
            <a:r>
              <a:rPr sz="2500" dirty="0">
                <a:latin typeface="Century" panose="02040604050505020304" pitchFamily="18" charset="0"/>
              </a:rPr>
              <a:t> </a:t>
            </a:r>
            <a:r>
              <a:rPr sz="2500" dirty="0" err="1">
                <a:latin typeface="Century" panose="02040604050505020304" pitchFamily="18" charset="0"/>
              </a:rPr>
              <a:t>lực</a:t>
            </a:r>
            <a:r>
              <a:rPr sz="2500" dirty="0">
                <a:latin typeface="Century" panose="02040604050505020304" pitchFamily="18"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r>
              <a:rPr sz="4400" dirty="0" err="1">
                <a:latin typeface="Aptos Display" panose="020B0004020202020204" pitchFamily="34" charset="0"/>
              </a:rPr>
              <a:t>Câu</a:t>
            </a:r>
            <a:r>
              <a:rPr sz="4400" dirty="0">
                <a:latin typeface="Aptos Display" panose="020B0004020202020204" pitchFamily="34" charset="0"/>
              </a:rPr>
              <a:t> </a:t>
            </a:r>
            <a:r>
              <a:rPr sz="4400" dirty="0" err="1">
                <a:latin typeface="Aptos Display" panose="020B0004020202020204" pitchFamily="34" charset="0"/>
              </a:rPr>
              <a:t>chuyện</a:t>
            </a:r>
            <a:r>
              <a:rPr sz="4400" dirty="0">
                <a:latin typeface="Aptos Display" panose="020B0004020202020204" pitchFamily="34" charset="0"/>
              </a:rPr>
              <a:t> </a:t>
            </a:r>
            <a:r>
              <a:rPr sz="4400" dirty="0" err="1">
                <a:latin typeface="Aptos Display" panose="020B0004020202020204" pitchFamily="34" charset="0"/>
              </a:rPr>
              <a:t>dữ</a:t>
            </a:r>
            <a:r>
              <a:rPr sz="4400" dirty="0">
                <a:latin typeface="Aptos Display" panose="020B0004020202020204" pitchFamily="34" charset="0"/>
              </a:rPr>
              <a:t> </a:t>
            </a:r>
            <a:r>
              <a:rPr sz="4400" dirty="0" err="1">
                <a:latin typeface="Aptos Display" panose="020B0004020202020204" pitchFamily="34" charset="0"/>
              </a:rPr>
              <a:t>liệu</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625642" y="1493252"/>
            <a:ext cx="7704001" cy="2156995"/>
          </a:xfrm>
          <a:noFill/>
          <a:ln>
            <a:noFill/>
          </a:ln>
        </p:spPr>
        <p:txBody>
          <a:bodyPr/>
          <a:lstStyle/>
          <a:p>
            <a:pPr marL="152400" indent="0">
              <a:buNone/>
            </a:pPr>
            <a:r>
              <a:rPr sz="2400" dirty="0">
                <a:latin typeface="Century" panose="02040604050505020304" pitchFamily="18" charset="0"/>
              </a:rPr>
              <a:t>Doanh </a:t>
            </a:r>
            <a:r>
              <a:rPr sz="2400" dirty="0" err="1">
                <a:latin typeface="Century" panose="02040604050505020304" pitchFamily="18" charset="0"/>
              </a:rPr>
              <a:t>thu</a:t>
            </a:r>
            <a:r>
              <a:rPr sz="2400" dirty="0">
                <a:latin typeface="Century" panose="02040604050505020304" pitchFamily="18" charset="0"/>
              </a:rPr>
              <a:t>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này</a:t>
            </a:r>
            <a:r>
              <a:rPr sz="2400" dirty="0">
                <a:latin typeface="Century" panose="02040604050505020304" pitchFamily="18" charset="0"/>
              </a:rPr>
              <a:t> </a:t>
            </a:r>
            <a:r>
              <a:rPr sz="2400" dirty="0" err="1">
                <a:latin typeface="Century" panose="02040604050505020304" pitchFamily="18" charset="0"/>
              </a:rPr>
              <a:t>tăng</a:t>
            </a:r>
            <a:r>
              <a:rPr sz="2400" dirty="0">
                <a:latin typeface="Century" panose="02040604050505020304" pitchFamily="18" charset="0"/>
              </a:rPr>
              <a:t> </a:t>
            </a:r>
            <a:r>
              <a:rPr sz="2400" dirty="0" err="1">
                <a:latin typeface="Century" panose="02040604050505020304" pitchFamily="18" charset="0"/>
              </a:rPr>
              <a:t>mạnh</a:t>
            </a:r>
            <a:r>
              <a:rPr sz="2400" dirty="0">
                <a:latin typeface="Century" panose="02040604050505020304" pitchFamily="18" charset="0"/>
              </a:rPr>
              <a:t> so </a:t>
            </a:r>
            <a:r>
              <a:rPr sz="2400" dirty="0" err="1">
                <a:latin typeface="Century" panose="02040604050505020304" pitchFamily="18" charset="0"/>
              </a:rPr>
              <a:t>với</a:t>
            </a:r>
            <a:r>
              <a:rPr sz="2400" dirty="0">
                <a:latin typeface="Century" panose="02040604050505020304" pitchFamily="18" charset="0"/>
              </a:rPr>
              <a:t>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trước</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  </a:t>
            </a:r>
            <a:r>
              <a:rPr sz="2400" dirty="0">
                <a:latin typeface="Century" panose="02040604050505020304" pitchFamily="18" charset="0"/>
              </a:rPr>
              <a:t>Xu </a:t>
            </a:r>
            <a:r>
              <a:rPr sz="2400" dirty="0" err="1">
                <a:latin typeface="Century" panose="02040604050505020304" pitchFamily="18" charset="0"/>
              </a:rPr>
              <a:t>hướng</a:t>
            </a:r>
            <a:r>
              <a:rPr sz="2400" dirty="0">
                <a:latin typeface="Century" panose="02040604050505020304" pitchFamily="18" charset="0"/>
              </a:rPr>
              <a:t> </a:t>
            </a:r>
            <a:r>
              <a:rPr sz="2400" dirty="0" err="1">
                <a:latin typeface="Century" panose="02040604050505020304" pitchFamily="18" charset="0"/>
              </a:rPr>
              <a:t>này</a:t>
            </a:r>
            <a:r>
              <a:rPr sz="2400" dirty="0">
                <a:latin typeface="Century" panose="02040604050505020304" pitchFamily="18" charset="0"/>
              </a:rPr>
              <a:t> </a:t>
            </a:r>
            <a:r>
              <a:rPr sz="2400" dirty="0" err="1">
                <a:latin typeface="Century" panose="02040604050505020304" pitchFamily="18" charset="0"/>
              </a:rPr>
              <a:t>có</a:t>
            </a:r>
            <a:r>
              <a:rPr sz="2400" dirty="0">
                <a:latin typeface="Century" panose="02040604050505020304" pitchFamily="18" charset="0"/>
              </a:rPr>
              <a:t> </a:t>
            </a:r>
            <a:r>
              <a:rPr sz="2400" dirty="0" err="1">
                <a:latin typeface="Century" panose="02040604050505020304" pitchFamily="18" charset="0"/>
              </a:rPr>
              <a:t>lặp</a:t>
            </a:r>
            <a:r>
              <a:rPr sz="2400" dirty="0">
                <a:latin typeface="Century" panose="02040604050505020304" pitchFamily="18" charset="0"/>
              </a:rPr>
              <a:t> </a:t>
            </a:r>
            <a:r>
              <a:rPr sz="2400" dirty="0" err="1">
                <a:latin typeface="Century" panose="02040604050505020304" pitchFamily="18" charset="0"/>
              </a:rPr>
              <a:t>lại</a:t>
            </a:r>
            <a:r>
              <a:rPr sz="2400" dirty="0">
                <a:latin typeface="Century" panose="02040604050505020304" pitchFamily="18" charset="0"/>
              </a:rPr>
              <a:t> hay </a:t>
            </a:r>
            <a:r>
              <a:rPr sz="2400" dirty="0" err="1">
                <a:latin typeface="Century" panose="02040604050505020304" pitchFamily="18" charset="0"/>
              </a:rPr>
              <a:t>chỉ</a:t>
            </a:r>
            <a:r>
              <a:rPr sz="2400" dirty="0">
                <a:latin typeface="Century" panose="02040604050505020304" pitchFamily="18" charset="0"/>
              </a:rPr>
              <a:t> </a:t>
            </a:r>
            <a:r>
              <a:rPr sz="2400" dirty="0" err="1">
                <a:latin typeface="Century" panose="02040604050505020304" pitchFamily="18" charset="0"/>
              </a:rPr>
              <a:t>là</a:t>
            </a:r>
            <a:r>
              <a:rPr sz="2400" dirty="0">
                <a:latin typeface="Century" panose="02040604050505020304" pitchFamily="18" charset="0"/>
              </a:rPr>
              <a:t> </a:t>
            </a:r>
            <a:r>
              <a:rPr sz="2400" dirty="0" err="1">
                <a:latin typeface="Century" panose="02040604050505020304" pitchFamily="18" charset="0"/>
              </a:rPr>
              <a:t>biến</a:t>
            </a:r>
            <a:r>
              <a:rPr sz="2400" dirty="0">
                <a:latin typeface="Century" panose="02040604050505020304" pitchFamily="18" charset="0"/>
              </a:rPr>
              <a:t> </a:t>
            </a:r>
            <a:r>
              <a:rPr sz="2400" dirty="0" err="1">
                <a:latin typeface="Century" panose="02040604050505020304" pitchFamily="18" charset="0"/>
              </a:rPr>
              <a:t>động</a:t>
            </a:r>
            <a:r>
              <a:rPr sz="2400" dirty="0">
                <a:latin typeface="Century" panose="02040604050505020304" pitchFamily="18" charset="0"/>
              </a:rPr>
              <a:t> </a:t>
            </a:r>
            <a:r>
              <a:rPr sz="2400" dirty="0" err="1">
                <a:latin typeface="Century" panose="02040604050505020304" pitchFamily="18" charset="0"/>
              </a:rPr>
              <a:t>ngẫu</a:t>
            </a:r>
            <a:r>
              <a:rPr sz="2400" dirty="0">
                <a:latin typeface="Century" panose="02040604050505020304" pitchFamily="18" charset="0"/>
              </a:rPr>
              <a:t> </a:t>
            </a:r>
            <a:r>
              <a:rPr sz="2400" dirty="0" err="1">
                <a:latin typeface="Century" panose="02040604050505020304" pitchFamily="18" charset="0"/>
              </a:rPr>
              <a:t>nhiên</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  </a:t>
            </a:r>
            <a:r>
              <a:rPr sz="2400" dirty="0" err="1">
                <a:latin typeface="Century" panose="02040604050505020304" pitchFamily="18" charset="0"/>
              </a:rPr>
              <a:t>Đây</a:t>
            </a:r>
            <a:r>
              <a:rPr sz="2400" dirty="0">
                <a:latin typeface="Century" panose="02040604050505020304" pitchFamily="18" charset="0"/>
              </a:rPr>
              <a:t> </a:t>
            </a:r>
            <a:r>
              <a:rPr sz="2400" dirty="0" err="1">
                <a:latin typeface="Century" panose="02040604050505020304" pitchFamily="18" charset="0"/>
              </a:rPr>
              <a:t>là</a:t>
            </a:r>
            <a:r>
              <a:rPr sz="2400" dirty="0">
                <a:latin typeface="Century" panose="02040604050505020304" pitchFamily="18" charset="0"/>
              </a:rPr>
              <a:t> </a:t>
            </a:r>
            <a:r>
              <a:rPr sz="2400" dirty="0" err="1">
                <a:latin typeface="Century" panose="02040604050505020304" pitchFamily="18" charset="0"/>
              </a:rPr>
              <a:t>tín</a:t>
            </a:r>
            <a:r>
              <a:rPr sz="2400" dirty="0">
                <a:latin typeface="Century" panose="02040604050505020304" pitchFamily="18" charset="0"/>
              </a:rPr>
              <a:t> </a:t>
            </a:r>
            <a:r>
              <a:rPr sz="2400" dirty="0" err="1">
                <a:latin typeface="Century" panose="02040604050505020304" pitchFamily="18" charset="0"/>
              </a:rPr>
              <a:t>hiệu</a:t>
            </a:r>
            <a:r>
              <a:rPr sz="2400" dirty="0">
                <a:latin typeface="Century" panose="02040604050505020304" pitchFamily="18" charset="0"/>
              </a:rPr>
              <a:t> </a:t>
            </a:r>
            <a:r>
              <a:rPr sz="2400" dirty="0" err="1">
                <a:latin typeface="Century" panose="02040604050505020304" pitchFamily="18" charset="0"/>
              </a:rPr>
              <a:t>tăng</a:t>
            </a:r>
            <a:r>
              <a:rPr sz="2400" dirty="0">
                <a:latin typeface="Century" panose="02040604050505020304" pitchFamily="18" charset="0"/>
              </a:rPr>
              <a:t> </a:t>
            </a:r>
            <a:r>
              <a:rPr sz="2400" dirty="0" err="1">
                <a:latin typeface="Century" panose="02040604050505020304" pitchFamily="18" charset="0"/>
              </a:rPr>
              <a:t>trưởng</a:t>
            </a:r>
            <a:r>
              <a:rPr sz="2400" dirty="0">
                <a:latin typeface="Century" panose="02040604050505020304" pitchFamily="18" charset="0"/>
              </a:rPr>
              <a:t> </a:t>
            </a:r>
            <a:r>
              <a:rPr sz="2400" dirty="0" err="1">
                <a:latin typeface="Century" panose="02040604050505020304" pitchFamily="18" charset="0"/>
              </a:rPr>
              <a:t>mới</a:t>
            </a:r>
            <a:r>
              <a:rPr sz="2400" dirty="0">
                <a:latin typeface="Century" panose="02040604050505020304" pitchFamily="18" charset="0"/>
              </a:rPr>
              <a:t> hay </a:t>
            </a:r>
            <a:r>
              <a:rPr sz="2500" dirty="0" err="1">
                <a:latin typeface="Century" panose="02040604050505020304" pitchFamily="18" charset="0"/>
              </a:rPr>
              <a:t>hiệu</a:t>
            </a:r>
            <a:r>
              <a:rPr sz="2400" dirty="0">
                <a:latin typeface="Century" panose="02040604050505020304" pitchFamily="18" charset="0"/>
              </a:rPr>
              <a:t> </a:t>
            </a:r>
            <a:r>
              <a:rPr sz="2400" dirty="0" err="1">
                <a:latin typeface="Century" panose="02040604050505020304" pitchFamily="18" charset="0"/>
              </a:rPr>
              <a:t>ứng</a:t>
            </a:r>
            <a:r>
              <a:rPr sz="2400" dirty="0">
                <a:latin typeface="Century" panose="02040604050505020304" pitchFamily="18" charset="0"/>
              </a:rPr>
              <a:t> </a:t>
            </a:r>
            <a:r>
              <a:rPr sz="2400" dirty="0" err="1">
                <a:latin typeface="Century" panose="02040604050505020304" pitchFamily="18" charset="0"/>
              </a:rPr>
              <a:t>ngắn</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10482" y="527718"/>
            <a:ext cx="7702550" cy="573088"/>
          </a:xfrm>
        </p:spPr>
        <p:txBody>
          <a:bodyPr/>
          <a:lstStyle/>
          <a:p>
            <a:r>
              <a:rPr sz="4400" dirty="0">
                <a:latin typeface="Aptos Display" panose="020B0004020202020204" pitchFamily="34" charset="0"/>
              </a:rPr>
              <a:t>SMART – Specific &amp; Measurable</a:t>
            </a:r>
          </a:p>
        </p:txBody>
      </p:sp>
      <p:sp>
        <p:nvSpPr>
          <p:cNvPr id="4" name="Picture Placeholder 3"/>
          <p:cNvSpPr>
            <a:spLocks noGrp="1"/>
          </p:cNvSpPr>
          <p:nvPr>
            <p:ph type="pic" idx="4294967295"/>
          </p:nvPr>
        </p:nvSpPr>
        <p:spPr>
          <a:xfrm>
            <a:off x="445169" y="1550403"/>
            <a:ext cx="7567863" cy="2227513"/>
          </a:xfrm>
          <a:noFill/>
          <a:ln>
            <a:noFill/>
          </a:ln>
        </p:spPr>
        <p:txBody>
          <a:bodyPr/>
          <a:lstStyle/>
          <a:p>
            <a:pPr marL="152400" indent="0">
              <a:buNone/>
            </a:pPr>
            <a:r>
              <a:rPr lang="en-US" sz="2400" dirty="0">
                <a:latin typeface="Century" panose="02040604050505020304" pitchFamily="18" charset="0"/>
                <a:sym typeface="Wingdings" panose="05000000000000000000" pitchFamily="2" charset="2"/>
              </a:rPr>
              <a:t> </a:t>
            </a:r>
            <a:r>
              <a:rPr sz="2400" dirty="0" err="1">
                <a:latin typeface="Century" panose="02040604050505020304" pitchFamily="18" charset="0"/>
              </a:rPr>
              <a:t>Xác</a:t>
            </a:r>
            <a:r>
              <a:rPr sz="2400" dirty="0">
                <a:latin typeface="Century" panose="02040604050505020304" pitchFamily="18" charset="0"/>
              </a:rPr>
              <a:t> </a:t>
            </a:r>
            <a:r>
              <a:rPr sz="2400" dirty="0" err="1">
                <a:latin typeface="Century" panose="02040604050505020304" pitchFamily="18" charset="0"/>
              </a:rPr>
              <a:t>định</a:t>
            </a:r>
            <a:r>
              <a:rPr sz="2400" dirty="0">
                <a:latin typeface="Century" panose="02040604050505020304" pitchFamily="18" charset="0"/>
              </a:rPr>
              <a:t> trend, seasonality </a:t>
            </a:r>
            <a:r>
              <a:rPr sz="2400" dirty="0" err="1">
                <a:latin typeface="Century" panose="02040604050505020304" pitchFamily="18" charset="0"/>
              </a:rPr>
              <a:t>và</a:t>
            </a:r>
            <a:r>
              <a:rPr sz="2400" dirty="0">
                <a:latin typeface="Century" panose="02040604050505020304" pitchFamily="18" charset="0"/>
              </a:rPr>
              <a:t> dao </a:t>
            </a:r>
            <a:r>
              <a:rPr sz="2400" dirty="0" err="1">
                <a:latin typeface="Century" panose="02040604050505020304" pitchFamily="18" charset="0"/>
              </a:rPr>
              <a:t>động</a:t>
            </a:r>
            <a:r>
              <a:rPr sz="2400" dirty="0">
                <a:latin typeface="Century" panose="02040604050505020304" pitchFamily="18" charset="0"/>
              </a:rPr>
              <a:t> </a:t>
            </a:r>
            <a:r>
              <a:rPr sz="2400" dirty="0" err="1">
                <a:latin typeface="Century" panose="02040604050505020304" pitchFamily="18" charset="0"/>
              </a:rPr>
              <a:t>ngắn</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 </a:t>
            </a:r>
            <a:r>
              <a:rPr sz="2400" dirty="0" err="1">
                <a:latin typeface="Century" panose="02040604050505020304" pitchFamily="18" charset="0"/>
              </a:rPr>
              <a:t>của</a:t>
            </a:r>
            <a:r>
              <a:rPr sz="2400" dirty="0">
                <a:latin typeface="Century" panose="02040604050505020304" pitchFamily="18" charset="0"/>
              </a:rPr>
              <a:t> </a:t>
            </a:r>
            <a:r>
              <a:rPr sz="2400" dirty="0" err="1">
                <a:latin typeface="Century" panose="02040604050505020304" pitchFamily="18" charset="0"/>
              </a:rPr>
              <a:t>doanh</a:t>
            </a:r>
            <a:r>
              <a:rPr sz="2400" dirty="0">
                <a:latin typeface="Century" panose="02040604050505020304" pitchFamily="18" charset="0"/>
              </a:rPr>
              <a:t> </a:t>
            </a:r>
            <a:r>
              <a:rPr sz="2400" dirty="0" err="1">
                <a:latin typeface="Century" panose="02040604050505020304" pitchFamily="18" charset="0"/>
              </a:rPr>
              <a:t>thu</a:t>
            </a:r>
            <a:r>
              <a:rPr sz="2400" dirty="0">
                <a:latin typeface="Century" panose="02040604050505020304" pitchFamily="18" charset="0"/>
              </a:rPr>
              <a:t>. </a:t>
            </a:r>
            <a:endParaRPr lang="en-US" sz="2400" dirty="0">
              <a:latin typeface="Century" panose="02040604050505020304" pitchFamily="18" charset="0"/>
            </a:endParaRPr>
          </a:p>
          <a:p>
            <a:pPr marL="152400" indent="0">
              <a:buNone/>
            </a:pPr>
            <a:r>
              <a:rPr lang="en-US" sz="2400" dirty="0">
                <a:latin typeface="Century" panose="02040604050505020304" pitchFamily="18" charset="0"/>
                <a:sym typeface="Wingdings" panose="05000000000000000000" pitchFamily="2" charset="2"/>
              </a:rPr>
              <a:t> </a:t>
            </a:r>
            <a:r>
              <a:rPr sz="2400" dirty="0" err="1">
                <a:latin typeface="Century" panose="02040604050505020304" pitchFamily="18" charset="0"/>
              </a:rPr>
              <a:t>Đánh</a:t>
            </a:r>
            <a:r>
              <a:rPr sz="2400" dirty="0">
                <a:latin typeface="Century" panose="02040604050505020304" pitchFamily="18" charset="0"/>
              </a:rPr>
              <a:t> </a:t>
            </a:r>
            <a:r>
              <a:rPr sz="2400" dirty="0" err="1">
                <a:latin typeface="Century" panose="02040604050505020304" pitchFamily="18" charset="0"/>
              </a:rPr>
              <a:t>giá</a:t>
            </a:r>
            <a:r>
              <a:rPr sz="2400" dirty="0">
                <a:latin typeface="Century" panose="02040604050505020304" pitchFamily="18" charset="0"/>
              </a:rPr>
              <a:t> </a:t>
            </a:r>
            <a:r>
              <a:rPr sz="2400" dirty="0" err="1">
                <a:latin typeface="Century" panose="02040604050505020304" pitchFamily="18" charset="0"/>
              </a:rPr>
              <a:t>bằng</a:t>
            </a:r>
            <a:r>
              <a:rPr sz="2400" dirty="0">
                <a:latin typeface="Century" panose="02040604050505020304" pitchFamily="18" charset="0"/>
              </a:rPr>
              <a:t> </a:t>
            </a:r>
            <a:r>
              <a:rPr sz="2400" dirty="0" err="1">
                <a:latin typeface="Century" panose="02040604050505020304" pitchFamily="18" charset="0"/>
              </a:rPr>
              <a:t>tăng</a:t>
            </a:r>
            <a:r>
              <a:rPr sz="2400" dirty="0">
                <a:latin typeface="Century" panose="02040604050505020304" pitchFamily="18" charset="0"/>
              </a:rPr>
              <a:t> </a:t>
            </a:r>
            <a:r>
              <a:rPr sz="2400" dirty="0" err="1">
                <a:latin typeface="Century" panose="02040604050505020304" pitchFamily="18" charset="0"/>
              </a:rPr>
              <a:t>trưởng</a:t>
            </a:r>
            <a:r>
              <a:rPr sz="2400" dirty="0">
                <a:latin typeface="Century" panose="02040604050505020304" pitchFamily="18" charset="0"/>
              </a:rPr>
              <a:t> </a:t>
            </a:r>
            <a:r>
              <a:rPr sz="2400" dirty="0" err="1">
                <a:latin typeface="Century" panose="02040604050505020304" pitchFamily="18" charset="0"/>
              </a:rPr>
              <a:t>tuần</a:t>
            </a:r>
            <a:r>
              <a:rPr sz="2400" dirty="0">
                <a:latin typeface="Century" panose="02040604050505020304" pitchFamily="18" charset="0"/>
              </a:rPr>
              <a:t>, </a:t>
            </a:r>
            <a:r>
              <a:rPr sz="2400" dirty="0" err="1">
                <a:latin typeface="Century" panose="02040604050505020304" pitchFamily="18" charset="0"/>
              </a:rPr>
              <a:t>tháng</a:t>
            </a:r>
            <a:r>
              <a:rPr sz="2400" dirty="0">
                <a:latin typeface="Century" panose="02040604050505020304" pitchFamily="18" charset="0"/>
              </a:rPr>
              <a:t>, rolling statistics </a:t>
            </a:r>
            <a:r>
              <a:rPr sz="2400" dirty="0" err="1">
                <a:latin typeface="Century" panose="02040604050505020304" pitchFamily="18" charset="0"/>
              </a:rPr>
              <a:t>và</a:t>
            </a:r>
            <a:r>
              <a:rPr sz="2400" dirty="0">
                <a:latin typeface="Century" panose="02040604050505020304" pitchFamily="18" charset="0"/>
              </a:rPr>
              <a:t> </a:t>
            </a:r>
            <a:r>
              <a:rPr sz="2400" dirty="0" err="1">
                <a:latin typeface="Century" panose="02040604050505020304" pitchFamily="18" charset="0"/>
              </a:rPr>
              <a:t>kết</a:t>
            </a:r>
            <a:r>
              <a:rPr sz="2400" dirty="0">
                <a:latin typeface="Century" panose="02040604050505020304" pitchFamily="18" charset="0"/>
              </a:rPr>
              <a:t> </a:t>
            </a:r>
            <a:r>
              <a:rPr sz="2400" dirty="0" err="1">
                <a:latin typeface="Century" panose="02040604050505020304" pitchFamily="18" charset="0"/>
              </a:rPr>
              <a:t>quả</a:t>
            </a:r>
            <a:r>
              <a:rPr sz="2400" dirty="0">
                <a:latin typeface="Century" panose="02040604050505020304" pitchFamily="18" charset="0"/>
              </a:rPr>
              <a:t> </a:t>
            </a:r>
            <a:r>
              <a:rPr sz="2400" dirty="0" err="1">
                <a:latin typeface="Century" panose="02040604050505020304" pitchFamily="18" charset="0"/>
              </a:rPr>
              <a:t>phân</a:t>
            </a:r>
            <a:r>
              <a:rPr sz="2400" dirty="0">
                <a:latin typeface="Century" panose="02040604050505020304" pitchFamily="18" charset="0"/>
              </a:rPr>
              <a:t> </a:t>
            </a:r>
            <a:r>
              <a:rPr sz="2400" dirty="0" err="1">
                <a:latin typeface="Century" panose="02040604050505020304" pitchFamily="18" charset="0"/>
              </a:rPr>
              <a:t>rã</a:t>
            </a:r>
            <a:r>
              <a:rPr sz="2400" dirty="0">
                <a:latin typeface="Century" panose="02040604050505020304" pitchFamily="18" charset="0"/>
              </a:rPr>
              <a:t> </a:t>
            </a:r>
            <a:r>
              <a:rPr sz="2400" dirty="0" err="1">
                <a:latin typeface="Century" panose="02040604050505020304" pitchFamily="18" charset="0"/>
              </a:rPr>
              <a:t>chuỗi</a:t>
            </a:r>
            <a:r>
              <a:rPr sz="2400" dirty="0">
                <a:latin typeface="Century" panose="02040604050505020304" pitchFamily="18" charset="0"/>
              </a:rPr>
              <a:t> </a:t>
            </a:r>
            <a:r>
              <a:rPr sz="2400" dirty="0" err="1">
                <a:latin typeface="Century" panose="02040604050505020304" pitchFamily="18" charset="0"/>
              </a:rPr>
              <a:t>thời</a:t>
            </a:r>
            <a:r>
              <a:rPr sz="2400" dirty="0">
                <a:latin typeface="Century" panose="02040604050505020304" pitchFamily="18" charset="0"/>
              </a:rPr>
              <a:t> </a:t>
            </a:r>
            <a:r>
              <a:rPr sz="2400" dirty="0" err="1">
                <a:latin typeface="Century" panose="02040604050505020304" pitchFamily="18" charset="0"/>
              </a:rPr>
              <a:t>gian</a:t>
            </a:r>
            <a:r>
              <a:rPr sz="2400" dirty="0">
                <a:latin typeface="Century" panose="02040604050505020304" pitchFamily="18" charset="0"/>
              </a:rPr>
              <a:t> </a:t>
            </a:r>
            <a:r>
              <a:rPr sz="2400" dirty="0" err="1">
                <a:latin typeface="Century" panose="02040604050505020304" pitchFamily="18" charset="0"/>
              </a:rPr>
              <a:t>để</a:t>
            </a:r>
            <a:r>
              <a:rPr sz="2400" dirty="0">
                <a:latin typeface="Century" panose="02040604050505020304" pitchFamily="18" charset="0"/>
              </a:rPr>
              <a:t> </a:t>
            </a:r>
            <a:r>
              <a:rPr sz="2400" dirty="0" err="1">
                <a:latin typeface="Century" panose="02040604050505020304" pitchFamily="18" charset="0"/>
              </a:rPr>
              <a:t>phân</a:t>
            </a:r>
            <a:r>
              <a:rPr sz="2400" dirty="0">
                <a:latin typeface="Century" panose="02040604050505020304" pitchFamily="18" charset="0"/>
              </a:rPr>
              <a:t> </a:t>
            </a:r>
            <a:r>
              <a:rPr sz="2400" dirty="0" err="1">
                <a:latin typeface="Century" panose="02040604050505020304" pitchFamily="18" charset="0"/>
              </a:rPr>
              <a:t>loại</a:t>
            </a:r>
            <a:r>
              <a:rPr sz="2400" dirty="0">
                <a:latin typeface="Century" panose="02040604050505020304" pitchFamily="18" charset="0"/>
              </a:rPr>
              <a:t> </a:t>
            </a:r>
            <a:r>
              <a:rPr sz="2400" dirty="0" err="1">
                <a:latin typeface="Century" panose="02040604050505020304" pitchFamily="18" charset="0"/>
              </a:rPr>
              <a:t>các</a:t>
            </a:r>
            <a:r>
              <a:rPr sz="2400" dirty="0">
                <a:latin typeface="Century" panose="02040604050505020304" pitchFamily="18" charset="0"/>
              </a:rPr>
              <a:t> </a:t>
            </a:r>
            <a:r>
              <a:rPr sz="2400" dirty="0" err="1">
                <a:latin typeface="Century" panose="02040604050505020304" pitchFamily="18" charset="0"/>
              </a:rPr>
              <a:t>giai</a:t>
            </a:r>
            <a:r>
              <a:rPr sz="2400" dirty="0">
                <a:latin typeface="Century" panose="02040604050505020304" pitchFamily="18" charset="0"/>
              </a:rPr>
              <a:t> </a:t>
            </a:r>
            <a:r>
              <a:rPr sz="2400" dirty="0" err="1">
                <a:latin typeface="Century" panose="02040604050505020304" pitchFamily="18" charset="0"/>
              </a:rPr>
              <a:t>đoạn</a:t>
            </a:r>
            <a:r>
              <a:rPr sz="2400" dirty="0">
                <a:latin typeface="Century" panose="02040604050505020304" pitchFamily="18" charset="0"/>
              </a:rPr>
              <a:t> </a:t>
            </a:r>
            <a:r>
              <a:rPr sz="2400" dirty="0" err="1">
                <a:latin typeface="Century" panose="02040604050505020304" pitchFamily="18" charset="0"/>
              </a:rPr>
              <a:t>biến</a:t>
            </a:r>
            <a:r>
              <a:rPr sz="2400" dirty="0">
                <a:latin typeface="Century" panose="02040604050505020304" pitchFamily="18" charset="0"/>
              </a:rPr>
              <a:t> </a:t>
            </a:r>
            <a:r>
              <a:rPr sz="2400" dirty="0" err="1">
                <a:latin typeface="Century" panose="02040604050505020304" pitchFamily="18" charset="0"/>
              </a:rPr>
              <a:t>động</a:t>
            </a:r>
            <a:r>
              <a:rPr sz="2400" dirty="0">
                <a:latin typeface="Century" panose="02040604050505020304" pitchFamily="18"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12823" y="331957"/>
            <a:ext cx="7892714" cy="786982"/>
          </a:xfrm>
        </p:spPr>
        <p:txBody>
          <a:bodyPr/>
          <a:lstStyle/>
          <a:p>
            <a:r>
              <a:rPr sz="4400" dirty="0">
                <a:latin typeface="Aptos Display" panose="020B0004020202020204" pitchFamily="34" charset="0"/>
              </a:rPr>
              <a:t>SMART – Achievable &amp; Relevant</a:t>
            </a:r>
          </a:p>
        </p:txBody>
      </p:sp>
      <p:sp>
        <p:nvSpPr>
          <p:cNvPr id="4" name="Picture Placeholder 3"/>
          <p:cNvSpPr>
            <a:spLocks noGrp="1"/>
          </p:cNvSpPr>
          <p:nvPr>
            <p:ph type="pic" idx="4294967295"/>
          </p:nvPr>
        </p:nvSpPr>
        <p:spPr>
          <a:xfrm>
            <a:off x="168443" y="1306513"/>
            <a:ext cx="7591925" cy="2976729"/>
          </a:xfrm>
          <a:noFill/>
          <a:ln>
            <a:noFill/>
          </a:ln>
        </p:spPr>
        <p:txBody>
          <a:bodyPr/>
          <a:lstStyle/>
          <a:p>
            <a:pPr marL="152400" indent="0">
              <a:buNone/>
            </a:pP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tích</a:t>
            </a:r>
            <a:r>
              <a:rPr sz="2500" dirty="0">
                <a:latin typeface="Century" panose="02040604050505020304" pitchFamily="18" charset="0"/>
              </a:rPr>
              <a:t> </a:t>
            </a:r>
            <a:r>
              <a:rPr sz="2500" dirty="0" err="1">
                <a:latin typeface="Century" panose="02040604050505020304" pitchFamily="18" charset="0"/>
              </a:rPr>
              <a:t>khả</a:t>
            </a:r>
            <a:r>
              <a:rPr sz="2500" dirty="0">
                <a:latin typeface="Century" panose="02040604050505020304" pitchFamily="18" charset="0"/>
              </a:rPr>
              <a:t> </a:t>
            </a:r>
            <a:r>
              <a:rPr sz="2500" dirty="0" err="1">
                <a:latin typeface="Century" panose="02040604050505020304" pitchFamily="18" charset="0"/>
              </a:rPr>
              <a:t>thi</a:t>
            </a:r>
            <a:r>
              <a:rPr sz="2500" dirty="0">
                <a:latin typeface="Century" panose="02040604050505020304" pitchFamily="18" charset="0"/>
              </a:rPr>
              <a:t> </a:t>
            </a:r>
            <a:r>
              <a:rPr sz="2500" dirty="0" err="1">
                <a:latin typeface="Century" panose="02040604050505020304" pitchFamily="18" charset="0"/>
              </a:rPr>
              <a:t>nhờ</a:t>
            </a:r>
            <a:r>
              <a:rPr sz="2500" dirty="0">
                <a:latin typeface="Century" panose="02040604050505020304" pitchFamily="18" charset="0"/>
              </a:rPr>
              <a:t> </a:t>
            </a:r>
            <a:r>
              <a:rPr sz="2500" dirty="0" err="1">
                <a:latin typeface="Century" panose="02040604050505020304" pitchFamily="18" charset="0"/>
              </a:rPr>
              <a:t>dữ</a:t>
            </a:r>
            <a:r>
              <a:rPr sz="2500" dirty="0">
                <a:latin typeface="Century" panose="02040604050505020304" pitchFamily="18" charset="0"/>
              </a:rPr>
              <a:t> </a:t>
            </a:r>
            <a:r>
              <a:rPr sz="2500" dirty="0" err="1">
                <a:latin typeface="Century" panose="02040604050505020304" pitchFamily="18" charset="0"/>
              </a:rPr>
              <a:t>liệu</a:t>
            </a:r>
            <a:r>
              <a:rPr sz="2500" dirty="0">
                <a:latin typeface="Century" panose="02040604050505020304" pitchFamily="18" charset="0"/>
              </a:rPr>
              <a:t> 12 </a:t>
            </a:r>
            <a:r>
              <a:rPr sz="2500" dirty="0" err="1">
                <a:latin typeface="Century" panose="02040604050505020304" pitchFamily="18" charset="0"/>
              </a:rPr>
              <a:t>tháng</a:t>
            </a:r>
            <a:r>
              <a:rPr sz="2500" dirty="0">
                <a:latin typeface="Century" panose="02040604050505020304" pitchFamily="18" charset="0"/>
              </a:rPr>
              <a:t> chi </a:t>
            </a:r>
            <a:r>
              <a:rPr sz="2500" dirty="0" err="1">
                <a:latin typeface="Century" panose="02040604050505020304" pitchFamily="18" charset="0"/>
              </a:rPr>
              <a:t>tiết</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ngày</a:t>
            </a:r>
            <a:r>
              <a:rPr sz="2500" dirty="0">
                <a:latin typeface="Century" panose="02040604050505020304" pitchFamily="18" charset="0"/>
              </a:rPr>
              <a:t>. </a:t>
            </a:r>
            <a:endParaRPr lang="en-US" sz="2500" dirty="0">
              <a:latin typeface="Century" panose="02040604050505020304" pitchFamily="18" charset="0"/>
            </a:endParaRPr>
          </a:p>
          <a:p>
            <a:pPr marL="152400" indent="0">
              <a:buNone/>
            </a:pPr>
            <a:r>
              <a:rPr sz="2500" dirty="0" err="1">
                <a:latin typeface="Century" panose="02040604050505020304" pitchFamily="18" charset="0"/>
              </a:rPr>
              <a:t>Sử</a:t>
            </a:r>
            <a:r>
              <a:rPr sz="2500" dirty="0">
                <a:latin typeface="Century" panose="02040604050505020304" pitchFamily="18" charset="0"/>
              </a:rPr>
              <a:t> </a:t>
            </a:r>
            <a:r>
              <a:rPr sz="2500" dirty="0" err="1">
                <a:latin typeface="Century" panose="02040604050505020304" pitchFamily="18" charset="0"/>
              </a:rPr>
              <a:t>dụng</a:t>
            </a:r>
            <a:r>
              <a:rPr sz="2500" dirty="0">
                <a:latin typeface="Century" panose="02040604050505020304" pitchFamily="18" charset="0"/>
              </a:rPr>
              <a:t> moving average, </a:t>
            </a:r>
            <a:r>
              <a:rPr sz="2500" dirty="0" err="1">
                <a:latin typeface="Century" panose="02040604050505020304" pitchFamily="18" charset="0"/>
              </a:rPr>
              <a:t>thống</a:t>
            </a:r>
            <a:r>
              <a:rPr sz="2500" dirty="0">
                <a:latin typeface="Century" panose="02040604050505020304" pitchFamily="18" charset="0"/>
              </a:rPr>
              <a:t> </a:t>
            </a:r>
            <a:r>
              <a:rPr sz="2500" dirty="0" err="1">
                <a:latin typeface="Century" panose="02040604050505020304" pitchFamily="18" charset="0"/>
              </a:rPr>
              <a:t>kê</a:t>
            </a:r>
            <a:r>
              <a:rPr sz="2500" dirty="0">
                <a:latin typeface="Century" panose="02040604050505020304" pitchFamily="18" charset="0"/>
              </a:rPr>
              <a:t> </a:t>
            </a:r>
            <a:r>
              <a:rPr sz="2500" dirty="0" err="1">
                <a:latin typeface="Century" panose="02040604050505020304" pitchFamily="18" charset="0"/>
              </a:rPr>
              <a:t>trượt</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rã</a:t>
            </a:r>
            <a:r>
              <a:rPr sz="2500" dirty="0">
                <a:latin typeface="Century" panose="02040604050505020304" pitchFamily="18" charset="0"/>
              </a:rPr>
              <a:t> </a:t>
            </a:r>
            <a:r>
              <a:rPr sz="2500" dirty="0" err="1">
                <a:latin typeface="Century" panose="02040604050505020304" pitchFamily="18" charset="0"/>
              </a:rPr>
              <a:t>chuỗi</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gian</a:t>
            </a:r>
            <a:r>
              <a:rPr sz="2500" dirty="0">
                <a:latin typeface="Century" panose="02040604050505020304" pitchFamily="18" charset="0"/>
              </a:rPr>
              <a:t>. </a:t>
            </a:r>
            <a:endParaRPr lang="en-US" sz="2500" dirty="0">
              <a:latin typeface="Century" panose="02040604050505020304" pitchFamily="18" charset="0"/>
            </a:endParaRPr>
          </a:p>
          <a:p>
            <a:pPr marL="152400" indent="0">
              <a:buNone/>
            </a:pPr>
            <a:r>
              <a:rPr sz="2500" dirty="0" err="1">
                <a:latin typeface="Century" panose="02040604050505020304" pitchFamily="18" charset="0"/>
              </a:rPr>
              <a:t>Kết</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giúp</a:t>
            </a:r>
            <a:r>
              <a:rPr sz="2500" dirty="0">
                <a:latin typeface="Century" panose="02040604050505020304" pitchFamily="18" charset="0"/>
              </a:rPr>
              <a:t> </a:t>
            </a:r>
            <a:r>
              <a:rPr sz="2500" dirty="0" err="1">
                <a:latin typeface="Century" panose="02040604050505020304" pitchFamily="18" charset="0"/>
              </a:rPr>
              <a:t>tránh</a:t>
            </a:r>
            <a:r>
              <a:rPr sz="2500" dirty="0">
                <a:latin typeface="Century" panose="02040604050505020304" pitchFamily="18" charset="0"/>
              </a:rPr>
              <a:t> </a:t>
            </a:r>
            <a:r>
              <a:rPr sz="2500" dirty="0" err="1">
                <a:latin typeface="Century" panose="02040604050505020304" pitchFamily="18" charset="0"/>
              </a:rPr>
              <a:t>quyết</a:t>
            </a:r>
            <a:r>
              <a:rPr sz="2500" dirty="0">
                <a:latin typeface="Century" panose="02040604050505020304" pitchFamily="18" charset="0"/>
              </a:rPr>
              <a:t> </a:t>
            </a:r>
            <a:r>
              <a:rPr sz="2500" dirty="0" err="1">
                <a:latin typeface="Century" panose="02040604050505020304" pitchFamily="18" charset="0"/>
              </a:rPr>
              <a:t>định</a:t>
            </a:r>
            <a:r>
              <a:rPr sz="2500" dirty="0">
                <a:latin typeface="Century" panose="02040604050505020304" pitchFamily="18" charset="0"/>
              </a:rPr>
              <a:t> </a:t>
            </a:r>
            <a:r>
              <a:rPr sz="2500" dirty="0" err="1">
                <a:latin typeface="Century" panose="02040604050505020304" pitchFamily="18" charset="0"/>
              </a:rPr>
              <a:t>dựa</a:t>
            </a:r>
            <a:r>
              <a:rPr sz="2500" dirty="0">
                <a:latin typeface="Century" panose="02040604050505020304" pitchFamily="18" charset="0"/>
              </a:rPr>
              <a:t> </a:t>
            </a:r>
            <a:r>
              <a:rPr sz="2500" dirty="0" err="1">
                <a:latin typeface="Century" panose="02040604050505020304" pitchFamily="18" charset="0"/>
              </a:rPr>
              <a:t>trên</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ngẫu</a:t>
            </a:r>
            <a:r>
              <a:rPr sz="2500" dirty="0">
                <a:latin typeface="Century" panose="02040604050505020304" pitchFamily="18" charset="0"/>
              </a:rPr>
              <a:t> </a:t>
            </a:r>
            <a:r>
              <a:rPr sz="2500" dirty="0" err="1">
                <a:latin typeface="Century" panose="02040604050505020304" pitchFamily="18" charset="0"/>
              </a:rPr>
              <a:t>nhiên</a:t>
            </a:r>
            <a:r>
              <a:rPr sz="2500" dirty="0">
                <a:latin typeface="Century" panose="02040604050505020304" pitchFamily="18" charset="0"/>
              </a:rPr>
              <a:t>, </a:t>
            </a:r>
            <a:r>
              <a:rPr sz="2500" dirty="0" err="1">
                <a:latin typeface="Century" panose="02040604050505020304" pitchFamily="18" charset="0"/>
              </a:rPr>
              <a:t>tối</a:t>
            </a:r>
            <a:r>
              <a:rPr sz="2500" dirty="0">
                <a:latin typeface="Century" panose="02040604050505020304" pitchFamily="18" charset="0"/>
              </a:rPr>
              <a:t> </a:t>
            </a:r>
            <a:r>
              <a:rPr sz="2500" dirty="0" err="1">
                <a:latin typeface="Century" panose="02040604050505020304" pitchFamily="18" charset="0"/>
              </a:rPr>
              <a:t>ưu</a:t>
            </a:r>
            <a:r>
              <a:rPr sz="2500" dirty="0">
                <a:latin typeface="Century" panose="02040604050505020304" pitchFamily="18" charset="0"/>
              </a:rPr>
              <a:t> </a:t>
            </a:r>
            <a:r>
              <a:rPr sz="2500" dirty="0" err="1">
                <a:latin typeface="Century" panose="02040604050505020304" pitchFamily="18" charset="0"/>
              </a:rPr>
              <a:t>điều</a:t>
            </a:r>
            <a:r>
              <a:rPr sz="2500" dirty="0">
                <a:latin typeface="Century" panose="02040604050505020304" pitchFamily="18" charset="0"/>
              </a:rPr>
              <a:t> </a:t>
            </a:r>
            <a:r>
              <a:rPr sz="2500" dirty="0" err="1">
                <a:latin typeface="Century" panose="02040604050505020304" pitchFamily="18" charset="0"/>
              </a:rPr>
              <a:t>chỉnh</a:t>
            </a:r>
            <a:r>
              <a:rPr sz="2500" dirty="0">
                <a:latin typeface="Century" panose="02040604050505020304" pitchFamily="18" charset="0"/>
              </a:rPr>
              <a:t> </a:t>
            </a:r>
            <a:r>
              <a:rPr sz="2500" dirty="0" err="1">
                <a:latin typeface="Century" panose="02040604050505020304" pitchFamily="18" charset="0"/>
              </a:rPr>
              <a:t>giá</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bổ</a:t>
            </a:r>
            <a:r>
              <a:rPr sz="2500" dirty="0">
                <a:latin typeface="Century" panose="02040604050505020304" pitchFamily="18" charset="0"/>
              </a:rPr>
              <a:t> </a:t>
            </a:r>
            <a:r>
              <a:rPr sz="2500" dirty="0" err="1">
                <a:latin typeface="Century" panose="02040604050505020304" pitchFamily="18" charset="0"/>
              </a:rPr>
              <a:t>nguồn</a:t>
            </a:r>
            <a:r>
              <a:rPr sz="2500" dirty="0">
                <a:latin typeface="Century" panose="02040604050505020304" pitchFamily="18" charset="0"/>
              </a:rPr>
              <a:t> </a:t>
            </a:r>
            <a:r>
              <a:rPr sz="2500" dirty="0" err="1">
                <a:latin typeface="Century" panose="02040604050505020304" pitchFamily="18" charset="0"/>
              </a:rPr>
              <a:t>lực</a:t>
            </a:r>
            <a:r>
              <a:rPr sz="2500" dirty="0">
                <a:latin typeface="Century" panose="02040604050505020304" pitchFamily="18" charset="0"/>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33486" y="338325"/>
            <a:ext cx="6067314" cy="973117"/>
          </a:xfrm>
        </p:spPr>
        <p:txBody>
          <a:bodyPr/>
          <a:lstStyle/>
          <a:p>
            <a:r>
              <a:rPr sz="4400" dirty="0">
                <a:latin typeface="Aptos Display" panose="020B0004020202020204" pitchFamily="34" charset="0"/>
              </a:rPr>
              <a:t>SMART – Time</a:t>
            </a:r>
            <a:r>
              <a:rPr lang="en-US" sz="4400" dirty="0">
                <a:latin typeface="Aptos Display" panose="020B0004020202020204" pitchFamily="34" charset="0"/>
              </a:rPr>
              <a:t> </a:t>
            </a:r>
            <a:r>
              <a:rPr sz="4400" dirty="0">
                <a:latin typeface="Aptos Display" panose="020B0004020202020204" pitchFamily="34" charset="0"/>
              </a:rPr>
              <a:t>-</a:t>
            </a:r>
            <a:r>
              <a:rPr lang="en-US" sz="4400" dirty="0">
                <a:latin typeface="Aptos Display" panose="020B0004020202020204" pitchFamily="34" charset="0"/>
              </a:rPr>
              <a:t> </a:t>
            </a:r>
            <a:r>
              <a:rPr sz="4400" dirty="0">
                <a:latin typeface="Aptos Display" panose="020B0004020202020204" pitchFamily="34" charset="0"/>
              </a:rPr>
              <a:t>bound</a:t>
            </a:r>
          </a:p>
        </p:txBody>
      </p:sp>
      <p:sp>
        <p:nvSpPr>
          <p:cNvPr id="4" name="Picture Placeholder 3"/>
          <p:cNvSpPr>
            <a:spLocks noGrp="1"/>
          </p:cNvSpPr>
          <p:nvPr>
            <p:ph type="pic" idx="4294967295"/>
          </p:nvPr>
        </p:nvSpPr>
        <p:spPr>
          <a:xfrm>
            <a:off x="134753" y="1398789"/>
            <a:ext cx="8191100" cy="1397822"/>
          </a:xfrm>
        </p:spPr>
        <p:txBody>
          <a:bodyPr/>
          <a:lstStyle/>
          <a:p>
            <a:pPr marL="152400" indent="0">
              <a:buNone/>
            </a:pPr>
            <a:r>
              <a:rPr sz="2500" dirty="0" err="1">
                <a:latin typeface="Century" panose="02040604050505020304" pitchFamily="18" charset="0"/>
              </a:rPr>
              <a:t>Thực</a:t>
            </a:r>
            <a:r>
              <a:rPr sz="2500" dirty="0">
                <a:latin typeface="Century" panose="02040604050505020304" pitchFamily="18" charset="0"/>
              </a:rPr>
              <a:t> </a:t>
            </a:r>
            <a:r>
              <a:rPr sz="2500" dirty="0" err="1">
                <a:latin typeface="Century" panose="02040604050505020304" pitchFamily="18" charset="0"/>
              </a:rPr>
              <a:t>hiện</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2 </a:t>
            </a:r>
            <a:r>
              <a:rPr sz="2500" dirty="0" err="1">
                <a:latin typeface="Century" panose="02040604050505020304" pitchFamily="18" charset="0"/>
              </a:rPr>
              <a:t>tuần</a:t>
            </a:r>
            <a:r>
              <a:rPr sz="2500" dirty="0">
                <a:latin typeface="Century" panose="02040604050505020304" pitchFamily="18" charset="0"/>
              </a:rPr>
              <a:t> </a:t>
            </a:r>
            <a:r>
              <a:rPr sz="2500" dirty="0" err="1">
                <a:latin typeface="Century" panose="02040604050505020304" pitchFamily="18" charset="0"/>
              </a:rPr>
              <a:t>với</a:t>
            </a:r>
            <a:r>
              <a:rPr sz="2500" dirty="0">
                <a:latin typeface="Century" panose="02040604050505020304" pitchFamily="18" charset="0"/>
              </a:rPr>
              <a:t> </a:t>
            </a:r>
            <a:r>
              <a:rPr sz="2500" dirty="0" err="1">
                <a:latin typeface="Century" panose="02040604050505020304" pitchFamily="18" charset="0"/>
              </a:rPr>
              <a:t>toàn</a:t>
            </a:r>
            <a:r>
              <a:rPr sz="2500" dirty="0">
                <a:latin typeface="Century" panose="02040604050505020304" pitchFamily="18" charset="0"/>
              </a:rPr>
              <a:t> </a:t>
            </a:r>
            <a:r>
              <a:rPr sz="2500" dirty="0" err="1">
                <a:latin typeface="Century" panose="02040604050505020304" pitchFamily="18" charset="0"/>
              </a:rPr>
              <a:t>bộ</a:t>
            </a:r>
            <a:r>
              <a:rPr sz="2500" dirty="0">
                <a:latin typeface="Century" panose="02040604050505020304" pitchFamily="18" charset="0"/>
              </a:rPr>
              <a:t> </a:t>
            </a:r>
            <a:r>
              <a:rPr sz="2500" dirty="0" err="1">
                <a:latin typeface="Century" panose="02040604050505020304" pitchFamily="18" charset="0"/>
              </a:rPr>
              <a:t>dữ</a:t>
            </a:r>
            <a:r>
              <a:rPr sz="2500" dirty="0">
                <a:latin typeface="Century" panose="02040604050505020304" pitchFamily="18" charset="0"/>
              </a:rPr>
              <a:t> </a:t>
            </a:r>
            <a:r>
              <a:rPr sz="2500" dirty="0" err="1">
                <a:latin typeface="Century" panose="02040604050505020304" pitchFamily="18" charset="0"/>
              </a:rPr>
              <a:t>liệu</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12 </a:t>
            </a:r>
            <a:r>
              <a:rPr sz="2500" dirty="0" err="1">
                <a:latin typeface="Century" panose="02040604050505020304" pitchFamily="18" charset="0"/>
              </a:rPr>
              <a:t>tháng</a:t>
            </a:r>
            <a:r>
              <a:rPr sz="2500" dirty="0">
                <a:latin typeface="Century" panose="02040604050505020304" pitchFamily="18" charset="0"/>
              </a:rPr>
              <a:t>. </a:t>
            </a:r>
            <a:r>
              <a:rPr sz="2500" dirty="0" err="1">
                <a:latin typeface="Century" panose="02040604050505020304" pitchFamily="18" charset="0"/>
              </a:rPr>
              <a:t>Kết</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được</a:t>
            </a:r>
            <a:r>
              <a:rPr sz="2500" dirty="0">
                <a:latin typeface="Century" panose="02040604050505020304" pitchFamily="18" charset="0"/>
              </a:rPr>
              <a:t> </a:t>
            </a:r>
            <a:r>
              <a:rPr sz="2500" dirty="0" err="1">
                <a:latin typeface="Century" panose="02040604050505020304" pitchFamily="18" charset="0"/>
              </a:rPr>
              <a:t>tổng</a:t>
            </a:r>
            <a:r>
              <a:rPr sz="2500" dirty="0">
                <a:latin typeface="Century" panose="02040604050505020304" pitchFamily="18" charset="0"/>
              </a:rPr>
              <a:t> </a:t>
            </a:r>
            <a:r>
              <a:rPr sz="2500" dirty="0" err="1">
                <a:latin typeface="Century" panose="02040604050505020304" pitchFamily="18" charset="0"/>
              </a:rPr>
              <a:t>hợp</a:t>
            </a:r>
            <a:r>
              <a:rPr sz="2500" dirty="0">
                <a:latin typeface="Century" panose="02040604050505020304" pitchFamily="18" charset="0"/>
              </a:rPr>
              <a:t> </a:t>
            </a:r>
            <a:r>
              <a:rPr sz="2500" dirty="0" err="1">
                <a:latin typeface="Century" panose="02040604050505020304" pitchFamily="18" charset="0"/>
              </a:rPr>
              <a:t>thành</a:t>
            </a:r>
            <a:r>
              <a:rPr sz="2500" dirty="0">
                <a:latin typeface="Century" panose="02040604050505020304" pitchFamily="18" charset="0"/>
              </a:rPr>
              <a:t> </a:t>
            </a:r>
            <a:r>
              <a:rPr sz="2500" dirty="0" err="1">
                <a:latin typeface="Century" panose="02040604050505020304" pitchFamily="18" charset="0"/>
              </a:rPr>
              <a:t>báo</a:t>
            </a:r>
            <a:r>
              <a:rPr sz="2500" dirty="0">
                <a:latin typeface="Century" panose="02040604050505020304" pitchFamily="18" charset="0"/>
              </a:rPr>
              <a:t> </a:t>
            </a:r>
            <a:r>
              <a:rPr sz="2500" dirty="0" err="1">
                <a:latin typeface="Century" panose="02040604050505020304" pitchFamily="18" charset="0"/>
              </a:rPr>
              <a:t>cáo</a:t>
            </a:r>
            <a:r>
              <a:rPr sz="2500" dirty="0">
                <a:latin typeface="Century" panose="02040604050505020304" pitchFamily="18" charset="0"/>
              </a:rPr>
              <a:t> </a:t>
            </a:r>
            <a:r>
              <a:rPr sz="2500" dirty="0" err="1">
                <a:latin typeface="Century" panose="02040604050505020304" pitchFamily="18" charset="0"/>
              </a:rPr>
              <a:t>hoàn</a:t>
            </a:r>
            <a:r>
              <a:rPr sz="2500" dirty="0">
                <a:latin typeface="Century" panose="02040604050505020304" pitchFamily="18" charset="0"/>
              </a:rPr>
              <a:t> </a:t>
            </a:r>
            <a:r>
              <a:rPr sz="2500" dirty="0" err="1">
                <a:latin typeface="Century" panose="02040604050505020304" pitchFamily="18" charset="0"/>
              </a:rPr>
              <a:t>chỉnh</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có</a:t>
            </a:r>
            <a:r>
              <a:rPr sz="2500" dirty="0">
                <a:latin typeface="Century" panose="02040604050505020304" pitchFamily="18" charset="0"/>
              </a:rPr>
              <a:t> </a:t>
            </a:r>
            <a:r>
              <a:rPr sz="2500" dirty="0" err="1">
                <a:latin typeface="Century" panose="02040604050505020304" pitchFamily="18" charset="0"/>
              </a:rPr>
              <a:t>thể</a:t>
            </a:r>
            <a:r>
              <a:rPr sz="2500" dirty="0">
                <a:latin typeface="Century" panose="02040604050505020304" pitchFamily="18" charset="0"/>
              </a:rPr>
              <a:t> </a:t>
            </a:r>
            <a:r>
              <a:rPr sz="2500" dirty="0" err="1">
                <a:latin typeface="Century" panose="02040604050505020304" pitchFamily="18" charset="0"/>
              </a:rPr>
              <a:t>tái</a:t>
            </a:r>
            <a:r>
              <a:rPr sz="2500" dirty="0">
                <a:latin typeface="Century" panose="02040604050505020304" pitchFamily="18" charset="0"/>
              </a:rPr>
              <a:t> </a:t>
            </a:r>
            <a:r>
              <a:rPr sz="2500" dirty="0" err="1">
                <a:latin typeface="Century" panose="02040604050505020304" pitchFamily="18" charset="0"/>
              </a:rPr>
              <a:t>sử</a:t>
            </a:r>
            <a:r>
              <a:rPr sz="2500" dirty="0">
                <a:latin typeface="Century" panose="02040604050505020304" pitchFamily="18" charset="0"/>
              </a:rPr>
              <a:t> </a:t>
            </a:r>
            <a:r>
              <a:rPr sz="2500" dirty="0" err="1">
                <a:latin typeface="Century" panose="02040604050505020304" pitchFamily="18" charset="0"/>
              </a:rPr>
              <a:t>dụng</a:t>
            </a:r>
            <a:r>
              <a:rPr sz="2500" dirty="0">
                <a:latin typeface="Century" panose="02040604050505020304" pitchFamily="18" charset="0"/>
              </a:rPr>
              <a:t> </a:t>
            </a:r>
            <a:r>
              <a:rPr sz="2500" dirty="0" err="1">
                <a:latin typeface="Century" panose="02040604050505020304" pitchFamily="18" charset="0"/>
              </a:rPr>
              <a:t>cho</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dõi</a:t>
            </a:r>
            <a:r>
              <a:rPr sz="2500" dirty="0">
                <a:latin typeface="Century" panose="02040604050505020304" pitchFamily="18" charset="0"/>
              </a:rPr>
              <a:t> </a:t>
            </a:r>
            <a:r>
              <a:rPr sz="2500" dirty="0" err="1">
                <a:latin typeface="Century" panose="02040604050505020304" pitchFamily="18" charset="0"/>
              </a:rPr>
              <a:t>định</a:t>
            </a:r>
            <a:r>
              <a:rPr sz="2500" dirty="0">
                <a:latin typeface="Century" panose="02040604050505020304" pitchFamily="18" charset="0"/>
              </a:rPr>
              <a:t> </a:t>
            </a:r>
            <a:r>
              <a:rPr sz="2500" dirty="0" err="1">
                <a:latin typeface="Century" panose="02040604050505020304" pitchFamily="18" charset="0"/>
              </a:rPr>
              <a:t>kỳ</a:t>
            </a:r>
            <a:r>
              <a:rPr sz="2500" dirty="0">
                <a:latin typeface="Century" panose="02040604050505020304" pitchFamily="18" charset="0"/>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BF2F5-22C8-02ED-1379-9EE5ADA05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403A07-032C-2025-4E25-22F106728EE0}"/>
              </a:ext>
            </a:extLst>
          </p:cNvPr>
          <p:cNvSpPr>
            <a:spLocks noGrp="1"/>
          </p:cNvSpPr>
          <p:nvPr>
            <p:ph type="title"/>
          </p:nvPr>
        </p:nvSpPr>
        <p:spPr>
          <a:xfrm>
            <a:off x="1283999" y="1092762"/>
            <a:ext cx="7221645" cy="2957975"/>
          </a:xfrm>
        </p:spPr>
        <p:txBody>
          <a:bodyPr/>
          <a:lstStyle/>
          <a:p>
            <a:r>
              <a:rPr lang="en-US" dirty="0">
                <a:latin typeface="Segoe UI Black" panose="020B0A02040204020203" pitchFamily="34" charset="0"/>
                <a:ea typeface="Segoe UI Black" panose="020B0A02040204020203" pitchFamily="34" charset="0"/>
                <a:cs typeface="Arial" panose="020B0604020202020204" pitchFamily="34" charset="0"/>
              </a:rPr>
              <a:t>2. PHƯƠNG PHÁP TIẾP CẬN </a:t>
            </a:r>
            <a:br>
              <a:rPr lang="en-US" dirty="0">
                <a:latin typeface="Segoe UI Black" panose="020B0A02040204020203" pitchFamily="34" charset="0"/>
                <a:ea typeface="Segoe UI Black" panose="020B0A02040204020203" pitchFamily="34" charset="0"/>
                <a:cs typeface="Arial" panose="020B0604020202020204" pitchFamily="34" charset="0"/>
              </a:rPr>
            </a:br>
            <a:r>
              <a:rPr lang="en-US" dirty="0">
                <a:latin typeface="Segoe UI Black" panose="020B0A02040204020203" pitchFamily="34" charset="0"/>
                <a:ea typeface="Segoe UI Black" panose="020B0A02040204020203" pitchFamily="34" charset="0"/>
                <a:cs typeface="Arial" panose="020B0604020202020204" pitchFamily="34" charset="0"/>
              </a:rPr>
              <a:t>BÀI TOÁN</a:t>
            </a:r>
          </a:p>
        </p:txBody>
      </p:sp>
    </p:spTree>
    <p:extLst>
      <p:ext uri="{BB962C8B-B14F-4D97-AF65-F5344CB8AC3E}">
        <p14:creationId xmlns:p14="http://schemas.microsoft.com/office/powerpoint/2010/main" val="5901985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E9233B1-9341-1220-366F-4E26B032CCA6}"/>
              </a:ext>
            </a:extLst>
          </p:cNvPr>
          <p:cNvSpPr txBox="1">
            <a:spLocks/>
          </p:cNvSpPr>
          <p:nvPr/>
        </p:nvSpPr>
        <p:spPr>
          <a:xfrm>
            <a:off x="720000" y="194268"/>
            <a:ext cx="7704000" cy="68545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algn="ctr">
              <a:buClr>
                <a:schemeClr val="dk1"/>
              </a:buClr>
              <a:buSzPts val="2800"/>
              <a:buFont typeface="Poppins"/>
              <a:buNone/>
              <a:defRPr sz="4400" b="1">
                <a:solidFill>
                  <a:schemeClr val="dk1"/>
                </a:solidFill>
                <a:latin typeface="Aptos Display" panose="020B0004020202020204" pitchFamily="34" charset="0"/>
                <a:ea typeface="Poppins"/>
                <a:cs typeface="Poppins"/>
                <a:sym typeface="Poppins"/>
              </a:defRPr>
            </a:lvl1pPr>
            <a:lvl2pPr>
              <a:buClr>
                <a:schemeClr val="dk1"/>
              </a:buClr>
              <a:buSzPts val="2800"/>
              <a:buFont typeface="Poppins"/>
              <a:buNone/>
              <a:defRPr sz="2800" b="1">
                <a:solidFill>
                  <a:schemeClr val="dk1"/>
                </a:solidFill>
                <a:latin typeface="Poppins"/>
                <a:ea typeface="Poppins"/>
                <a:cs typeface="Poppins"/>
                <a:sym typeface="Poppins"/>
              </a:defRPr>
            </a:lvl2pPr>
            <a:lvl3pPr>
              <a:buClr>
                <a:schemeClr val="dk1"/>
              </a:buClr>
              <a:buSzPts val="2800"/>
              <a:buFont typeface="Poppins"/>
              <a:buNone/>
              <a:defRPr sz="2800" b="1">
                <a:solidFill>
                  <a:schemeClr val="dk1"/>
                </a:solidFill>
                <a:latin typeface="Poppins"/>
                <a:ea typeface="Poppins"/>
                <a:cs typeface="Poppins"/>
                <a:sym typeface="Poppins"/>
              </a:defRPr>
            </a:lvl3pPr>
            <a:lvl4pPr>
              <a:buClr>
                <a:schemeClr val="dk1"/>
              </a:buClr>
              <a:buSzPts val="2800"/>
              <a:buFont typeface="Poppins"/>
              <a:buNone/>
              <a:defRPr sz="2800" b="1">
                <a:solidFill>
                  <a:schemeClr val="dk1"/>
                </a:solidFill>
                <a:latin typeface="Poppins"/>
                <a:ea typeface="Poppins"/>
                <a:cs typeface="Poppins"/>
                <a:sym typeface="Poppins"/>
              </a:defRPr>
            </a:lvl4pPr>
            <a:lvl5pPr>
              <a:buClr>
                <a:schemeClr val="dk1"/>
              </a:buClr>
              <a:buSzPts val="2800"/>
              <a:buFont typeface="Poppins"/>
              <a:buNone/>
              <a:defRPr sz="2800" b="1">
                <a:solidFill>
                  <a:schemeClr val="dk1"/>
                </a:solidFill>
                <a:latin typeface="Poppins"/>
                <a:ea typeface="Poppins"/>
                <a:cs typeface="Poppins"/>
                <a:sym typeface="Poppins"/>
              </a:defRPr>
            </a:lvl5pPr>
            <a:lvl6pPr>
              <a:buClr>
                <a:schemeClr val="dk1"/>
              </a:buClr>
              <a:buSzPts val="2800"/>
              <a:buFont typeface="Poppins"/>
              <a:buNone/>
              <a:defRPr sz="2800" b="1">
                <a:solidFill>
                  <a:schemeClr val="dk1"/>
                </a:solidFill>
                <a:latin typeface="Poppins"/>
                <a:ea typeface="Poppins"/>
                <a:cs typeface="Poppins"/>
                <a:sym typeface="Poppins"/>
              </a:defRPr>
            </a:lvl6pPr>
            <a:lvl7pPr>
              <a:buClr>
                <a:schemeClr val="dk1"/>
              </a:buClr>
              <a:buSzPts val="2800"/>
              <a:buFont typeface="Poppins"/>
              <a:buNone/>
              <a:defRPr sz="2800" b="1">
                <a:solidFill>
                  <a:schemeClr val="dk1"/>
                </a:solidFill>
                <a:latin typeface="Poppins"/>
                <a:ea typeface="Poppins"/>
                <a:cs typeface="Poppins"/>
                <a:sym typeface="Poppins"/>
              </a:defRPr>
            </a:lvl7pPr>
            <a:lvl8pPr>
              <a:buClr>
                <a:schemeClr val="dk1"/>
              </a:buClr>
              <a:buSzPts val="2800"/>
              <a:buFont typeface="Poppins"/>
              <a:buNone/>
              <a:defRPr sz="2800" b="1">
                <a:solidFill>
                  <a:schemeClr val="dk1"/>
                </a:solidFill>
                <a:latin typeface="Poppins"/>
                <a:ea typeface="Poppins"/>
                <a:cs typeface="Poppins"/>
                <a:sym typeface="Poppins"/>
              </a:defRPr>
            </a:lvl8pPr>
            <a:lvl9pPr>
              <a:buClr>
                <a:schemeClr val="dk1"/>
              </a:buClr>
              <a:buSzPts val="2800"/>
              <a:buFont typeface="Poppins"/>
              <a:buNone/>
              <a:defRPr sz="2800" b="1">
                <a:solidFill>
                  <a:schemeClr val="dk1"/>
                </a:solidFill>
                <a:latin typeface="Poppins"/>
                <a:ea typeface="Poppins"/>
                <a:cs typeface="Poppins"/>
                <a:sym typeface="Poppins"/>
              </a:defRPr>
            </a:lvl9pPr>
          </a:lstStyle>
          <a:p>
            <a:r>
              <a:rPr lang="en-US" dirty="0"/>
              <a:t>2.1. MỤC TIÊU</a:t>
            </a:r>
          </a:p>
        </p:txBody>
      </p:sp>
      <p:sp>
        <p:nvSpPr>
          <p:cNvPr id="6" name="Picture Placeholder 3">
            <a:extLst>
              <a:ext uri="{FF2B5EF4-FFF2-40B4-BE49-F238E27FC236}">
                <a16:creationId xmlns:a16="http://schemas.microsoft.com/office/drawing/2014/main" id="{7AEA1411-537E-6B6A-398F-9DDC0E8AE495}"/>
              </a:ext>
            </a:extLst>
          </p:cNvPr>
          <p:cNvSpPr txBox="1">
            <a:spLocks/>
          </p:cNvSpPr>
          <p:nvPr/>
        </p:nvSpPr>
        <p:spPr>
          <a:xfrm>
            <a:off x="495714" y="1053073"/>
            <a:ext cx="7928286" cy="35534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0" indent="0">
              <a:buClr>
                <a:schemeClr val="dk1"/>
              </a:buClr>
              <a:buSzPts val="1200"/>
              <a:buFont typeface="Didact Gothic"/>
              <a:buNone/>
              <a:defRPr sz="2500">
                <a:solidFill>
                  <a:schemeClr val="dk1"/>
                </a:solidFill>
                <a:latin typeface="Century" panose="02040604050505020304" pitchFamily="18" charset="0"/>
                <a:ea typeface="Didact Gothic"/>
                <a:cs typeface="Didact Gothic"/>
                <a:sym typeface="Didact Gothic"/>
              </a:defRPr>
            </a:lvl1pPr>
            <a:lvl2pPr marL="914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r>
              <a:rPr lang="en-US" dirty="0"/>
              <a:t>Đ</a:t>
            </a:r>
            <a:r>
              <a:rPr lang="vi-VN" dirty="0"/>
              <a:t>ánh giá tổng quan kết quả bán hàng theo thời gia</a:t>
            </a:r>
            <a:r>
              <a:rPr lang="en-US" dirty="0"/>
              <a:t>n</a:t>
            </a:r>
          </a:p>
          <a:p>
            <a:r>
              <a:rPr lang="en-US" dirty="0"/>
              <a:t>P</a:t>
            </a:r>
            <a:r>
              <a:rPr lang="vi-VN" dirty="0"/>
              <a:t>hân tích cơ cấu doanh thu theo sản phẩm và khách hàng </a:t>
            </a:r>
            <a:r>
              <a:rPr lang="vi-VN" dirty="0">
                <a:sym typeface="Wingdings" panose="05000000000000000000" pitchFamily="2" charset="2"/>
              </a:rPr>
              <a:t></a:t>
            </a:r>
            <a:r>
              <a:rPr lang="vi-VN" dirty="0"/>
              <a:t> nhận diện các xu hướng và rủi ro tiềm ẩn trong hoạt động kinh doanh. </a:t>
            </a:r>
            <a:endParaRPr lang="en-US" dirty="0"/>
          </a:p>
        </p:txBody>
      </p:sp>
    </p:spTree>
    <p:extLst>
      <p:ext uri="{BB962C8B-B14F-4D97-AF65-F5344CB8AC3E}">
        <p14:creationId xmlns:p14="http://schemas.microsoft.com/office/powerpoint/2010/main" val="13102658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8CE65-8D16-4535-E6BD-9BD50C55EA5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9660BB8-5710-5990-0198-DA8808771CE3}"/>
              </a:ext>
            </a:extLst>
          </p:cNvPr>
          <p:cNvSpPr txBox="1">
            <a:spLocks/>
          </p:cNvSpPr>
          <p:nvPr/>
        </p:nvSpPr>
        <p:spPr>
          <a:xfrm>
            <a:off x="720000" y="194268"/>
            <a:ext cx="7704000" cy="68545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algn="ctr">
              <a:buClr>
                <a:schemeClr val="dk1"/>
              </a:buClr>
              <a:buSzPts val="2800"/>
              <a:buFont typeface="Poppins"/>
              <a:buNone/>
              <a:defRPr sz="4400" b="1">
                <a:solidFill>
                  <a:schemeClr val="dk1"/>
                </a:solidFill>
                <a:latin typeface="Aptos Display" panose="020B0004020202020204" pitchFamily="34" charset="0"/>
                <a:ea typeface="Poppins"/>
                <a:cs typeface="Poppins"/>
                <a:sym typeface="Poppins"/>
              </a:defRPr>
            </a:lvl1pPr>
            <a:lvl2pPr>
              <a:buClr>
                <a:schemeClr val="dk1"/>
              </a:buClr>
              <a:buSzPts val="2800"/>
              <a:buFont typeface="Poppins"/>
              <a:buNone/>
              <a:defRPr sz="2800" b="1">
                <a:solidFill>
                  <a:schemeClr val="dk1"/>
                </a:solidFill>
                <a:latin typeface="Poppins"/>
                <a:ea typeface="Poppins"/>
                <a:cs typeface="Poppins"/>
                <a:sym typeface="Poppins"/>
              </a:defRPr>
            </a:lvl2pPr>
            <a:lvl3pPr>
              <a:buClr>
                <a:schemeClr val="dk1"/>
              </a:buClr>
              <a:buSzPts val="2800"/>
              <a:buFont typeface="Poppins"/>
              <a:buNone/>
              <a:defRPr sz="2800" b="1">
                <a:solidFill>
                  <a:schemeClr val="dk1"/>
                </a:solidFill>
                <a:latin typeface="Poppins"/>
                <a:ea typeface="Poppins"/>
                <a:cs typeface="Poppins"/>
                <a:sym typeface="Poppins"/>
              </a:defRPr>
            </a:lvl3pPr>
            <a:lvl4pPr>
              <a:buClr>
                <a:schemeClr val="dk1"/>
              </a:buClr>
              <a:buSzPts val="2800"/>
              <a:buFont typeface="Poppins"/>
              <a:buNone/>
              <a:defRPr sz="2800" b="1">
                <a:solidFill>
                  <a:schemeClr val="dk1"/>
                </a:solidFill>
                <a:latin typeface="Poppins"/>
                <a:ea typeface="Poppins"/>
                <a:cs typeface="Poppins"/>
                <a:sym typeface="Poppins"/>
              </a:defRPr>
            </a:lvl4pPr>
            <a:lvl5pPr>
              <a:buClr>
                <a:schemeClr val="dk1"/>
              </a:buClr>
              <a:buSzPts val="2800"/>
              <a:buFont typeface="Poppins"/>
              <a:buNone/>
              <a:defRPr sz="2800" b="1">
                <a:solidFill>
                  <a:schemeClr val="dk1"/>
                </a:solidFill>
                <a:latin typeface="Poppins"/>
                <a:ea typeface="Poppins"/>
                <a:cs typeface="Poppins"/>
                <a:sym typeface="Poppins"/>
              </a:defRPr>
            </a:lvl5pPr>
            <a:lvl6pPr>
              <a:buClr>
                <a:schemeClr val="dk1"/>
              </a:buClr>
              <a:buSzPts val="2800"/>
              <a:buFont typeface="Poppins"/>
              <a:buNone/>
              <a:defRPr sz="2800" b="1">
                <a:solidFill>
                  <a:schemeClr val="dk1"/>
                </a:solidFill>
                <a:latin typeface="Poppins"/>
                <a:ea typeface="Poppins"/>
                <a:cs typeface="Poppins"/>
                <a:sym typeface="Poppins"/>
              </a:defRPr>
            </a:lvl6pPr>
            <a:lvl7pPr>
              <a:buClr>
                <a:schemeClr val="dk1"/>
              </a:buClr>
              <a:buSzPts val="2800"/>
              <a:buFont typeface="Poppins"/>
              <a:buNone/>
              <a:defRPr sz="2800" b="1">
                <a:solidFill>
                  <a:schemeClr val="dk1"/>
                </a:solidFill>
                <a:latin typeface="Poppins"/>
                <a:ea typeface="Poppins"/>
                <a:cs typeface="Poppins"/>
                <a:sym typeface="Poppins"/>
              </a:defRPr>
            </a:lvl7pPr>
            <a:lvl8pPr>
              <a:buClr>
                <a:schemeClr val="dk1"/>
              </a:buClr>
              <a:buSzPts val="2800"/>
              <a:buFont typeface="Poppins"/>
              <a:buNone/>
              <a:defRPr sz="2800" b="1">
                <a:solidFill>
                  <a:schemeClr val="dk1"/>
                </a:solidFill>
                <a:latin typeface="Poppins"/>
                <a:ea typeface="Poppins"/>
                <a:cs typeface="Poppins"/>
                <a:sym typeface="Poppins"/>
              </a:defRPr>
            </a:lvl8pPr>
            <a:lvl9pPr>
              <a:buClr>
                <a:schemeClr val="dk1"/>
              </a:buClr>
              <a:buSzPts val="2800"/>
              <a:buFont typeface="Poppins"/>
              <a:buNone/>
              <a:defRPr sz="2800" b="1">
                <a:solidFill>
                  <a:schemeClr val="dk1"/>
                </a:solidFill>
                <a:latin typeface="Poppins"/>
                <a:ea typeface="Poppins"/>
                <a:cs typeface="Poppins"/>
                <a:sym typeface="Poppins"/>
              </a:defRPr>
            </a:lvl9pPr>
          </a:lstStyle>
          <a:p>
            <a:r>
              <a:rPr lang="en-US" dirty="0"/>
              <a:t>2.2. PHẠM VI DỮ LIỆU</a:t>
            </a:r>
          </a:p>
        </p:txBody>
      </p:sp>
      <p:sp>
        <p:nvSpPr>
          <p:cNvPr id="6" name="Picture Placeholder 3">
            <a:extLst>
              <a:ext uri="{FF2B5EF4-FFF2-40B4-BE49-F238E27FC236}">
                <a16:creationId xmlns:a16="http://schemas.microsoft.com/office/drawing/2014/main" id="{82BBC3FB-4662-9AA8-A8D8-A1036FDBDE16}"/>
              </a:ext>
            </a:extLst>
          </p:cNvPr>
          <p:cNvSpPr txBox="1">
            <a:spLocks/>
          </p:cNvSpPr>
          <p:nvPr/>
        </p:nvSpPr>
        <p:spPr>
          <a:xfrm>
            <a:off x="495714" y="1053073"/>
            <a:ext cx="7928286" cy="355343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0" indent="0">
              <a:buClr>
                <a:schemeClr val="dk1"/>
              </a:buClr>
              <a:buSzPts val="1200"/>
              <a:buFont typeface="Didact Gothic"/>
              <a:buNone/>
              <a:defRPr sz="2500">
                <a:solidFill>
                  <a:schemeClr val="dk1"/>
                </a:solidFill>
                <a:latin typeface="Century" panose="02040604050505020304" pitchFamily="18" charset="0"/>
                <a:ea typeface="Didact Gothic"/>
                <a:cs typeface="Didact Gothic"/>
                <a:sym typeface="Didact Gothic"/>
              </a:defRPr>
            </a:lvl1pPr>
            <a:lvl2pPr marL="914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indent="-304800">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r>
              <a:rPr lang="vi-VN" dirty="0"/>
              <a:t>Dữ liệu bao gồm hơn 540.000 giao dịch bán lẻ phát sinh trong vòng một năm. </a:t>
            </a:r>
            <a:endParaRPr lang="en-US" dirty="0"/>
          </a:p>
          <a:p>
            <a:endParaRPr lang="en-US" dirty="0"/>
          </a:p>
          <a:p>
            <a:r>
              <a:rPr lang="en-US" dirty="0"/>
              <a:t>C</a:t>
            </a:r>
            <a:r>
              <a:rPr lang="vi-VN" dirty="0"/>
              <a:t>ác giao dịch bất thường như đơn hàng bị hủy hoặc giá trị không hợp lệ đã được loại bỏ nhằm đảm bảo tính chính xác và nhất quán của kết quả</a:t>
            </a:r>
          </a:p>
        </p:txBody>
      </p:sp>
    </p:spTree>
    <p:extLst>
      <p:ext uri="{BB962C8B-B14F-4D97-AF65-F5344CB8AC3E}">
        <p14:creationId xmlns:p14="http://schemas.microsoft.com/office/powerpoint/2010/main" val="1932187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BE9AA-C797-5B81-CC29-BB9159E9AF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9B6E5C-283A-7CE8-7F37-AF91893905A7}"/>
              </a:ext>
            </a:extLst>
          </p:cNvPr>
          <p:cNvSpPr>
            <a:spLocks noGrp="1"/>
          </p:cNvSpPr>
          <p:nvPr>
            <p:ph type="title"/>
          </p:nvPr>
        </p:nvSpPr>
        <p:spPr>
          <a:xfrm>
            <a:off x="961177" y="1662106"/>
            <a:ext cx="7221645" cy="1478988"/>
          </a:xfrm>
        </p:spPr>
        <p:txBody>
          <a:bodyPr/>
          <a:lstStyle/>
          <a:p>
            <a:r>
              <a:rPr lang="en-US" dirty="0">
                <a:latin typeface="Segoe UI Black" panose="020B0A02040204020203" pitchFamily="34" charset="0"/>
                <a:ea typeface="Segoe UI Black" panose="020B0A02040204020203" pitchFamily="34" charset="0"/>
                <a:cs typeface="Arial" panose="020B0604020202020204" pitchFamily="34" charset="0"/>
              </a:rPr>
              <a:t>3. KẾT QUẢ</a:t>
            </a:r>
          </a:p>
        </p:txBody>
      </p:sp>
    </p:spTree>
    <p:extLst>
      <p:ext uri="{BB962C8B-B14F-4D97-AF65-F5344CB8AC3E}">
        <p14:creationId xmlns:p14="http://schemas.microsoft.com/office/powerpoint/2010/main" val="211855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06265" y="539500"/>
            <a:ext cx="7285313" cy="572700"/>
          </a:xfrm>
          <a:noFill/>
          <a:ln>
            <a:noFill/>
          </a:ln>
        </p:spPr>
        <p:txBody>
          <a:bodyPr spcFirstLastPara="1" wrap="square" lIns="91425" tIns="91425" rIns="91425" bIns="91425" anchor="t" anchorCtr="0">
            <a:noAutofit/>
          </a:bodyPr>
          <a:lstStyle/>
          <a:p>
            <a:pPr algn="ctr">
              <a:buSzPts val="2800"/>
            </a:pPr>
            <a:r>
              <a:rPr sz="4400" dirty="0">
                <a:latin typeface="Aptos Display" panose="020B0004020202020204" pitchFamily="34" charset="0"/>
              </a:rPr>
              <a:t>3. </a:t>
            </a:r>
            <a:r>
              <a:rPr lang="en-US" sz="4400" dirty="0">
                <a:latin typeface="Aptos Display" panose="020B0004020202020204" pitchFamily="34" charset="0"/>
              </a:rPr>
              <a:t>1.</a:t>
            </a:r>
            <a:r>
              <a:rPr sz="4400" dirty="0">
                <a:latin typeface="Aptos Display" panose="020B0004020202020204" pitchFamily="34" charset="0"/>
              </a:rPr>
              <a:t> </a:t>
            </a:r>
            <a:r>
              <a:rPr sz="4400" dirty="0" err="1">
                <a:latin typeface="Aptos Display" panose="020B0004020202020204" pitchFamily="34" charset="0"/>
              </a:rPr>
              <a:t>Tổng</a:t>
            </a:r>
            <a:r>
              <a:rPr sz="4400" dirty="0">
                <a:latin typeface="Aptos Display" panose="020B0004020202020204" pitchFamily="34" charset="0"/>
              </a:rPr>
              <a:t> </a:t>
            </a:r>
            <a:r>
              <a:rPr sz="4400" dirty="0" err="1">
                <a:latin typeface="Aptos Display" panose="020B0004020202020204" pitchFamily="34" charset="0"/>
              </a:rPr>
              <a:t>quan</a:t>
            </a:r>
            <a:r>
              <a:rPr sz="4400" dirty="0">
                <a:latin typeface="Aptos Display" panose="020B0004020202020204" pitchFamily="34" charset="0"/>
              </a:rPr>
              <a:t> </a:t>
            </a:r>
            <a:r>
              <a:rPr sz="4400" dirty="0" err="1">
                <a:latin typeface="Aptos Display" panose="020B0004020202020204" pitchFamily="34" charset="0"/>
              </a:rPr>
              <a:t>dữ</a:t>
            </a:r>
            <a:r>
              <a:rPr sz="4400" dirty="0">
                <a:latin typeface="Aptos Display" panose="020B0004020202020204" pitchFamily="34" charset="0"/>
              </a:rPr>
              <a:t> </a:t>
            </a:r>
            <a:r>
              <a:rPr sz="4400" dirty="0" err="1">
                <a:latin typeface="Aptos Display" panose="020B0004020202020204" pitchFamily="34" charset="0"/>
              </a:rPr>
              <a:t>liệu</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309485" y="1432635"/>
            <a:ext cx="8525029" cy="3710865"/>
          </a:xfrm>
          <a:noFill/>
          <a:ln>
            <a:noFill/>
          </a:ln>
        </p:spPr>
        <p:txBody>
          <a:bodyPr/>
          <a:lstStyle/>
          <a:p>
            <a:pPr marL="0" indent="0" algn="l" rtl="0">
              <a:buClr>
                <a:schemeClr val="dk1"/>
              </a:buClr>
              <a:buSzPts val="1200"/>
              <a:buNone/>
            </a:pPr>
            <a:r>
              <a:rPr lang="vi-VN" sz="2500" dirty="0">
                <a:solidFill>
                  <a:schemeClr val="dk1"/>
                </a:solidFill>
                <a:latin typeface="Century" panose="02040604050505020304" pitchFamily="18" charset="0"/>
                <a:sym typeface="Didact Gothic"/>
              </a:rPr>
              <a:t>Mỗi record</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chứa thông tin</a:t>
            </a:r>
            <a:r>
              <a:rPr lang="en-US" sz="2500" dirty="0">
                <a:solidFill>
                  <a:schemeClr val="dk1"/>
                </a:solidFill>
                <a:latin typeface="Century" panose="02040604050505020304" pitchFamily="18" charset="0"/>
                <a:sym typeface="Didact Gothic"/>
              </a:rPr>
              <a:t>:</a:t>
            </a:r>
            <a:r>
              <a:rPr lang="vi-VN"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T</a:t>
            </a:r>
            <a:r>
              <a:rPr lang="vi-VN" sz="2500" dirty="0">
                <a:solidFill>
                  <a:schemeClr val="dk1"/>
                </a:solidFill>
                <a:latin typeface="Century" panose="02040604050505020304" pitchFamily="18" charset="0"/>
                <a:sym typeface="Didact Gothic"/>
              </a:rPr>
              <a:t>hời điểm mua hàng, </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M</a:t>
            </a:r>
            <a:r>
              <a:rPr lang="vi-VN" sz="2500" dirty="0">
                <a:solidFill>
                  <a:schemeClr val="dk1"/>
                </a:solidFill>
                <a:latin typeface="Century" panose="02040604050505020304" pitchFamily="18" charset="0"/>
                <a:sym typeface="Didact Gothic"/>
              </a:rPr>
              <a:t>ã và mô tả sản phẩm,</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số lượng, </a:t>
            </a:r>
            <a:endParaRPr lang="en-US" sz="2500" dirty="0">
              <a:solidFill>
                <a:schemeClr val="dk1"/>
              </a:solidFill>
              <a:latin typeface="Century" panose="02040604050505020304" pitchFamily="18" charset="0"/>
              <a:sym typeface="Didact Gothic"/>
            </a:endParaRPr>
          </a:p>
          <a:p>
            <a:pPr marL="342900" indent="-342900"/>
            <a:r>
              <a:rPr lang="en-US" sz="2500" dirty="0">
                <a:latin typeface="Century" panose="02040604050505020304" pitchFamily="18" charset="0"/>
              </a:rPr>
              <a:t>Đ</a:t>
            </a:r>
            <a:r>
              <a:rPr lang="vi-VN" sz="2500" dirty="0">
                <a:solidFill>
                  <a:schemeClr val="dk1"/>
                </a:solidFill>
                <a:latin typeface="Century" panose="02040604050505020304" pitchFamily="18" charset="0"/>
                <a:sym typeface="Didact Gothic"/>
              </a:rPr>
              <a:t>ơn giá</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T</a:t>
            </a:r>
            <a:r>
              <a:rPr lang="vi-VN" sz="2500" dirty="0">
                <a:solidFill>
                  <a:schemeClr val="dk1"/>
                </a:solidFill>
                <a:latin typeface="Century" panose="02040604050505020304" pitchFamily="18" charset="0"/>
                <a:sym typeface="Didact Gothic"/>
              </a:rPr>
              <a:t>ổng giá trị giao dịch</a:t>
            </a:r>
            <a:endParaRPr lang="en-US" sz="2500" dirty="0">
              <a:solidFill>
                <a:schemeClr val="dk1"/>
              </a:solidFill>
              <a:latin typeface="Century" panose="02040604050505020304" pitchFamily="18" charset="0"/>
              <a:sym typeface="Didact Gothic"/>
            </a:endParaRPr>
          </a:p>
          <a:p>
            <a:pPr marL="342900" indent="-342900"/>
            <a:r>
              <a:rPr lang="en-US" sz="2500" dirty="0">
                <a:latin typeface="Century" panose="02040604050505020304" pitchFamily="18" charset="0"/>
              </a:rPr>
              <a:t>Đ</a:t>
            </a:r>
            <a:r>
              <a:rPr lang="vi-VN" sz="2500" dirty="0">
                <a:solidFill>
                  <a:schemeClr val="dk1"/>
                </a:solidFill>
                <a:latin typeface="Century" panose="02040604050505020304" pitchFamily="18" charset="0"/>
                <a:sym typeface="Didact Gothic"/>
              </a:rPr>
              <a:t>ịnh danh khách hàng</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342900" indent="-342900"/>
            <a:r>
              <a:rPr lang="en-US" sz="2500" dirty="0">
                <a:solidFill>
                  <a:schemeClr val="dk1"/>
                </a:solidFill>
                <a:latin typeface="Century" panose="02040604050505020304" pitchFamily="18" charset="0"/>
                <a:sym typeface="Didact Gothic"/>
              </a:rPr>
              <a:t>Q</a:t>
            </a:r>
            <a:r>
              <a:rPr lang="vi-VN" sz="2500" dirty="0">
                <a:solidFill>
                  <a:schemeClr val="dk1"/>
                </a:solidFill>
                <a:latin typeface="Century" panose="02040604050505020304" pitchFamily="18" charset="0"/>
                <a:sym typeface="Didact Gothic"/>
              </a:rPr>
              <a:t>uốc gia phát sinh giao dịch</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endParaRPr lang="en-US" sz="2500" dirty="0">
              <a:latin typeface="Century" panose="020406040505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48979-655D-C57D-4CD0-85E8D9915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AA1BC0-542A-A5AF-5AD0-C4CC2059EFC9}"/>
              </a:ext>
            </a:extLst>
          </p:cNvPr>
          <p:cNvSpPr>
            <a:spLocks noGrp="1"/>
          </p:cNvSpPr>
          <p:nvPr>
            <p:ph type="title"/>
          </p:nvPr>
        </p:nvSpPr>
        <p:spPr>
          <a:xfrm>
            <a:off x="806265" y="539500"/>
            <a:ext cx="7285313" cy="572700"/>
          </a:xfrm>
          <a:noFill/>
          <a:ln>
            <a:noFill/>
          </a:ln>
        </p:spPr>
        <p:txBody>
          <a:bodyPr spcFirstLastPara="1" wrap="square" lIns="91425" tIns="91425" rIns="91425" bIns="91425" anchor="t" anchorCtr="0">
            <a:noAutofit/>
          </a:bodyPr>
          <a:lstStyle/>
          <a:p>
            <a:pPr algn="ctr">
              <a:buSzPts val="2800"/>
            </a:pPr>
            <a:r>
              <a:rPr sz="4400" dirty="0">
                <a:latin typeface="Aptos Display" panose="020B0004020202020204" pitchFamily="34" charset="0"/>
              </a:rPr>
              <a:t>3. </a:t>
            </a:r>
            <a:r>
              <a:rPr lang="en-US" sz="4400" dirty="0">
                <a:latin typeface="Aptos Display" panose="020B0004020202020204" pitchFamily="34" charset="0"/>
              </a:rPr>
              <a:t>1.</a:t>
            </a:r>
            <a:r>
              <a:rPr sz="4400" dirty="0">
                <a:latin typeface="Aptos Display" panose="020B0004020202020204" pitchFamily="34" charset="0"/>
              </a:rPr>
              <a:t> </a:t>
            </a:r>
            <a:r>
              <a:rPr sz="4400" dirty="0" err="1">
                <a:latin typeface="Aptos Display" panose="020B0004020202020204" pitchFamily="34" charset="0"/>
              </a:rPr>
              <a:t>Tổng</a:t>
            </a:r>
            <a:r>
              <a:rPr sz="4400" dirty="0">
                <a:latin typeface="Aptos Display" panose="020B0004020202020204" pitchFamily="34" charset="0"/>
              </a:rPr>
              <a:t> </a:t>
            </a:r>
            <a:r>
              <a:rPr sz="4400" dirty="0" err="1">
                <a:latin typeface="Aptos Display" panose="020B0004020202020204" pitchFamily="34" charset="0"/>
              </a:rPr>
              <a:t>quan</a:t>
            </a:r>
            <a:r>
              <a:rPr sz="4400" dirty="0">
                <a:latin typeface="Aptos Display" panose="020B0004020202020204" pitchFamily="34" charset="0"/>
              </a:rPr>
              <a:t> </a:t>
            </a:r>
            <a:r>
              <a:rPr sz="4400" dirty="0" err="1">
                <a:latin typeface="Aptos Display" panose="020B0004020202020204" pitchFamily="34" charset="0"/>
              </a:rPr>
              <a:t>dữ</a:t>
            </a:r>
            <a:r>
              <a:rPr sz="4400" dirty="0">
                <a:latin typeface="Aptos Display" panose="020B0004020202020204" pitchFamily="34" charset="0"/>
              </a:rPr>
              <a:t> </a:t>
            </a:r>
            <a:r>
              <a:rPr sz="4400" dirty="0" err="1">
                <a:latin typeface="Aptos Display" panose="020B0004020202020204" pitchFamily="34" charset="0"/>
              </a:rPr>
              <a:t>liệu</a:t>
            </a:r>
            <a:endParaRPr sz="4400" dirty="0">
              <a:latin typeface="Aptos Display" panose="020B0004020202020204" pitchFamily="34" charset="0"/>
            </a:endParaRPr>
          </a:p>
        </p:txBody>
      </p:sp>
      <p:pic>
        <p:nvPicPr>
          <p:cNvPr id="5" name="Picture 4">
            <a:extLst>
              <a:ext uri="{FF2B5EF4-FFF2-40B4-BE49-F238E27FC236}">
                <a16:creationId xmlns:a16="http://schemas.microsoft.com/office/drawing/2014/main" id="{C3D32452-D711-66D2-CE43-0FDF2816823A}"/>
              </a:ext>
            </a:extLst>
          </p:cNvPr>
          <p:cNvPicPr>
            <a:picLocks noChangeAspect="1"/>
          </p:cNvPicPr>
          <p:nvPr/>
        </p:nvPicPr>
        <p:blipFill>
          <a:blip r:embed="rId2"/>
          <a:stretch>
            <a:fillRect/>
          </a:stretch>
        </p:blipFill>
        <p:spPr>
          <a:xfrm>
            <a:off x="549508" y="1384520"/>
            <a:ext cx="8044983" cy="2966646"/>
          </a:xfrm>
          <a:prstGeom prst="rect">
            <a:avLst/>
          </a:prstGeom>
        </p:spPr>
      </p:pic>
      <p:sp>
        <p:nvSpPr>
          <p:cNvPr id="7" name="TextBox 6">
            <a:extLst>
              <a:ext uri="{FF2B5EF4-FFF2-40B4-BE49-F238E27FC236}">
                <a16:creationId xmlns:a16="http://schemas.microsoft.com/office/drawing/2014/main" id="{213AB704-4D04-56BA-E785-48A553E0AF6B}"/>
              </a:ext>
            </a:extLst>
          </p:cNvPr>
          <p:cNvSpPr txBox="1"/>
          <p:nvPr/>
        </p:nvSpPr>
        <p:spPr>
          <a:xfrm>
            <a:off x="806265" y="4234668"/>
            <a:ext cx="7788226" cy="584775"/>
          </a:xfrm>
          <a:prstGeom prst="rect">
            <a:avLst/>
          </a:prstGeom>
          <a:noFill/>
        </p:spPr>
        <p:txBody>
          <a:bodyPr wrap="square">
            <a:spAutoFit/>
          </a:bodyPr>
          <a:lstStyle/>
          <a:p>
            <a:r>
              <a:rPr lang="vi-VN" sz="1600" dirty="0"/>
              <a:t>Hình 1. Số lượng giao dịch theo ngày trong bộ dữ liệu Online Retail, cho thấy mật độ dữ liệu theo thời gian và các khoảng biến động đáng chú ý.</a:t>
            </a:r>
            <a:endParaRPr lang="en-US" sz="1600" dirty="0"/>
          </a:p>
        </p:txBody>
      </p:sp>
    </p:spTree>
    <p:extLst>
      <p:ext uri="{BB962C8B-B14F-4D97-AF65-F5344CB8AC3E}">
        <p14:creationId xmlns:p14="http://schemas.microsoft.com/office/powerpoint/2010/main" val="24933413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6367" y="539500"/>
            <a:ext cx="8305666" cy="572700"/>
          </a:xfrm>
          <a:noFill/>
          <a:ln>
            <a:noFill/>
          </a:ln>
        </p:spPr>
        <p:txBody>
          <a:bodyPr spcFirstLastPara="1" wrap="square" lIns="91425" tIns="91425" rIns="91425" bIns="91425" anchor="t" anchorCtr="0">
            <a:noAutofit/>
          </a:bodyPr>
          <a:lstStyle/>
          <a:p>
            <a:pPr algn="ctr">
              <a:buSzPts val="2800"/>
            </a:pPr>
            <a:r>
              <a:rPr sz="4400" dirty="0">
                <a:latin typeface="Aptos Display" panose="020B0004020202020204" pitchFamily="34" charset="0"/>
              </a:rPr>
              <a:t>Xu </a:t>
            </a:r>
            <a:r>
              <a:rPr sz="4400" dirty="0" err="1">
                <a:latin typeface="Aptos Display" panose="020B0004020202020204" pitchFamily="34" charset="0"/>
              </a:rPr>
              <a:t>hướng</a:t>
            </a:r>
            <a:r>
              <a:rPr sz="4400" dirty="0">
                <a:latin typeface="Aptos Display" panose="020B0004020202020204" pitchFamily="34" charset="0"/>
              </a:rPr>
              <a:t> </a:t>
            </a:r>
            <a:r>
              <a:rPr sz="4400" dirty="0" err="1">
                <a:latin typeface="Aptos Display" panose="020B0004020202020204" pitchFamily="34" charset="0"/>
              </a:rPr>
              <a:t>doanh</a:t>
            </a:r>
            <a:r>
              <a:rPr sz="4400" dirty="0">
                <a:latin typeface="Aptos Display" panose="020B0004020202020204" pitchFamily="34" charset="0"/>
              </a:rPr>
              <a:t> </a:t>
            </a:r>
            <a:r>
              <a:rPr sz="4400" dirty="0" err="1">
                <a:latin typeface="Aptos Display" panose="020B0004020202020204" pitchFamily="34" charset="0"/>
              </a:rPr>
              <a:t>thu</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thời</a:t>
            </a:r>
            <a:r>
              <a:rPr sz="4400" dirty="0">
                <a:latin typeface="Aptos Display" panose="020B0004020202020204" pitchFamily="34" charset="0"/>
              </a:rPr>
              <a:t> </a:t>
            </a:r>
            <a:r>
              <a:rPr sz="4400" dirty="0" err="1">
                <a:latin typeface="Aptos Display" panose="020B0004020202020204" pitchFamily="34" charset="0"/>
              </a:rPr>
              <a:t>gian</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516367" y="1389605"/>
            <a:ext cx="8179059" cy="2515421"/>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có</a:t>
            </a:r>
            <a:r>
              <a:rPr sz="2500" dirty="0">
                <a:solidFill>
                  <a:schemeClr val="dk1"/>
                </a:solidFill>
                <a:latin typeface="Century" panose="02040604050505020304" pitchFamily="18" charset="0"/>
                <a:sym typeface="Didact Gothic"/>
              </a:rPr>
              <a:t> xu </a:t>
            </a:r>
            <a:r>
              <a:rPr sz="2500" dirty="0" err="1">
                <a:solidFill>
                  <a:schemeClr val="dk1"/>
                </a:solidFill>
                <a:latin typeface="Century" panose="02040604050505020304" pitchFamily="18" charset="0"/>
                <a:sym typeface="Didact Gothic"/>
              </a:rPr>
              <a:t>hướng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thời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đặc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biệt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rõ</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rệt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đoạn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cuối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năm</a:t>
            </a:r>
            <a:r>
              <a:rPr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sz="2500" dirty="0">
                <a:solidFill>
                  <a:schemeClr val="dk1"/>
                </a:solidFill>
                <a:latin typeface="Century" panose="02040604050505020304" pitchFamily="18" charset="0"/>
                <a:sym typeface="Didact Gothic"/>
              </a:rPr>
              <a:t>Tuy </a:t>
            </a:r>
            <a:r>
              <a:rPr sz="2500" dirty="0" err="1">
                <a:solidFill>
                  <a:schemeClr val="dk1"/>
                </a:solidFill>
                <a:latin typeface="Century" panose="02040604050505020304" pitchFamily="18" charset="0"/>
                <a:sym typeface="Didact Gothic"/>
              </a:rPr>
              <a:t>nhiên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chuỗi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tồn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tại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nhiều</a:t>
            </a:r>
            <a:r>
              <a:rPr sz="2500" dirty="0">
                <a:solidFill>
                  <a:schemeClr val="dk1"/>
                </a:solidFill>
                <a:latin typeface="Century" panose="02040604050505020304" pitchFamily="18" charset="0"/>
                <a:sym typeface="Didact Gothic"/>
              </a:rPr>
              <a:t> </a:t>
            </a:r>
            <a:r>
              <a:rPr lang="en-US" sz="2500" dirty="0" err="1">
                <a:latin typeface="Century" panose="02040604050505020304" pitchFamily="18" charset="0"/>
              </a:rPr>
              <a:t>biến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động</a:t>
            </a:r>
            <a:r>
              <a:rPr sz="2500" dirty="0">
                <a:solidFill>
                  <a:schemeClr val="dk1"/>
                </a:solidFill>
                <a:latin typeface="Century" panose="02040604050505020304" pitchFamily="18" charset="0"/>
                <a:sym typeface="Didact Gothic"/>
              </a:rPr>
              <a:t> do </a:t>
            </a:r>
            <a:r>
              <a:rPr sz="2500" dirty="0" err="1">
                <a:solidFill>
                  <a:schemeClr val="dk1"/>
                </a:solidFill>
                <a:latin typeface="Century" panose="02040604050505020304" pitchFamily="18" charset="0"/>
                <a:sym typeface="Didact Gothic"/>
              </a:rPr>
              <a:t>ảnh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của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yếu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tố</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mùa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vụ</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sự</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kiện</a:t>
            </a:r>
            <a:r>
              <a:rPr sz="2500" dirty="0">
                <a:solidFill>
                  <a:schemeClr val="dk1"/>
                </a:solidFill>
                <a:latin typeface="Century" panose="02040604050505020304" pitchFamily="18" charset="0"/>
                <a:sym typeface="Didact Gothic"/>
              </a:rPr>
              <a:t> </a:t>
            </a:r>
            <a:r>
              <a:rPr lang="en-US" sz="2500" dirty="0" err="1">
                <a:solidFill>
                  <a:schemeClr val="dk1"/>
                </a:solidFill>
                <a:latin typeface="Century" panose="02040604050505020304" pitchFamily="18" charset="0"/>
                <a:sym typeface="Didact Gothic"/>
              </a:rPr>
              <a:t>ngắn</a:t>
            </a:r>
            <a:r>
              <a:rPr lang="en-US" sz="2500" dirty="0">
                <a:solidFill>
                  <a:schemeClr val="dk1"/>
                </a:solidFill>
                <a:latin typeface="Century" panose="02040604050505020304" pitchFamily="18" charset="0"/>
                <a:sym typeface="Didact Gothic"/>
              </a:rPr>
              <a:t> </a:t>
            </a:r>
            <a:r>
              <a:rPr lang="en-US" sz="2500" dirty="0" err="1">
                <a:solidFill>
                  <a:schemeClr val="dk1"/>
                </a:solidFill>
                <a:latin typeface="Century" panose="02040604050505020304" pitchFamily="18" charset="0"/>
                <a:sym typeface="Didact Gothic"/>
              </a:rPr>
              <a:t>hạn</a:t>
            </a:r>
            <a:endParaRPr sz="2500" dirty="0">
              <a:solidFill>
                <a:schemeClr val="dk1"/>
              </a:solidFill>
              <a:latin typeface="Century" panose="02040604050505020304" pitchFamily="18" charset="0"/>
              <a:sym typeface="Didact Gothi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Làm</a:t>
            </a:r>
            <a:r>
              <a:rPr sz="4400" dirty="0">
                <a:latin typeface="Aptos Display" panose="020B0004020202020204" pitchFamily="34" charset="0"/>
              </a:rPr>
              <a:t> </a:t>
            </a:r>
            <a:r>
              <a:rPr sz="4400" dirty="0" err="1">
                <a:latin typeface="Aptos Display" panose="020B0004020202020204" pitchFamily="34" charset="0"/>
              </a:rPr>
              <a:t>trơn</a:t>
            </a:r>
            <a:r>
              <a:rPr sz="4400" dirty="0">
                <a:latin typeface="Aptos Display" panose="020B0004020202020204" pitchFamily="34" charset="0"/>
              </a:rPr>
              <a:t> &amp; </a:t>
            </a:r>
            <a:r>
              <a:rPr sz="4400" dirty="0" err="1">
                <a:latin typeface="Aptos Display" panose="020B0004020202020204" pitchFamily="34" charset="0"/>
              </a:rPr>
              <a:t>biến</a:t>
            </a:r>
            <a:r>
              <a:rPr sz="4400" dirty="0">
                <a:latin typeface="Aptos Display" panose="020B0004020202020204" pitchFamily="34" charset="0"/>
              </a:rPr>
              <a:t> </a:t>
            </a:r>
            <a:r>
              <a:rPr sz="4400" dirty="0" err="1">
                <a:latin typeface="Aptos Display" panose="020B0004020202020204" pitchFamily="34" charset="0"/>
              </a:rPr>
              <a:t>động</a:t>
            </a:r>
            <a:r>
              <a:rPr sz="4400" dirty="0">
                <a:latin typeface="Aptos Display" panose="020B0004020202020204" pitchFamily="34" charset="0"/>
              </a:rPr>
              <a:t> </a:t>
            </a:r>
            <a:r>
              <a:rPr sz="4400" dirty="0" err="1">
                <a:latin typeface="Aptos Display" panose="020B0004020202020204" pitchFamily="34" charset="0"/>
              </a:rPr>
              <a:t>doanh</a:t>
            </a:r>
            <a:r>
              <a:rPr sz="4400" dirty="0">
                <a:latin typeface="Aptos Display" panose="020B0004020202020204" pitchFamily="34" charset="0"/>
              </a:rPr>
              <a:t> </a:t>
            </a:r>
            <a:r>
              <a:rPr sz="4400" dirty="0" err="1">
                <a:latin typeface="Aptos Display" panose="020B0004020202020204" pitchFamily="34" charset="0"/>
              </a:rPr>
              <a:t>thu</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570155" y="1378847"/>
            <a:ext cx="8003689" cy="1999054"/>
          </a:xfrm>
          <a:noFill/>
          <a:ln>
            <a:noFill/>
          </a:ln>
        </p:spPr>
        <p:txBody>
          <a:bodyPr/>
          <a:lstStyle/>
          <a:p>
            <a:pPr marL="0" indent="0" algn="l" rtl="0">
              <a:buClr>
                <a:schemeClr val="dk1"/>
              </a:buClr>
              <a:buSzPts val="1200"/>
              <a:buNone/>
            </a:pPr>
            <a:r>
              <a:rPr sz="2500" dirty="0" err="1">
                <a:solidFill>
                  <a:schemeClr val="dk1"/>
                </a:solidFill>
                <a:latin typeface="Century" panose="02040604050505020304" pitchFamily="18" charset="0"/>
                <a:sym typeface="Didact Gothic"/>
              </a:rPr>
              <a:t>Đường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làm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trơn</a:t>
            </a:r>
            <a:r>
              <a:rPr sz="2500" dirty="0">
                <a:solidFill>
                  <a:schemeClr val="dk1"/>
                </a:solidFill>
                <a:latin typeface="Century" panose="02040604050505020304" pitchFamily="18" charset="0"/>
                <a:sym typeface="Didact Gothic"/>
              </a:rPr>
              <a:t> (rolling 7 </a:t>
            </a:r>
            <a:r>
              <a:rPr sz="2500" dirty="0" err="1">
                <a:solidFill>
                  <a:schemeClr val="dk1"/>
                </a:solidFill>
                <a:latin typeface="Century" panose="02040604050505020304" pitchFamily="18" charset="0"/>
                <a:sym typeface="Didact Gothic"/>
              </a:rPr>
              <a:t>ngày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30 </a:t>
            </a:r>
            <a:r>
              <a:rPr sz="2500" dirty="0" err="1">
                <a:solidFill>
                  <a:schemeClr val="dk1"/>
                </a:solidFill>
                <a:latin typeface="Century" panose="02040604050505020304" pitchFamily="18" charset="0"/>
                <a:sym typeface="Didact Gothic"/>
              </a:rPr>
              <a:t>ngày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giúp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làm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rõ</a:t>
            </a:r>
            <a:r>
              <a:rPr sz="2500" dirty="0">
                <a:solidFill>
                  <a:schemeClr val="dk1"/>
                </a:solidFill>
                <a:latin typeface="Century" panose="02040604050505020304" pitchFamily="18" charset="0"/>
                <a:sym typeface="Didact Gothic"/>
              </a:rPr>
              <a:t> xu </a:t>
            </a:r>
            <a:r>
              <a:rPr sz="2500" dirty="0" err="1">
                <a:solidFill>
                  <a:schemeClr val="dk1"/>
                </a:solidFill>
                <a:latin typeface="Century" panose="02040604050505020304" pitchFamily="18" charset="0"/>
                <a:sym typeface="Didact Gothic"/>
              </a:rPr>
              <a:t>hướng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tổng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thể</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giảm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nhiễu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ngắn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Phân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tích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hệ</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số</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thiên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thấy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mức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độ</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ổn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định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của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thay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đổi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từng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đoạn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trong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năm</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8295F77-F542-AADB-FA82-BE75FA87CA3D}"/>
              </a:ext>
            </a:extLst>
          </p:cNvPr>
          <p:cNvPicPr>
            <a:picLocks noChangeAspect="1"/>
          </p:cNvPicPr>
          <p:nvPr/>
        </p:nvPicPr>
        <p:blipFill>
          <a:blip r:embed="rId2"/>
          <a:stretch>
            <a:fillRect/>
          </a:stretch>
        </p:blipFill>
        <p:spPr>
          <a:xfrm>
            <a:off x="356011" y="564272"/>
            <a:ext cx="8431977" cy="3265855"/>
          </a:xfrm>
          <a:prstGeom prst="rect">
            <a:avLst/>
          </a:prstGeom>
        </p:spPr>
      </p:pic>
      <p:sp>
        <p:nvSpPr>
          <p:cNvPr id="6" name="TextBox 5">
            <a:extLst>
              <a:ext uri="{FF2B5EF4-FFF2-40B4-BE49-F238E27FC236}">
                <a16:creationId xmlns:a16="http://schemas.microsoft.com/office/drawing/2014/main" id="{0398339E-5AA8-44FF-1C58-36B18BAA2DC0}"/>
              </a:ext>
            </a:extLst>
          </p:cNvPr>
          <p:cNvSpPr txBox="1"/>
          <p:nvPr/>
        </p:nvSpPr>
        <p:spPr>
          <a:xfrm>
            <a:off x="478765" y="3994452"/>
            <a:ext cx="8186469" cy="584775"/>
          </a:xfrm>
          <a:prstGeom prst="rect">
            <a:avLst/>
          </a:prstGeom>
          <a:noFill/>
        </p:spPr>
        <p:txBody>
          <a:bodyPr wrap="square">
            <a:spAutoFit/>
          </a:bodyPr>
          <a:lstStyle/>
          <a:p>
            <a:r>
              <a:rPr lang="vi-VN" sz="1600" dirty="0"/>
              <a:t>Hình 2. Doanh thu gộp theo ngày và đường làm trơn (7 ngày, 30 ngày). Đường làm trơn giúp làm rõ xu hướng tổng thể và giảm nhiễu ngắn hạn trong chuỗi doanh thu.</a:t>
            </a:r>
            <a:endParaRPr lang="en-US" sz="1600" dirty="0"/>
          </a:p>
        </p:txBody>
      </p:sp>
    </p:spTree>
    <p:extLst>
      <p:ext uri="{BB962C8B-B14F-4D97-AF65-F5344CB8AC3E}">
        <p14:creationId xmlns:p14="http://schemas.microsoft.com/office/powerpoint/2010/main" val="12688470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3A5DDBB-6F69-1C80-A2C4-ED8CADB483B4}"/>
              </a:ext>
            </a:extLst>
          </p:cNvPr>
          <p:cNvPicPr>
            <a:picLocks noChangeAspect="1"/>
          </p:cNvPicPr>
          <p:nvPr/>
        </p:nvPicPr>
        <p:blipFill>
          <a:blip r:embed="rId2"/>
          <a:stretch>
            <a:fillRect/>
          </a:stretch>
        </p:blipFill>
        <p:spPr>
          <a:xfrm>
            <a:off x="0" y="759125"/>
            <a:ext cx="9144000" cy="3528476"/>
          </a:xfrm>
          <a:prstGeom prst="rect">
            <a:avLst/>
          </a:prstGeom>
        </p:spPr>
      </p:pic>
      <p:sp>
        <p:nvSpPr>
          <p:cNvPr id="5" name="TextBox 4">
            <a:extLst>
              <a:ext uri="{FF2B5EF4-FFF2-40B4-BE49-F238E27FC236}">
                <a16:creationId xmlns:a16="http://schemas.microsoft.com/office/drawing/2014/main" id="{B2C69C84-3DCD-DDD9-839D-78B283DBF250}"/>
              </a:ext>
            </a:extLst>
          </p:cNvPr>
          <p:cNvSpPr txBox="1"/>
          <p:nvPr/>
        </p:nvSpPr>
        <p:spPr>
          <a:xfrm>
            <a:off x="431321" y="4244742"/>
            <a:ext cx="8553091" cy="584775"/>
          </a:xfrm>
          <a:prstGeom prst="rect">
            <a:avLst/>
          </a:prstGeom>
          <a:noFill/>
        </p:spPr>
        <p:txBody>
          <a:bodyPr wrap="square">
            <a:spAutoFit/>
          </a:bodyPr>
          <a:lstStyle/>
          <a:p>
            <a:r>
              <a:rPr lang="en-US" sz="1600" dirty="0" err="1"/>
              <a:t>Hình</a:t>
            </a:r>
            <a:r>
              <a:rPr lang="en-US" sz="1600" dirty="0"/>
              <a:t> 3. </a:t>
            </a:r>
            <a:r>
              <a:rPr lang="en-US" sz="1600" dirty="0" err="1"/>
              <a:t>Độ</a:t>
            </a:r>
            <a:r>
              <a:rPr lang="en-US" sz="1600" dirty="0"/>
              <a:t> </a:t>
            </a:r>
            <a:r>
              <a:rPr lang="en-US" sz="1600" dirty="0" err="1"/>
              <a:t>biến</a:t>
            </a:r>
            <a:r>
              <a:rPr lang="en-US" sz="1600" dirty="0"/>
              <a:t> </a:t>
            </a:r>
            <a:r>
              <a:rPr lang="en-US" sz="1600" dirty="0" err="1"/>
              <a:t>động</a:t>
            </a:r>
            <a:r>
              <a:rPr lang="en-US" sz="1600" dirty="0"/>
              <a:t> </a:t>
            </a:r>
            <a:r>
              <a:rPr lang="en-US" sz="1600" dirty="0" err="1"/>
              <a:t>doanh</a:t>
            </a:r>
            <a:r>
              <a:rPr lang="en-US" sz="1600" dirty="0"/>
              <a:t> </a:t>
            </a:r>
            <a:r>
              <a:rPr lang="en-US" sz="1600" dirty="0" err="1"/>
              <a:t>thu</a:t>
            </a:r>
            <a:r>
              <a:rPr lang="en-US" sz="1600" dirty="0"/>
              <a:t> </a:t>
            </a:r>
            <a:r>
              <a:rPr lang="en-US" sz="1600" dirty="0" err="1"/>
              <a:t>theo</a:t>
            </a:r>
            <a:r>
              <a:rPr lang="en-US" sz="1600" dirty="0"/>
              <a:t> </a:t>
            </a:r>
            <a:r>
              <a:rPr lang="en-US" sz="1600" dirty="0" err="1"/>
              <a:t>thời</a:t>
            </a:r>
            <a:r>
              <a:rPr lang="en-US" sz="1600" dirty="0"/>
              <a:t> </a:t>
            </a:r>
            <a:r>
              <a:rPr lang="en-US" sz="1600" dirty="0" err="1"/>
              <a:t>gian</a:t>
            </a:r>
            <a:r>
              <a:rPr lang="en-US" sz="1600" dirty="0"/>
              <a:t> </a:t>
            </a:r>
            <a:r>
              <a:rPr lang="en-US" sz="1600" dirty="0" err="1"/>
              <a:t>thông</a:t>
            </a:r>
            <a:r>
              <a:rPr lang="en-US" sz="1600" dirty="0"/>
              <a:t> qua </a:t>
            </a:r>
            <a:r>
              <a:rPr lang="en-US" sz="1600" dirty="0" err="1"/>
              <a:t>hệ</a:t>
            </a:r>
            <a:r>
              <a:rPr lang="en-US" sz="1600" dirty="0"/>
              <a:t> </a:t>
            </a:r>
            <a:r>
              <a:rPr lang="en-US" sz="1600" dirty="0" err="1"/>
              <a:t>số</a:t>
            </a:r>
            <a:r>
              <a:rPr lang="en-US" sz="1600" dirty="0"/>
              <a:t> </a:t>
            </a:r>
            <a:r>
              <a:rPr lang="en-US" sz="1600" dirty="0" err="1"/>
              <a:t>biến</a:t>
            </a:r>
            <a:r>
              <a:rPr lang="en-US" sz="1600" dirty="0"/>
              <a:t> </a:t>
            </a:r>
            <a:r>
              <a:rPr lang="en-US" sz="1600" dirty="0" err="1"/>
              <a:t>thiên</a:t>
            </a:r>
            <a:r>
              <a:rPr lang="en-US" sz="1600" dirty="0"/>
              <a:t> (CV) rolling 7 </a:t>
            </a:r>
            <a:r>
              <a:rPr lang="en-US" sz="1600" dirty="0" err="1"/>
              <a:t>ngày</a:t>
            </a:r>
            <a:r>
              <a:rPr lang="en-US" sz="1600" dirty="0"/>
              <a:t> </a:t>
            </a:r>
            <a:r>
              <a:rPr lang="en-US" sz="1600" dirty="0" err="1"/>
              <a:t>và</a:t>
            </a:r>
            <a:r>
              <a:rPr lang="en-US" sz="1600" dirty="0"/>
              <a:t> 30 </a:t>
            </a:r>
            <a:r>
              <a:rPr lang="en-US" sz="1600" dirty="0" err="1"/>
              <a:t>ngày</a:t>
            </a:r>
            <a:r>
              <a:rPr lang="en-US" sz="1600" dirty="0"/>
              <a:t>, </a:t>
            </a:r>
            <a:r>
              <a:rPr lang="en-US" sz="1600" dirty="0" err="1"/>
              <a:t>phản</a:t>
            </a:r>
            <a:r>
              <a:rPr lang="en-US" sz="1600" dirty="0"/>
              <a:t> </a:t>
            </a:r>
            <a:r>
              <a:rPr lang="en-US" sz="1600" dirty="0" err="1"/>
              <a:t>ánh</a:t>
            </a:r>
            <a:r>
              <a:rPr lang="en-US" sz="1600" dirty="0"/>
              <a:t> </a:t>
            </a:r>
            <a:r>
              <a:rPr lang="en-US" sz="1600" dirty="0" err="1"/>
              <a:t>mức</a:t>
            </a:r>
            <a:r>
              <a:rPr lang="en-US" sz="1600" dirty="0"/>
              <a:t> </a:t>
            </a:r>
            <a:r>
              <a:rPr lang="en-US" sz="1600" dirty="0" err="1"/>
              <a:t>độ</a:t>
            </a:r>
            <a:r>
              <a:rPr lang="en-US" sz="1600" dirty="0"/>
              <a:t> </a:t>
            </a:r>
            <a:r>
              <a:rPr lang="en-US" sz="1600" dirty="0" err="1"/>
              <a:t>ổn</a:t>
            </a:r>
            <a:r>
              <a:rPr lang="en-US" sz="1600" dirty="0"/>
              <a:t> </a:t>
            </a:r>
            <a:r>
              <a:rPr lang="en-US" sz="1600" dirty="0" err="1"/>
              <a:t>định</a:t>
            </a:r>
            <a:r>
              <a:rPr lang="en-US" sz="1600" dirty="0"/>
              <a:t>/dao </a:t>
            </a:r>
            <a:r>
              <a:rPr lang="en-US" sz="1600" dirty="0" err="1"/>
              <a:t>động</a:t>
            </a:r>
            <a:r>
              <a:rPr lang="en-US" sz="1600" dirty="0"/>
              <a:t> </a:t>
            </a:r>
            <a:r>
              <a:rPr lang="en-US" sz="1600" dirty="0" err="1"/>
              <a:t>của</a:t>
            </a:r>
            <a:r>
              <a:rPr lang="en-US" sz="1600" dirty="0"/>
              <a:t> </a:t>
            </a:r>
            <a:r>
              <a:rPr lang="en-US" sz="1600" dirty="0" err="1"/>
              <a:t>chuỗi</a:t>
            </a:r>
            <a:r>
              <a:rPr lang="en-US" sz="1600" dirty="0"/>
              <a:t> </a:t>
            </a:r>
            <a:r>
              <a:rPr lang="en-US" sz="1600" dirty="0" err="1"/>
              <a:t>doanh</a:t>
            </a:r>
            <a:r>
              <a:rPr lang="en-US" sz="1600" dirty="0"/>
              <a:t> </a:t>
            </a:r>
            <a:r>
              <a:rPr lang="en-US" sz="1600" dirty="0" err="1"/>
              <a:t>thu</a:t>
            </a:r>
            <a:endParaRPr lang="en-US" sz="1600" dirty="0"/>
          </a:p>
        </p:txBody>
      </p:sp>
    </p:spTree>
    <p:extLst>
      <p:ext uri="{BB962C8B-B14F-4D97-AF65-F5344CB8AC3E}">
        <p14:creationId xmlns:p14="http://schemas.microsoft.com/office/powerpoint/2010/main" val="40426306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Tăng</a:t>
            </a:r>
            <a:r>
              <a:rPr sz="4400" dirty="0">
                <a:latin typeface="Aptos Display" panose="020B0004020202020204" pitchFamily="34" charset="0"/>
              </a:rPr>
              <a:t> </a:t>
            </a:r>
            <a:r>
              <a:rPr sz="4400" dirty="0" err="1">
                <a:latin typeface="Aptos Display" panose="020B0004020202020204" pitchFamily="34" charset="0"/>
              </a:rPr>
              <a:t>trưởng</a:t>
            </a:r>
            <a:r>
              <a:rPr sz="4400" dirty="0">
                <a:latin typeface="Aptos Display" panose="020B0004020202020204" pitchFamily="34" charset="0"/>
              </a:rPr>
              <a:t> WoW &amp; MoM</a:t>
            </a:r>
          </a:p>
        </p:txBody>
      </p:sp>
      <p:sp>
        <p:nvSpPr>
          <p:cNvPr id="4" name="Picture Placeholder 3"/>
          <p:cNvSpPr>
            <a:spLocks noGrp="1"/>
          </p:cNvSpPr>
          <p:nvPr>
            <p:ph type="pic" idx="4294967295"/>
          </p:nvPr>
        </p:nvSpPr>
        <p:spPr>
          <a:xfrm>
            <a:off x="720000" y="1325058"/>
            <a:ext cx="8004452" cy="1880721"/>
          </a:xfrm>
          <a:noFill/>
          <a:ln>
            <a:noFill/>
          </a:ln>
        </p:spPr>
        <p:txBody>
          <a:bodyPr/>
          <a:lstStyle/>
          <a:p>
            <a:pPr marL="0" indent="0" algn="l" rtl="0">
              <a:buClr>
                <a:schemeClr val="dk1"/>
              </a:buClr>
              <a:buSzPts val="1200"/>
              <a:buNone/>
            </a:pPr>
            <a:r>
              <a:rPr sz="2500" dirty="0" err="1">
                <a:solidFill>
                  <a:schemeClr val="dk1"/>
                </a:solidFill>
                <a:latin typeface="Century" panose="02040604050505020304" pitchFamily="18" charset="0"/>
                <a:sym typeface="Didact Gothic"/>
              </a:rPr>
              <a:t>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tuần</a:t>
            </a:r>
            <a:r>
              <a:rPr sz="2500" dirty="0">
                <a:solidFill>
                  <a:schemeClr val="dk1"/>
                </a:solidFill>
                <a:latin typeface="Century" panose="02040604050505020304" pitchFamily="18" charset="0"/>
                <a:sym typeface="Didact Gothic"/>
              </a:rPr>
              <a:t> (WoW) </a:t>
            </a:r>
            <a:r>
              <a:rPr sz="2500" dirty="0" err="1">
                <a:solidFill>
                  <a:schemeClr val="dk1"/>
                </a:solidFill>
                <a:latin typeface="Century" panose="02040604050505020304" pitchFamily="18" charset="0"/>
                <a:sym typeface="Didact Gothic"/>
              </a:rPr>
              <a:t>phản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ánh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động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ngắn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hiệu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ứng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mùa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vụ</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err="1">
                <a:latin typeface="Century" panose="02040604050505020304" pitchFamily="18" charset="0"/>
              </a:rPr>
              <a:t>T</a:t>
            </a:r>
            <a:r>
              <a:rPr sz="2500" dirty="0" err="1">
                <a:solidFill>
                  <a:schemeClr val="dk1"/>
                </a:solidFill>
                <a:latin typeface="Century" panose="02040604050505020304" pitchFamily="18" charset="0"/>
                <a:sym typeface="Didact Gothic"/>
              </a:rPr>
              <a: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trưởng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theo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tháng</a:t>
            </a:r>
            <a:r>
              <a:rPr sz="2500" dirty="0">
                <a:solidFill>
                  <a:schemeClr val="dk1"/>
                </a:solidFill>
                <a:latin typeface="Century" panose="02040604050505020304" pitchFamily="18" charset="0"/>
                <a:sym typeface="Didact Gothic"/>
              </a:rPr>
              <a:t> (MoM) </a:t>
            </a:r>
            <a:r>
              <a:rPr sz="2500" dirty="0" err="1">
                <a:solidFill>
                  <a:schemeClr val="dk1"/>
                </a:solidFill>
                <a:latin typeface="Century" panose="02040604050505020304" pitchFamily="18" charset="0"/>
                <a:sym typeface="Didact Gothic"/>
              </a:rPr>
              <a:t>cung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cấp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góc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nhìn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vĩ</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mô</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về</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đoạn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cao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điểm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thấp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điểm</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050D4BC-E1D5-D096-E8BD-7C98DA63415B}"/>
              </a:ext>
            </a:extLst>
          </p:cNvPr>
          <p:cNvPicPr>
            <a:picLocks noChangeAspect="1"/>
          </p:cNvPicPr>
          <p:nvPr/>
        </p:nvPicPr>
        <p:blipFill>
          <a:blip r:embed="rId2"/>
          <a:stretch>
            <a:fillRect/>
          </a:stretch>
        </p:blipFill>
        <p:spPr>
          <a:xfrm>
            <a:off x="274302" y="586596"/>
            <a:ext cx="8595395" cy="3261953"/>
          </a:xfrm>
          <a:prstGeom prst="rect">
            <a:avLst/>
          </a:prstGeom>
        </p:spPr>
      </p:pic>
      <p:sp>
        <p:nvSpPr>
          <p:cNvPr id="7" name="TextBox 6">
            <a:extLst>
              <a:ext uri="{FF2B5EF4-FFF2-40B4-BE49-F238E27FC236}">
                <a16:creationId xmlns:a16="http://schemas.microsoft.com/office/drawing/2014/main" id="{C0A5FA48-0E5E-FC19-E510-A55C1882EFD8}"/>
              </a:ext>
            </a:extLst>
          </p:cNvPr>
          <p:cNvSpPr txBox="1"/>
          <p:nvPr/>
        </p:nvSpPr>
        <p:spPr>
          <a:xfrm>
            <a:off x="804492" y="3848549"/>
            <a:ext cx="7787418" cy="584775"/>
          </a:xfrm>
          <a:prstGeom prst="rect">
            <a:avLst/>
          </a:prstGeom>
          <a:noFill/>
        </p:spPr>
        <p:txBody>
          <a:bodyPr wrap="square">
            <a:spAutoFit/>
          </a:bodyPr>
          <a:lstStyle/>
          <a:p>
            <a:r>
              <a:rPr lang="vi-VN" sz="1600" dirty="0"/>
              <a:t>Hình 4. Tăng trưởng doanh thu gộp theo tuần (WoW). Các pha tăng/giảm</a:t>
            </a:r>
            <a:r>
              <a:rPr lang="en-US" sz="1600" dirty="0"/>
              <a:t> </a:t>
            </a:r>
            <a:r>
              <a:rPr lang="vi-VN" sz="1600" dirty="0"/>
              <a:t>mạnh phản ánh biến động theo chu kỳ ngắn hạn và hiệu ứng mùa vụ.</a:t>
            </a:r>
            <a:endParaRPr lang="en-US" sz="1600" dirty="0"/>
          </a:p>
        </p:txBody>
      </p:sp>
    </p:spTree>
    <p:extLst>
      <p:ext uri="{BB962C8B-B14F-4D97-AF65-F5344CB8AC3E}">
        <p14:creationId xmlns:p14="http://schemas.microsoft.com/office/powerpoint/2010/main" val="2859016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B8C15AA-AAA6-970A-F9CD-0CE25E4784D0}"/>
              </a:ext>
            </a:extLst>
          </p:cNvPr>
          <p:cNvPicPr>
            <a:picLocks noChangeAspect="1"/>
          </p:cNvPicPr>
          <p:nvPr/>
        </p:nvPicPr>
        <p:blipFill>
          <a:blip r:embed="rId2"/>
          <a:stretch>
            <a:fillRect/>
          </a:stretch>
        </p:blipFill>
        <p:spPr>
          <a:xfrm>
            <a:off x="157560" y="707367"/>
            <a:ext cx="8828879" cy="3261952"/>
          </a:xfrm>
          <a:prstGeom prst="rect">
            <a:avLst/>
          </a:prstGeom>
        </p:spPr>
      </p:pic>
      <p:sp>
        <p:nvSpPr>
          <p:cNvPr id="7" name="TextBox 6">
            <a:extLst>
              <a:ext uri="{FF2B5EF4-FFF2-40B4-BE49-F238E27FC236}">
                <a16:creationId xmlns:a16="http://schemas.microsoft.com/office/drawing/2014/main" id="{0C33F281-5FC5-1374-C10D-8634DCF7456A}"/>
              </a:ext>
            </a:extLst>
          </p:cNvPr>
          <p:cNvSpPr txBox="1"/>
          <p:nvPr/>
        </p:nvSpPr>
        <p:spPr>
          <a:xfrm>
            <a:off x="836763" y="3969319"/>
            <a:ext cx="7927676" cy="584775"/>
          </a:xfrm>
          <a:prstGeom prst="rect">
            <a:avLst/>
          </a:prstGeom>
          <a:noFill/>
        </p:spPr>
        <p:txBody>
          <a:bodyPr wrap="square">
            <a:spAutoFit/>
          </a:bodyPr>
          <a:lstStyle/>
          <a:p>
            <a:r>
              <a:rPr lang="vi-VN" sz="1600" dirty="0"/>
              <a:t>Hình 5. Tăng trưởng doanh thu gộp theo tháng (MoM), cung cấp góc nhìn</a:t>
            </a:r>
            <a:r>
              <a:rPr lang="en-US" sz="1600" dirty="0"/>
              <a:t> </a:t>
            </a:r>
            <a:r>
              <a:rPr lang="vi-VN" sz="1600" dirty="0"/>
              <a:t>vĩ mô hơn về xu hướng và các giai đoạn cao điểm/thấp điểm trong năm.</a:t>
            </a:r>
            <a:endParaRPr lang="en-US" sz="1600" dirty="0"/>
          </a:p>
        </p:txBody>
      </p:sp>
    </p:spTree>
    <p:extLst>
      <p:ext uri="{BB962C8B-B14F-4D97-AF65-F5344CB8AC3E}">
        <p14:creationId xmlns:p14="http://schemas.microsoft.com/office/powerpoint/2010/main" val="166073462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sản</a:t>
            </a:r>
            <a:r>
              <a:rPr sz="4400" dirty="0">
                <a:latin typeface="Aptos Display" panose="020B0004020202020204" pitchFamily="34" charset="0"/>
              </a:rPr>
              <a:t> </a:t>
            </a:r>
            <a:r>
              <a:rPr sz="4400" dirty="0" err="1">
                <a:latin typeface="Aptos Display" panose="020B0004020202020204" pitchFamily="34" charset="0"/>
              </a:rPr>
              <a:t>phẩm</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418785" y="1411119"/>
            <a:ext cx="8306429" cy="2160420"/>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phân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bổ</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không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đồng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đều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giữa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Một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nhóm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nhỏ</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tạo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phần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lớn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doanh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trong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nhiều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đóng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góp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rất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thấp</a:t>
            </a:r>
            <a:r>
              <a:rPr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solidFill>
                  <a:schemeClr val="dk1"/>
                </a:solidFill>
                <a:latin typeface="Century" panose="02040604050505020304" pitchFamily="18" charset="0"/>
                <a:sym typeface="Wingdings" panose="05000000000000000000" pitchFamily="2" charset="2"/>
              </a:rPr>
              <a:t> </a:t>
            </a:r>
            <a:r>
              <a:rPr sz="2500" dirty="0" err="1">
                <a:solidFill>
                  <a:schemeClr val="dk1"/>
                </a:solidFill>
                <a:latin typeface="Century" panose="02040604050505020304" pitchFamily="18" charset="0"/>
                <a:sym typeface="Didact Gothic"/>
              </a:rPr>
              <a:t>Kết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quả</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gợi</a:t>
            </a:r>
            <a:r>
              <a:rPr sz="2500" dirty="0">
                <a:solidFill>
                  <a:schemeClr val="dk1"/>
                </a:solidFill>
                <a:latin typeface="Century" panose="02040604050505020304" pitchFamily="18" charset="0"/>
                <a:sym typeface="Didact Gothic"/>
              </a:rPr>
              <a:t> ý </a:t>
            </a:r>
            <a:r>
              <a:rPr sz="2500" dirty="0" err="1">
                <a:solidFill>
                  <a:schemeClr val="dk1"/>
                </a:solidFill>
                <a:latin typeface="Century" panose="02040604050505020304" pitchFamily="18" charset="0"/>
                <a:sym typeface="Didact Gothic"/>
              </a:rPr>
              <a:t>chiến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lược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sản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phẩm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chủ</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lực</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8085598-5A07-A35F-3EAF-5E392AC9143F}"/>
              </a:ext>
            </a:extLst>
          </p:cNvPr>
          <p:cNvPicPr>
            <a:picLocks noChangeAspect="1"/>
          </p:cNvPicPr>
          <p:nvPr/>
        </p:nvPicPr>
        <p:blipFill>
          <a:blip r:embed="rId2"/>
          <a:stretch>
            <a:fillRect/>
          </a:stretch>
        </p:blipFill>
        <p:spPr>
          <a:xfrm>
            <a:off x="310551" y="356161"/>
            <a:ext cx="8522897" cy="4013633"/>
          </a:xfrm>
          <a:prstGeom prst="rect">
            <a:avLst/>
          </a:prstGeom>
        </p:spPr>
      </p:pic>
      <p:sp>
        <p:nvSpPr>
          <p:cNvPr id="6" name="TextBox 5">
            <a:extLst>
              <a:ext uri="{FF2B5EF4-FFF2-40B4-BE49-F238E27FC236}">
                <a16:creationId xmlns:a16="http://schemas.microsoft.com/office/drawing/2014/main" id="{11DA3AFA-2C12-47A4-D3FE-A97147C5DC87}"/>
              </a:ext>
            </a:extLst>
          </p:cNvPr>
          <p:cNvSpPr txBox="1"/>
          <p:nvPr/>
        </p:nvSpPr>
        <p:spPr>
          <a:xfrm>
            <a:off x="530524" y="4310909"/>
            <a:ext cx="8151961" cy="584775"/>
          </a:xfrm>
          <a:prstGeom prst="rect">
            <a:avLst/>
          </a:prstGeom>
          <a:noFill/>
        </p:spPr>
        <p:txBody>
          <a:bodyPr wrap="square">
            <a:spAutoFit/>
          </a:bodyPr>
          <a:lstStyle/>
          <a:p>
            <a:r>
              <a:rPr lang="en-US" sz="1600" dirty="0" err="1"/>
              <a:t>Hình</a:t>
            </a:r>
            <a:r>
              <a:rPr lang="en-US" sz="1600" dirty="0"/>
              <a:t> 6. Top 10 </a:t>
            </a:r>
            <a:r>
              <a:rPr lang="en-US" sz="1600" dirty="0" err="1"/>
              <a:t>sản</a:t>
            </a:r>
            <a:r>
              <a:rPr lang="en-US" sz="1600" dirty="0"/>
              <a:t> </a:t>
            </a:r>
            <a:r>
              <a:rPr lang="en-US" sz="1600" dirty="0" err="1"/>
              <a:t>phẩm</a:t>
            </a:r>
            <a:r>
              <a:rPr lang="en-US" sz="1600" dirty="0"/>
              <a:t> </a:t>
            </a:r>
            <a:r>
              <a:rPr lang="en-US" sz="1600" dirty="0" err="1"/>
              <a:t>theo</a:t>
            </a:r>
            <a:r>
              <a:rPr lang="en-US" sz="1600" dirty="0"/>
              <a:t> </a:t>
            </a:r>
            <a:r>
              <a:rPr lang="en-US" sz="1600" dirty="0" err="1"/>
              <a:t>doanh</a:t>
            </a:r>
            <a:r>
              <a:rPr lang="en-US" sz="1600" dirty="0"/>
              <a:t> </a:t>
            </a:r>
            <a:r>
              <a:rPr lang="en-US" sz="1600" dirty="0" err="1"/>
              <a:t>thu</a:t>
            </a:r>
            <a:r>
              <a:rPr lang="en-US" sz="1600" dirty="0"/>
              <a:t> </a:t>
            </a:r>
            <a:r>
              <a:rPr lang="en-US" sz="1600" dirty="0" err="1"/>
              <a:t>gộp</a:t>
            </a:r>
            <a:r>
              <a:rPr lang="en-US" sz="1600" dirty="0"/>
              <a:t> (</a:t>
            </a:r>
            <a:r>
              <a:rPr lang="en-US" sz="1600" dirty="0" err="1"/>
              <a:t>chỉ</a:t>
            </a:r>
            <a:r>
              <a:rPr lang="en-US" sz="1600" dirty="0"/>
              <a:t> </a:t>
            </a:r>
            <a:r>
              <a:rPr lang="en-US" sz="1600" dirty="0" err="1"/>
              <a:t>tính</a:t>
            </a:r>
            <a:r>
              <a:rPr lang="en-US" sz="1600" dirty="0"/>
              <a:t> </a:t>
            </a:r>
            <a:r>
              <a:rPr lang="en-US" sz="1600" dirty="0" err="1"/>
              <a:t>giao</a:t>
            </a:r>
            <a:r>
              <a:rPr lang="en-US" sz="1600" dirty="0"/>
              <a:t> </a:t>
            </a:r>
            <a:r>
              <a:rPr lang="en-US" sz="1600" dirty="0" err="1"/>
              <a:t>dịch</a:t>
            </a:r>
            <a:r>
              <a:rPr lang="en-US" sz="1600" dirty="0"/>
              <a:t> </a:t>
            </a:r>
            <a:r>
              <a:rPr lang="en-US" sz="1600" dirty="0" err="1"/>
              <a:t>bán</a:t>
            </a:r>
            <a:r>
              <a:rPr lang="en-US" sz="1600" dirty="0"/>
              <a:t>). </a:t>
            </a:r>
            <a:r>
              <a:rPr lang="en-US" sz="1600" dirty="0" err="1"/>
              <a:t>Kết</a:t>
            </a:r>
            <a:r>
              <a:rPr lang="en-US" sz="1600" dirty="0"/>
              <a:t> </a:t>
            </a:r>
            <a:r>
              <a:rPr lang="en-US" sz="1600" dirty="0" err="1"/>
              <a:t>quả</a:t>
            </a:r>
            <a:r>
              <a:rPr lang="en-US" sz="1600" dirty="0"/>
              <a:t> </a:t>
            </a:r>
            <a:r>
              <a:rPr lang="en-US" sz="1600" dirty="0" err="1"/>
              <a:t>cho</a:t>
            </a:r>
            <a:r>
              <a:rPr lang="en-US" sz="1600" dirty="0"/>
              <a:t> </a:t>
            </a:r>
            <a:r>
              <a:rPr lang="en-US" sz="1600" dirty="0" err="1"/>
              <a:t>thấy</a:t>
            </a:r>
            <a:r>
              <a:rPr lang="en-US" sz="1600" dirty="0"/>
              <a:t> </a:t>
            </a:r>
            <a:r>
              <a:rPr lang="en-US" sz="1600" dirty="0" err="1"/>
              <a:t>doanh</a:t>
            </a:r>
            <a:r>
              <a:rPr lang="en-US" sz="1600" dirty="0"/>
              <a:t> </a:t>
            </a:r>
            <a:r>
              <a:rPr lang="en-US" sz="1600" dirty="0" err="1"/>
              <a:t>thu</a:t>
            </a:r>
            <a:r>
              <a:rPr lang="en-US" sz="1600" dirty="0"/>
              <a:t> </a:t>
            </a:r>
            <a:r>
              <a:rPr lang="en-US" sz="1600" dirty="0" err="1"/>
              <a:t>tập</a:t>
            </a:r>
            <a:r>
              <a:rPr lang="en-US" sz="1600" dirty="0"/>
              <a:t> </a:t>
            </a:r>
            <a:r>
              <a:rPr lang="en-US" sz="1600" dirty="0" err="1"/>
              <a:t>trung</a:t>
            </a:r>
            <a:r>
              <a:rPr lang="en-US" sz="1600" dirty="0"/>
              <a:t> </a:t>
            </a:r>
            <a:r>
              <a:rPr lang="en-US" sz="1600" dirty="0" err="1"/>
              <a:t>vào</a:t>
            </a:r>
            <a:r>
              <a:rPr lang="en-US" sz="1600" dirty="0"/>
              <a:t> </a:t>
            </a:r>
            <a:r>
              <a:rPr lang="en-US" sz="1600" dirty="0" err="1"/>
              <a:t>một</a:t>
            </a:r>
            <a:r>
              <a:rPr lang="en-US" sz="1600" dirty="0"/>
              <a:t> </a:t>
            </a:r>
            <a:r>
              <a:rPr lang="en-US" sz="1600" dirty="0" err="1"/>
              <a:t>nhóm</a:t>
            </a:r>
            <a:r>
              <a:rPr lang="en-US" sz="1600" dirty="0"/>
              <a:t> </a:t>
            </a:r>
            <a:r>
              <a:rPr lang="en-US" sz="1600" dirty="0" err="1"/>
              <a:t>sản</a:t>
            </a:r>
            <a:r>
              <a:rPr lang="en-US" sz="1600" dirty="0"/>
              <a:t> </a:t>
            </a:r>
            <a:r>
              <a:rPr lang="en-US" sz="1600" dirty="0" err="1"/>
              <a:t>phẩm</a:t>
            </a:r>
            <a:r>
              <a:rPr lang="en-US" sz="1600" dirty="0"/>
              <a:t> </a:t>
            </a:r>
            <a:r>
              <a:rPr lang="en-US" sz="1600" dirty="0" err="1"/>
              <a:t>chủ</a:t>
            </a:r>
            <a:r>
              <a:rPr lang="en-US" sz="1600" dirty="0"/>
              <a:t> </a:t>
            </a:r>
            <a:r>
              <a:rPr lang="en-US" sz="1600" dirty="0" err="1"/>
              <a:t>lực</a:t>
            </a:r>
            <a:r>
              <a:rPr lang="en-US" sz="1600" dirty="0"/>
              <a:t>.</a:t>
            </a:r>
          </a:p>
        </p:txBody>
      </p:sp>
    </p:spTree>
    <p:extLst>
      <p:ext uri="{BB962C8B-B14F-4D97-AF65-F5344CB8AC3E}">
        <p14:creationId xmlns:p14="http://schemas.microsoft.com/office/powerpoint/2010/main" val="10038828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0000" y="470488"/>
            <a:ext cx="7704000" cy="572700"/>
          </a:xfrm>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khách</a:t>
            </a:r>
            <a:r>
              <a:rPr sz="4400" dirty="0">
                <a:latin typeface="Aptos Display" panose="020B0004020202020204" pitchFamily="34" charset="0"/>
              </a:rPr>
              <a:t> </a:t>
            </a:r>
            <a:r>
              <a:rPr sz="4400" dirty="0" err="1">
                <a:latin typeface="Aptos Display" panose="020B0004020202020204" pitchFamily="34" charset="0"/>
              </a:rPr>
              <a:t>hàng</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414550" y="1232949"/>
            <a:ext cx="8314899" cy="3440063"/>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mạnh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một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tỷ</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lệ</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nhỏ</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hàng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phù</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hợp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với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nguyên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lý</a:t>
            </a:r>
            <a:r>
              <a:rPr sz="2500" dirty="0">
                <a:solidFill>
                  <a:schemeClr val="dk1"/>
                </a:solidFill>
                <a:latin typeface="Century" panose="02040604050505020304" pitchFamily="18" charset="0"/>
                <a:sym typeface="Didact Gothic"/>
              </a:rPr>
              <a:t> Pareto.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latin typeface="Century" panose="02040604050505020304" pitchFamily="18" charset="0"/>
                <a:sym typeface="Wingdings" panose="05000000000000000000" pitchFamily="2" charset="2"/>
              </a:rPr>
              <a:t></a:t>
            </a:r>
            <a:r>
              <a:rPr sz="2500" dirty="0" err="1">
                <a:solidFill>
                  <a:schemeClr val="dk1"/>
                </a:solidFill>
                <a:latin typeface="Century" panose="02040604050505020304" pitchFamily="18" charset="0"/>
                <a:sym typeface="Didact Gothic"/>
              </a:rPr>
              <a:t>Nhóm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hàng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giá</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cao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đóng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vai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trò</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quyết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định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nhưng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cũng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tiềm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ẩn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rủi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nếu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không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có</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chiến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lược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duy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trì</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và</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mở</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rộng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phù</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hợp</a:t>
            </a:r>
            <a:endParaRPr lang="en-US" sz="2500" dirty="0">
              <a:latin typeface="Century" panose="02040604050505020304" pitchFamily="18" charset="0"/>
            </a:endParaRPr>
          </a:p>
          <a:p>
            <a:pPr marL="0" indent="0" algn="l" rtl="0">
              <a:buClr>
                <a:schemeClr val="dk1"/>
              </a:buClr>
              <a:buSzPts val="1200"/>
              <a:buNone/>
            </a:pPr>
            <a:r>
              <a:rPr lang="vi-VN" sz="2500" dirty="0">
                <a:solidFill>
                  <a:schemeClr val="dk1"/>
                </a:solidFill>
                <a:latin typeface="Century" panose="02040604050505020304" pitchFamily="18" charset="0"/>
                <a:sym typeface="Wingdings" panose="05000000000000000000" pitchFamily="2" charset="2"/>
              </a:rPr>
              <a:t></a:t>
            </a:r>
            <a:r>
              <a:rPr lang="en-US" sz="2500" dirty="0">
                <a:solidFill>
                  <a:schemeClr val="dk1"/>
                </a:solidFill>
                <a:latin typeface="Century" panose="02040604050505020304" pitchFamily="18" charset="0"/>
                <a:sym typeface="Wingdings" panose="05000000000000000000" pitchFamily="2" charset="2"/>
              </a:rPr>
              <a:t>C</a:t>
            </a:r>
            <a:r>
              <a:rPr lang="vi-VN" sz="2500" dirty="0">
                <a:solidFill>
                  <a:schemeClr val="dk1"/>
                </a:solidFill>
                <a:latin typeface="Century" panose="02040604050505020304" pitchFamily="18" charset="0"/>
                <a:sym typeface="Didact Gothic"/>
              </a:rPr>
              <a:t>ần quan tâm</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đến việc phát triển nhóm khách hàng trung bình</a:t>
            </a:r>
            <a:r>
              <a:rPr lang="en-US" sz="2500" dirty="0">
                <a:solidFill>
                  <a:schemeClr val="dk1"/>
                </a:solidFill>
                <a:latin typeface="Century" panose="02040604050505020304" pitchFamily="18" charset="0"/>
                <a:sym typeface="Didact Gothic"/>
              </a:rPr>
              <a:t>, </a:t>
            </a:r>
            <a:r>
              <a:rPr lang="en-US" sz="2500" dirty="0" err="1">
                <a:solidFill>
                  <a:schemeClr val="dk1"/>
                </a:solidFill>
                <a:latin typeface="Century" panose="02040604050505020304" pitchFamily="18" charset="0"/>
                <a:sym typeface="Didact Gothic"/>
              </a:rPr>
              <a:t>nơi</a:t>
            </a:r>
            <a:r>
              <a:rPr lang="vi-VN" sz="2500" dirty="0">
                <a:solidFill>
                  <a:schemeClr val="dk1"/>
                </a:solidFill>
                <a:latin typeface="Century" panose="02040604050505020304" pitchFamily="18" charset="0"/>
                <a:sym typeface="Didact Gothic"/>
              </a:rPr>
              <a:t> tạo ra</a:t>
            </a:r>
            <a:r>
              <a:rPr lang="en-US" sz="2500" dirty="0">
                <a:solidFill>
                  <a:schemeClr val="dk1"/>
                </a:solidFill>
                <a:latin typeface="Century" panose="02040604050505020304" pitchFamily="18" charset="0"/>
                <a:sym typeface="Didact Gothic"/>
              </a:rPr>
              <a:t> </a:t>
            </a:r>
            <a:r>
              <a:rPr lang="vi-VN" sz="2500" dirty="0">
                <a:solidFill>
                  <a:schemeClr val="dk1"/>
                </a:solidFill>
                <a:latin typeface="Century" panose="02040604050505020304" pitchFamily="18" charset="0"/>
                <a:sym typeface="Didact Gothic"/>
              </a:rPr>
              <a:t>nguồn doanh thu ổn định hơn trong dài hạn.</a:t>
            </a:r>
            <a:endParaRPr sz="2500" dirty="0">
              <a:solidFill>
                <a:schemeClr val="dk1"/>
              </a:solidFill>
              <a:latin typeface="Century" panose="02040604050505020304" pitchFamily="18" charset="0"/>
              <a:sym typeface="Didact Gothic"/>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61CF9A1-3489-BA85-870C-051EA2B99F7E}"/>
              </a:ext>
            </a:extLst>
          </p:cNvPr>
          <p:cNvPicPr>
            <a:picLocks noChangeAspect="1"/>
          </p:cNvPicPr>
          <p:nvPr/>
        </p:nvPicPr>
        <p:blipFill>
          <a:blip r:embed="rId2"/>
          <a:stretch>
            <a:fillRect/>
          </a:stretch>
        </p:blipFill>
        <p:spPr>
          <a:xfrm>
            <a:off x="275121" y="412967"/>
            <a:ext cx="8593758" cy="3606943"/>
          </a:xfrm>
          <a:prstGeom prst="rect">
            <a:avLst/>
          </a:prstGeom>
        </p:spPr>
      </p:pic>
      <p:sp>
        <p:nvSpPr>
          <p:cNvPr id="7" name="TextBox 6">
            <a:extLst>
              <a:ext uri="{FF2B5EF4-FFF2-40B4-BE49-F238E27FC236}">
                <a16:creationId xmlns:a16="http://schemas.microsoft.com/office/drawing/2014/main" id="{A6CA0F40-8CAC-ACCE-B65B-D7089E4FE6AD}"/>
              </a:ext>
            </a:extLst>
          </p:cNvPr>
          <p:cNvSpPr txBox="1"/>
          <p:nvPr/>
        </p:nvSpPr>
        <p:spPr>
          <a:xfrm>
            <a:off x="474453" y="4019910"/>
            <a:ext cx="8394426" cy="830997"/>
          </a:xfrm>
          <a:prstGeom prst="rect">
            <a:avLst/>
          </a:prstGeom>
          <a:noFill/>
        </p:spPr>
        <p:txBody>
          <a:bodyPr wrap="square">
            <a:spAutoFit/>
          </a:bodyPr>
          <a:lstStyle/>
          <a:p>
            <a:r>
              <a:rPr lang="vi-VN" sz="1600" dirty="0"/>
              <a:t>Hình 7. Đường tích lũy doanh thu theo khách hàng (Pareto/Lorenz) trên các giao dịch bán. Đường cong cho thấy mức độ tập trung doanh thu và gợi ý chiến lược ưu tiên nhóm khách hàng giá trị cao.</a:t>
            </a:r>
            <a:endParaRPr lang="en-US" sz="1600" dirty="0"/>
          </a:p>
        </p:txBody>
      </p:sp>
    </p:spTree>
    <p:extLst>
      <p:ext uri="{BB962C8B-B14F-4D97-AF65-F5344CB8AC3E}">
        <p14:creationId xmlns:p14="http://schemas.microsoft.com/office/powerpoint/2010/main" val="318611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noFill/>
          <a:ln>
            <a:noFill/>
          </a:ln>
        </p:spPr>
        <p:txBody>
          <a:bodyPr spcFirstLastPara="1" wrap="square" lIns="91425" tIns="91425" rIns="91425" bIns="91425" anchor="t" anchorCtr="0">
            <a:noAutofit/>
          </a:bodyPr>
          <a:lstStyle/>
          <a:p>
            <a:pPr algn="ctr">
              <a:buSzPts val="2800"/>
            </a:pPr>
            <a:r>
              <a:rPr sz="4400" dirty="0" err="1">
                <a:latin typeface="Aptos Display" panose="020B0004020202020204" pitchFamily="34" charset="0"/>
              </a:rPr>
              <a:t>Phân</a:t>
            </a:r>
            <a:r>
              <a:rPr sz="4400" dirty="0">
                <a:latin typeface="Aptos Display" panose="020B0004020202020204" pitchFamily="34" charset="0"/>
              </a:rPr>
              <a:t> </a:t>
            </a:r>
            <a:r>
              <a:rPr sz="4400" dirty="0" err="1">
                <a:latin typeface="Aptos Display" panose="020B0004020202020204" pitchFamily="34" charset="0"/>
              </a:rPr>
              <a:t>tích</a:t>
            </a:r>
            <a:r>
              <a:rPr sz="4400" dirty="0">
                <a:latin typeface="Aptos Display" panose="020B0004020202020204" pitchFamily="34" charset="0"/>
              </a:rPr>
              <a:t> </a:t>
            </a:r>
            <a:r>
              <a:rPr sz="4400" dirty="0" err="1">
                <a:latin typeface="Aptos Display" panose="020B0004020202020204" pitchFamily="34" charset="0"/>
              </a:rPr>
              <a:t>theo</a:t>
            </a:r>
            <a:r>
              <a:rPr sz="4400" dirty="0">
                <a:latin typeface="Aptos Display" panose="020B0004020202020204" pitchFamily="34" charset="0"/>
              </a:rPr>
              <a:t> </a:t>
            </a:r>
            <a:r>
              <a:rPr sz="4400" dirty="0" err="1">
                <a:latin typeface="Aptos Display" panose="020B0004020202020204" pitchFamily="34" charset="0"/>
              </a:rPr>
              <a:t>quốc</a:t>
            </a:r>
            <a:r>
              <a:rPr sz="4400" dirty="0">
                <a:latin typeface="Aptos Display" panose="020B0004020202020204" pitchFamily="34" charset="0"/>
              </a:rPr>
              <a:t> </a:t>
            </a:r>
            <a:r>
              <a:rPr sz="4400" dirty="0" err="1">
                <a:latin typeface="Aptos Display" panose="020B0004020202020204" pitchFamily="34" charset="0"/>
              </a:rPr>
              <a:t>gia</a:t>
            </a:r>
            <a:endParaRPr sz="4400" dirty="0">
              <a:latin typeface="Aptos Display" panose="020B0004020202020204" pitchFamily="34" charset="0"/>
            </a:endParaRPr>
          </a:p>
        </p:txBody>
      </p:sp>
      <p:sp>
        <p:nvSpPr>
          <p:cNvPr id="4" name="Picture Placeholder 3"/>
          <p:cNvSpPr>
            <a:spLocks noGrp="1"/>
          </p:cNvSpPr>
          <p:nvPr>
            <p:ph type="pic" idx="4294967295"/>
          </p:nvPr>
        </p:nvSpPr>
        <p:spPr>
          <a:xfrm>
            <a:off x="623943" y="1697878"/>
            <a:ext cx="7718425" cy="2300288"/>
          </a:xfrm>
          <a:noFill/>
          <a:ln>
            <a:noFill/>
          </a:ln>
        </p:spPr>
        <p:txBody>
          <a:bodyPr/>
          <a:lstStyle/>
          <a:p>
            <a:pPr marL="0" indent="0" algn="l" rtl="0">
              <a:buClr>
                <a:schemeClr val="dk1"/>
              </a:buClr>
              <a:buSzPts val="1200"/>
              <a:buNone/>
            </a:pPr>
            <a:r>
              <a:rPr sz="2500" dirty="0">
                <a:solidFill>
                  <a:schemeClr val="dk1"/>
                </a:solidFill>
                <a:latin typeface="Century" panose="02040604050505020304" pitchFamily="18" charset="0"/>
                <a:sym typeface="Didact Gothic"/>
              </a:rPr>
              <a:t>Doanh </a:t>
            </a:r>
            <a:r>
              <a:rPr sz="2500" dirty="0" err="1">
                <a:solidFill>
                  <a:schemeClr val="dk1"/>
                </a:solidFill>
                <a:latin typeface="Century" panose="02040604050505020304" pitchFamily="18" charset="0"/>
                <a:sym typeface="Didact Gothic"/>
              </a:rPr>
              <a:t>thu</a:t>
            </a:r>
            <a:r>
              <a:rPr sz="2500" dirty="0">
                <a:solidFill>
                  <a:schemeClr val="dk1"/>
                </a:solidFill>
                <a:latin typeface="Century" panose="02040604050505020304" pitchFamily="18" charset="0"/>
                <a:sym typeface="Didact Gothic"/>
              </a:rPr>
              <a:t>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solidFill>
                  <a:schemeClr val="dk1"/>
                </a:solidFill>
                <a:latin typeface="Century" panose="02040604050505020304" pitchFamily="18" charset="0"/>
                <a:sym typeface="Symbol" panose="05050102010706020507" pitchFamily="18" charset="2"/>
              </a:rPr>
              <a:t> </a:t>
            </a:r>
            <a:r>
              <a:rPr lang="en-US" sz="2500" dirty="0" err="1">
                <a:solidFill>
                  <a:schemeClr val="dk1"/>
                </a:solidFill>
                <a:latin typeface="Century" panose="02040604050505020304" pitchFamily="18" charset="0"/>
                <a:sym typeface="Didact Gothic"/>
              </a:rPr>
              <a:t>C</a:t>
            </a:r>
            <a:r>
              <a:rPr sz="2500" dirty="0" err="1">
                <a:solidFill>
                  <a:schemeClr val="dk1"/>
                </a:solidFill>
                <a:latin typeface="Century" panose="02040604050505020304" pitchFamily="18" charset="0"/>
                <a:sym typeface="Didact Gothic"/>
              </a:rPr>
              <a:t>hủ</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yếu</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tại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trường</a:t>
            </a:r>
            <a:r>
              <a:rPr sz="2500" dirty="0">
                <a:solidFill>
                  <a:schemeClr val="dk1"/>
                </a:solidFill>
                <a:latin typeface="Century" panose="02040604050505020304" pitchFamily="18" charset="0"/>
                <a:sym typeface="Didact Gothic"/>
              </a:rPr>
              <a:t> United Kingdom </a:t>
            </a:r>
            <a:endParaRPr lang="en-US" sz="2500" dirty="0">
              <a:solidFill>
                <a:schemeClr val="dk1"/>
              </a:solidFill>
              <a:latin typeface="Century" panose="02040604050505020304" pitchFamily="18" charset="0"/>
              <a:sym typeface="Didact Gothic"/>
            </a:endParaRPr>
          </a:p>
          <a:p>
            <a:pPr marL="0" indent="0" algn="l" rtl="0">
              <a:buClr>
                <a:schemeClr val="dk1"/>
              </a:buClr>
              <a:buSzPts val="1200"/>
              <a:buNone/>
            </a:pPr>
            <a:r>
              <a:rPr lang="en-US" sz="2500" dirty="0">
                <a:solidFill>
                  <a:schemeClr val="dk1"/>
                </a:solidFill>
                <a:latin typeface="Century" panose="02040604050505020304" pitchFamily="18" charset="0"/>
                <a:sym typeface="Symbol" panose="05050102010706020507" pitchFamily="18" charset="2"/>
              </a:rPr>
              <a:t> </a:t>
            </a:r>
            <a:r>
              <a:rPr lang="en-US" sz="2500" dirty="0">
                <a:solidFill>
                  <a:schemeClr val="dk1"/>
                </a:solidFill>
                <a:latin typeface="Century" panose="02040604050505020304" pitchFamily="18" charset="0"/>
                <a:sym typeface="Didact Gothic"/>
              </a:rPr>
              <a:t>C</a:t>
            </a:r>
            <a:r>
              <a:rPr sz="2500" dirty="0">
                <a:solidFill>
                  <a:schemeClr val="dk1"/>
                </a:solidFill>
                <a:latin typeface="Century" panose="02040604050505020304" pitchFamily="18" charset="0"/>
                <a:sym typeface="Didact Gothic"/>
              </a:rPr>
              <a:t>ác </a:t>
            </a:r>
            <a:r>
              <a:rPr sz="2500" dirty="0" err="1">
                <a:solidFill>
                  <a:schemeClr val="dk1"/>
                </a:solidFill>
                <a:latin typeface="Century" panose="02040604050505020304" pitchFamily="18" charset="0"/>
                <a:sym typeface="Didact Gothic"/>
              </a:rPr>
              <a:t>thị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trường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khác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đóng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góp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tỷ</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trọng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nhỏ</a:t>
            </a:r>
            <a:endParaRPr lang="en-US" sz="2500" dirty="0">
              <a:latin typeface="Century" panose="02040604050505020304" pitchFamily="18" charset="0"/>
            </a:endParaRPr>
          </a:p>
          <a:p>
            <a:pPr marL="0" indent="0" algn="l" rtl="0">
              <a:buClr>
                <a:schemeClr val="dk1"/>
              </a:buClr>
              <a:buSzPts val="1200"/>
              <a:buNone/>
            </a:pPr>
            <a:r>
              <a:rPr lang="en-US" sz="2500" dirty="0">
                <a:solidFill>
                  <a:schemeClr val="dk1"/>
                </a:solidFill>
                <a:latin typeface="Century" panose="02040604050505020304" pitchFamily="18" charset="0"/>
                <a:sym typeface="Wingdings" panose="05000000000000000000" pitchFamily="2" charset="2"/>
              </a:rPr>
              <a:t></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Sự</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tập</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trung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này</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mang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lại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lợi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thế</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vận</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hành</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nhưng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đồng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thời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làm</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gia</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tăng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rủi</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ro</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phụ</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thuộc</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thị</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trường</a:t>
            </a:r>
            <a:r>
              <a:rPr sz="2500" dirty="0">
                <a:solidFill>
                  <a:schemeClr val="dk1"/>
                </a:solidFill>
                <a:latin typeface="Century" panose="02040604050505020304" pitchFamily="18" charset="0"/>
                <a:sym typeface="Didact Gothic"/>
              </a:rPr>
              <a:t> </a:t>
            </a:r>
            <a:r>
              <a:rPr sz="2500" dirty="0" err="1">
                <a:solidFill>
                  <a:schemeClr val="dk1"/>
                </a:solidFill>
                <a:latin typeface="Century" panose="02040604050505020304" pitchFamily="18" charset="0"/>
                <a:sym typeface="Didact Gothic"/>
              </a:rPr>
              <a:t>chính</a:t>
            </a:r>
            <a:r>
              <a:rPr sz="2500" dirty="0">
                <a:solidFill>
                  <a:schemeClr val="dk1"/>
                </a:solidFill>
                <a:latin typeface="Century" panose="02040604050505020304" pitchFamily="18" charset="0"/>
                <a:sym typeface="Didact Gothic"/>
              </a:rPr>
              <a: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03F9A9C-AA92-A321-A222-A0AB3CBB2D70}"/>
              </a:ext>
            </a:extLst>
          </p:cNvPr>
          <p:cNvPicPr>
            <a:picLocks noChangeAspect="1"/>
          </p:cNvPicPr>
          <p:nvPr/>
        </p:nvPicPr>
        <p:blipFill>
          <a:blip r:embed="rId2"/>
          <a:stretch>
            <a:fillRect/>
          </a:stretch>
        </p:blipFill>
        <p:spPr>
          <a:xfrm>
            <a:off x="0" y="374906"/>
            <a:ext cx="7882089" cy="4393688"/>
          </a:xfrm>
          <a:prstGeom prst="rect">
            <a:avLst/>
          </a:prstGeom>
        </p:spPr>
      </p:pic>
      <p:sp>
        <p:nvSpPr>
          <p:cNvPr id="7" name="TextBox 6">
            <a:extLst>
              <a:ext uri="{FF2B5EF4-FFF2-40B4-BE49-F238E27FC236}">
                <a16:creationId xmlns:a16="http://schemas.microsoft.com/office/drawing/2014/main" id="{E01C538C-9260-D638-4E22-56C6D5132556}"/>
              </a:ext>
            </a:extLst>
          </p:cNvPr>
          <p:cNvSpPr txBox="1"/>
          <p:nvPr/>
        </p:nvSpPr>
        <p:spPr>
          <a:xfrm>
            <a:off x="7882089" y="736721"/>
            <a:ext cx="1242283" cy="4031873"/>
          </a:xfrm>
          <a:prstGeom prst="rect">
            <a:avLst/>
          </a:prstGeom>
          <a:noFill/>
        </p:spPr>
        <p:txBody>
          <a:bodyPr wrap="square">
            <a:spAutoFit/>
          </a:bodyPr>
          <a:lstStyle/>
          <a:p>
            <a:r>
              <a:rPr lang="vi-VN" sz="1600" dirty="0"/>
              <a:t>Hình 8. </a:t>
            </a:r>
            <a:endParaRPr lang="en-US" sz="1600" dirty="0"/>
          </a:p>
          <a:p>
            <a:r>
              <a:rPr lang="vi-VN" sz="1600" dirty="0"/>
              <a:t>Top 10 quốc gia theo doanh thu gộp. Kết quả phản ánh mức độ tập trung thị trường và là cơ sở để thảo luận rủi ro phụ thuộc thị trường chính.</a:t>
            </a:r>
            <a:endParaRPr lang="en-US" sz="1600" dirty="0"/>
          </a:p>
        </p:txBody>
      </p:sp>
    </p:spTree>
    <p:extLst>
      <p:ext uri="{BB962C8B-B14F-4D97-AF65-F5344CB8AC3E}">
        <p14:creationId xmlns:p14="http://schemas.microsoft.com/office/powerpoint/2010/main" val="21100854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7D201-2A69-4C72-A934-B1D7E3089FDB}"/>
              </a:ext>
            </a:extLst>
          </p:cNvPr>
          <p:cNvSpPr>
            <a:spLocks noGrp="1"/>
          </p:cNvSpPr>
          <p:nvPr>
            <p:ph type="title"/>
          </p:nvPr>
        </p:nvSpPr>
        <p:spPr>
          <a:xfrm>
            <a:off x="2317949" y="1307100"/>
            <a:ext cx="5239621" cy="2529300"/>
          </a:xfrm>
        </p:spPr>
        <p:txBody>
          <a:bodyPr/>
          <a:lstStyle/>
          <a:p>
            <a:r>
              <a:rPr lang="en-US" dirty="0"/>
              <a:t>4. INSIGHTS</a:t>
            </a:r>
          </a:p>
        </p:txBody>
      </p:sp>
    </p:spTree>
    <p:extLst>
      <p:ext uri="{BB962C8B-B14F-4D97-AF65-F5344CB8AC3E}">
        <p14:creationId xmlns:p14="http://schemas.microsoft.com/office/powerpoint/2010/main" val="40966274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04C6A-C246-EFF2-F4E0-B57F852896D1}"/>
              </a:ext>
            </a:extLst>
          </p:cNvPr>
          <p:cNvSpPr>
            <a:spLocks noGrp="1"/>
          </p:cNvSpPr>
          <p:nvPr>
            <p:ph type="title"/>
          </p:nvPr>
        </p:nvSpPr>
        <p:spPr>
          <a:xfrm>
            <a:off x="2317949" y="1307100"/>
            <a:ext cx="5756375" cy="2529300"/>
          </a:xfrm>
          <a:noFill/>
          <a:ln>
            <a:noFill/>
          </a:ln>
        </p:spPr>
        <p:txBody>
          <a:bodyPr spcFirstLastPara="1" wrap="square" lIns="91425" tIns="91425" rIns="91425" bIns="91425" anchor="ctr" anchorCtr="0">
            <a:noAutofit/>
          </a:bodyPr>
          <a:lstStyle/>
          <a:p>
            <a:pPr>
              <a:spcBef>
                <a:spcPts val="300"/>
              </a:spcBef>
              <a:spcAft>
                <a:spcPts val="300"/>
              </a:spcAft>
            </a:pPr>
            <a:r>
              <a:rPr lang="en-US" sz="4000" dirty="0">
                <a:latin typeface="Montserrat" panose="00000500000000000000" pitchFamily="2" charset="0"/>
              </a:rPr>
              <a:t>4.1. NHẬN ĐỊNH VÀ </a:t>
            </a:r>
            <a:br>
              <a:rPr lang="en-US" sz="4000" dirty="0">
                <a:latin typeface="Montserrat" panose="00000500000000000000" pitchFamily="2" charset="0"/>
              </a:rPr>
            </a:br>
            <a:r>
              <a:rPr lang="en-US" sz="4000" dirty="0">
                <a:latin typeface="Montserrat" panose="00000500000000000000" pitchFamily="2" charset="0"/>
              </a:rPr>
              <a:t>RỦI RO </a:t>
            </a:r>
          </a:p>
        </p:txBody>
      </p:sp>
    </p:spTree>
    <p:extLst>
      <p:ext uri="{BB962C8B-B14F-4D97-AF65-F5344CB8AC3E}">
        <p14:creationId xmlns:p14="http://schemas.microsoft.com/office/powerpoint/2010/main" val="39292028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23268" y="351046"/>
            <a:ext cx="4573018" cy="913322"/>
          </a:xfrm>
          <a:noFill/>
          <a:ln>
            <a:noFill/>
          </a:ln>
        </p:spPr>
        <p:txBody>
          <a:bodyPr spcFirstLastPara="1" wrap="square" lIns="91425" tIns="91425" rIns="91425" bIns="91425" anchor="t" anchorCtr="0">
            <a:noAutofit/>
          </a:bodyPr>
          <a:lstStyle/>
          <a:p>
            <a:pPr algn="ctr"/>
            <a:r>
              <a:rPr sz="4000" dirty="0" err="1">
                <a:latin typeface="Aptos Display" panose="020B0004020202020204" pitchFamily="34" charset="0"/>
              </a:rPr>
              <a:t>Nhận</a:t>
            </a:r>
            <a:r>
              <a:rPr sz="4000" dirty="0">
                <a:latin typeface="Aptos Display" panose="020B0004020202020204" pitchFamily="34" charset="0"/>
              </a:rPr>
              <a:t> </a:t>
            </a:r>
            <a:r>
              <a:rPr sz="4000" dirty="0" err="1">
                <a:latin typeface="Aptos Display" panose="020B0004020202020204" pitchFamily="34" charset="0"/>
              </a:rPr>
              <a:t>định</a:t>
            </a:r>
            <a:r>
              <a:rPr sz="4000" dirty="0">
                <a:latin typeface="Aptos Display" panose="020B0004020202020204" pitchFamily="34" charset="0"/>
              </a:rPr>
              <a:t> </a:t>
            </a:r>
            <a:r>
              <a:rPr lang="en-US" sz="4000" dirty="0" err="1">
                <a:latin typeface="Aptos Display" panose="020B0004020202020204" pitchFamily="34" charset="0"/>
              </a:rPr>
              <a:t>chính</a:t>
            </a:r>
            <a:endParaRPr sz="4000" dirty="0">
              <a:latin typeface="Aptos Display" panose="020B0004020202020204" pitchFamily="34" charset="0"/>
            </a:endParaRPr>
          </a:p>
        </p:txBody>
      </p:sp>
      <p:sp>
        <p:nvSpPr>
          <p:cNvPr id="4" name="Picture Placeholder 3"/>
          <p:cNvSpPr>
            <a:spLocks noGrp="1"/>
          </p:cNvSpPr>
          <p:nvPr>
            <p:ph type="pic" idx="4294967295"/>
          </p:nvPr>
        </p:nvSpPr>
        <p:spPr>
          <a:xfrm>
            <a:off x="223268" y="1264368"/>
            <a:ext cx="8697461" cy="2306968"/>
          </a:xfrm>
          <a:noFill/>
          <a:ln>
            <a:noFill/>
          </a:ln>
        </p:spPr>
        <p:txBody>
          <a:bodyPr/>
          <a:lstStyle/>
          <a:p>
            <a:pPr marL="0" indent="0">
              <a:buNone/>
            </a:pPr>
            <a:r>
              <a:rPr sz="2500" dirty="0">
                <a:latin typeface="Century" panose="02040604050505020304" pitchFamily="18" charset="0"/>
              </a:rPr>
              <a:t>Doanh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có</a:t>
            </a:r>
            <a:r>
              <a:rPr sz="2500" dirty="0">
                <a:latin typeface="Century" panose="02040604050505020304" pitchFamily="18" charset="0"/>
              </a:rPr>
              <a:t> xu </a:t>
            </a: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tăng</a:t>
            </a:r>
            <a:r>
              <a:rPr sz="2500" dirty="0">
                <a:latin typeface="Century" panose="02040604050505020304" pitchFamily="18" charset="0"/>
              </a:rPr>
              <a:t> </a:t>
            </a:r>
            <a:r>
              <a:rPr sz="2500" dirty="0" err="1">
                <a:latin typeface="Century" panose="02040604050505020304" pitchFamily="18" charset="0"/>
              </a:rPr>
              <a:t>trưởng</a:t>
            </a:r>
            <a:r>
              <a:rPr sz="2500" dirty="0">
                <a:latin typeface="Century" panose="02040604050505020304" pitchFamily="18" charset="0"/>
              </a:rPr>
              <a:t> </a:t>
            </a:r>
            <a:r>
              <a:rPr sz="2500" dirty="0" err="1">
                <a:latin typeface="Century" panose="02040604050505020304" pitchFamily="18" charset="0"/>
              </a:rPr>
              <a:t>tích</a:t>
            </a:r>
            <a:r>
              <a:rPr sz="2500" dirty="0">
                <a:latin typeface="Century" panose="02040604050505020304" pitchFamily="18" charset="0"/>
              </a:rPr>
              <a:t> </a:t>
            </a:r>
            <a:r>
              <a:rPr sz="2500" dirty="0" err="1">
                <a:latin typeface="Century" panose="02040604050505020304" pitchFamily="18" charset="0"/>
              </a:rPr>
              <a:t>cực</a:t>
            </a:r>
            <a:r>
              <a:rPr sz="2500" dirty="0">
                <a:latin typeface="Century" panose="02040604050505020304" pitchFamily="18" charset="0"/>
              </a:rPr>
              <a:t> </a:t>
            </a:r>
            <a:r>
              <a:rPr sz="2500" dirty="0" err="1">
                <a:latin typeface="Century" panose="02040604050505020304" pitchFamily="18" charset="0"/>
              </a:rPr>
              <a:t>nhưng</a:t>
            </a:r>
            <a:r>
              <a:rPr sz="2500" dirty="0">
                <a:latin typeface="Century" panose="02040604050505020304" pitchFamily="18" charset="0"/>
              </a:rPr>
              <a:t> </a:t>
            </a:r>
            <a:r>
              <a:rPr sz="2500" dirty="0" err="1">
                <a:latin typeface="Century" panose="02040604050505020304" pitchFamily="18" charset="0"/>
              </a:rPr>
              <a:t>phụ</a:t>
            </a:r>
            <a:r>
              <a:rPr sz="2500" dirty="0">
                <a:latin typeface="Century" panose="02040604050505020304" pitchFamily="18" charset="0"/>
              </a:rPr>
              <a:t> </a:t>
            </a:r>
            <a:r>
              <a:rPr sz="2500" dirty="0" err="1">
                <a:latin typeface="Century" panose="02040604050505020304" pitchFamily="18" charset="0"/>
              </a:rPr>
              <a:t>thuộc</a:t>
            </a:r>
            <a:r>
              <a:rPr sz="2500" dirty="0">
                <a:latin typeface="Century" panose="02040604050505020304" pitchFamily="18" charset="0"/>
              </a:rPr>
              <a:t> </a:t>
            </a:r>
            <a:r>
              <a:rPr sz="2500" dirty="0" err="1">
                <a:latin typeface="Century" panose="02040604050505020304" pitchFamily="18" charset="0"/>
              </a:rPr>
              <a:t>vào</a:t>
            </a:r>
            <a:r>
              <a:rPr sz="2500" dirty="0">
                <a:latin typeface="Century" panose="02040604050505020304" pitchFamily="18" charset="0"/>
              </a:rPr>
              <a:t> </a:t>
            </a:r>
            <a:r>
              <a:rPr sz="2500" dirty="0" err="1">
                <a:latin typeface="Century" panose="02040604050505020304" pitchFamily="18" charset="0"/>
              </a:rPr>
              <a:t>một</a:t>
            </a:r>
            <a:r>
              <a:rPr sz="2500" dirty="0">
                <a:latin typeface="Century" panose="02040604050505020304" pitchFamily="18" charset="0"/>
              </a:rPr>
              <a:t> </a:t>
            </a:r>
            <a:r>
              <a:rPr sz="2500" dirty="0" err="1">
                <a:latin typeface="Century" panose="02040604050505020304" pitchFamily="18" charset="0"/>
              </a:rPr>
              <a:t>số</a:t>
            </a:r>
            <a:r>
              <a:rPr sz="2500" dirty="0">
                <a:latin typeface="Century" panose="02040604050505020304" pitchFamily="18" charset="0"/>
              </a:rPr>
              <a:t> </a:t>
            </a:r>
            <a:r>
              <a:rPr sz="2500" dirty="0" err="1">
                <a:latin typeface="Century" panose="02040604050505020304" pitchFamily="18" charset="0"/>
              </a:rPr>
              <a:t>sản</a:t>
            </a:r>
            <a:r>
              <a:rPr sz="2500" dirty="0">
                <a:latin typeface="Century" panose="02040604050505020304" pitchFamily="18" charset="0"/>
              </a:rPr>
              <a:t> </a:t>
            </a:r>
            <a:r>
              <a:rPr sz="2500" dirty="0" err="1">
                <a:latin typeface="Century" panose="02040604050505020304" pitchFamily="18" charset="0"/>
              </a:rPr>
              <a:t>phẩm</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khách</a:t>
            </a:r>
            <a:r>
              <a:rPr sz="2500" dirty="0">
                <a:latin typeface="Century" panose="02040604050505020304" pitchFamily="18" charset="0"/>
              </a:rPr>
              <a:t> </a:t>
            </a:r>
            <a:r>
              <a:rPr sz="2500" dirty="0" err="1">
                <a:latin typeface="Century" panose="02040604050505020304" pitchFamily="18" charset="0"/>
              </a:rPr>
              <a:t>hàng</a:t>
            </a:r>
            <a:r>
              <a:rPr sz="2500" dirty="0">
                <a:latin typeface="Century" panose="02040604050505020304" pitchFamily="18" charset="0"/>
              </a:rPr>
              <a:t> </a:t>
            </a:r>
            <a:r>
              <a:rPr sz="2500" dirty="0" err="1">
                <a:latin typeface="Century" panose="02040604050505020304" pitchFamily="18" charset="0"/>
              </a:rPr>
              <a:t>chủ</a:t>
            </a:r>
            <a:r>
              <a:rPr sz="2500" dirty="0">
                <a:latin typeface="Century" panose="02040604050505020304" pitchFamily="18" charset="0"/>
              </a:rPr>
              <a:t> </a:t>
            </a:r>
            <a:r>
              <a:rPr sz="2500" dirty="0" err="1">
                <a:latin typeface="Century" panose="02040604050505020304" pitchFamily="18" charset="0"/>
              </a:rPr>
              <a:t>chốt</a:t>
            </a:r>
            <a:r>
              <a:rPr sz="2500" dirty="0">
                <a:latin typeface="Century" panose="02040604050505020304" pitchFamily="18" charset="0"/>
              </a:rPr>
              <a:t>. </a:t>
            </a:r>
            <a:endParaRPr lang="en-US" sz="2500" dirty="0">
              <a:latin typeface="Century" panose="02040604050505020304" pitchFamily="18" charset="0"/>
            </a:endParaRPr>
          </a:p>
          <a:p>
            <a:pPr marL="0" indent="0">
              <a:buNone/>
            </a:pPr>
            <a:r>
              <a:rPr sz="2500" dirty="0" err="1">
                <a:latin typeface="Century" panose="02040604050505020304" pitchFamily="18" charset="0"/>
              </a:rPr>
              <a:t>Yếu</a:t>
            </a:r>
            <a:r>
              <a:rPr sz="2500" dirty="0">
                <a:latin typeface="Century" panose="02040604050505020304" pitchFamily="18" charset="0"/>
              </a:rPr>
              <a:t> </a:t>
            </a:r>
            <a:r>
              <a:rPr sz="2500" dirty="0" err="1">
                <a:latin typeface="Century" panose="02040604050505020304" pitchFamily="18" charset="0"/>
              </a:rPr>
              <a:t>tố</a:t>
            </a:r>
            <a:r>
              <a:rPr sz="2500" dirty="0">
                <a:latin typeface="Century" panose="02040604050505020304" pitchFamily="18" charset="0"/>
              </a:rPr>
              <a:t> </a:t>
            </a:r>
            <a:r>
              <a:rPr sz="2500" dirty="0" err="1">
                <a:latin typeface="Century" panose="02040604050505020304" pitchFamily="18" charset="0"/>
              </a:rPr>
              <a:t>mùa</a:t>
            </a:r>
            <a:r>
              <a:rPr sz="2500" dirty="0">
                <a:latin typeface="Century" panose="02040604050505020304" pitchFamily="18" charset="0"/>
              </a:rPr>
              <a:t> </a:t>
            </a:r>
            <a:r>
              <a:rPr sz="2500" dirty="0" err="1">
                <a:latin typeface="Century" panose="02040604050505020304" pitchFamily="18" charset="0"/>
              </a:rPr>
              <a:t>vụ</a:t>
            </a:r>
            <a:r>
              <a:rPr sz="2500" dirty="0">
                <a:latin typeface="Century" panose="02040604050505020304" pitchFamily="18" charset="0"/>
              </a:rPr>
              <a:t> </a:t>
            </a:r>
            <a:r>
              <a:rPr sz="2500" dirty="0" err="1">
                <a:latin typeface="Century" panose="02040604050505020304" pitchFamily="18" charset="0"/>
              </a:rPr>
              <a:t>đóng</a:t>
            </a:r>
            <a:r>
              <a:rPr sz="2500" dirty="0">
                <a:latin typeface="Century" panose="02040604050505020304" pitchFamily="18" charset="0"/>
              </a:rPr>
              <a:t> </a:t>
            </a:r>
            <a:r>
              <a:rPr sz="2500" dirty="0" err="1">
                <a:latin typeface="Century" panose="02040604050505020304" pitchFamily="18" charset="0"/>
              </a:rPr>
              <a:t>vai</a:t>
            </a:r>
            <a:r>
              <a:rPr sz="2500" dirty="0">
                <a:latin typeface="Century" panose="02040604050505020304" pitchFamily="18" charset="0"/>
              </a:rPr>
              <a:t> </a:t>
            </a:r>
            <a:r>
              <a:rPr sz="2500" dirty="0" err="1">
                <a:latin typeface="Century" panose="02040604050505020304" pitchFamily="18" charset="0"/>
              </a:rPr>
              <a:t>trò</a:t>
            </a:r>
            <a:r>
              <a:rPr sz="2500" dirty="0">
                <a:latin typeface="Century" panose="02040604050505020304" pitchFamily="18" charset="0"/>
              </a:rPr>
              <a:t> </a:t>
            </a:r>
            <a:r>
              <a:rPr sz="2500" dirty="0" err="1">
                <a:latin typeface="Century" panose="02040604050505020304" pitchFamily="18" charset="0"/>
              </a:rPr>
              <a:t>quan</a:t>
            </a:r>
            <a:r>
              <a:rPr sz="2500" dirty="0">
                <a:latin typeface="Century" panose="02040604050505020304" pitchFamily="18" charset="0"/>
              </a:rPr>
              <a:t> </a:t>
            </a:r>
            <a:r>
              <a:rPr sz="2500" dirty="0" err="1">
                <a:latin typeface="Century" panose="02040604050505020304" pitchFamily="18" charset="0"/>
              </a:rPr>
              <a:t>trọng</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a:t>
            </a:r>
            <a:r>
              <a:rPr sz="2500" dirty="0" err="1">
                <a:latin typeface="Century" panose="02040604050505020304" pitchFamily="18" charset="0"/>
              </a:rPr>
              <a:t>việc</a:t>
            </a:r>
            <a:r>
              <a:rPr sz="2500" dirty="0">
                <a:latin typeface="Century" panose="02040604050505020304" pitchFamily="18" charset="0"/>
              </a:rPr>
              <a:t> </a:t>
            </a:r>
            <a:r>
              <a:rPr sz="2500" dirty="0" err="1">
                <a:latin typeface="Century" panose="02040604050505020304" pitchFamily="18" charset="0"/>
              </a:rPr>
              <a:t>hình</a:t>
            </a:r>
            <a:r>
              <a:rPr sz="2500" dirty="0">
                <a:latin typeface="Century" panose="02040604050505020304" pitchFamily="18" charset="0"/>
              </a:rPr>
              <a:t> </a:t>
            </a:r>
            <a:r>
              <a:rPr sz="2500" dirty="0" err="1">
                <a:latin typeface="Century" panose="02040604050505020304" pitchFamily="18" charset="0"/>
              </a:rPr>
              <a:t>thành</a:t>
            </a:r>
            <a:r>
              <a:rPr sz="2500" dirty="0">
                <a:latin typeface="Century" panose="02040604050505020304" pitchFamily="18" charset="0"/>
              </a:rPr>
              <a:t> </a:t>
            </a:r>
            <a:r>
              <a:rPr sz="2500" dirty="0" err="1">
                <a:latin typeface="Century" panose="02040604050505020304" pitchFamily="18" charset="0"/>
              </a:rPr>
              <a:t>các</a:t>
            </a:r>
            <a:r>
              <a:rPr sz="2500" dirty="0">
                <a:latin typeface="Century" panose="02040604050505020304" pitchFamily="18" charset="0"/>
              </a:rPr>
              <a:t> </a:t>
            </a:r>
            <a:r>
              <a:rPr sz="2500" dirty="0" err="1">
                <a:latin typeface="Century" panose="02040604050505020304" pitchFamily="18" charset="0"/>
              </a:rPr>
              <a:t>pha</a:t>
            </a:r>
            <a:r>
              <a:rPr sz="2500" dirty="0">
                <a:latin typeface="Century" panose="02040604050505020304" pitchFamily="18" charset="0"/>
              </a:rPr>
              <a:t> </a:t>
            </a:r>
            <a:r>
              <a:rPr sz="2500" dirty="0" err="1">
                <a:latin typeface="Century" panose="02040604050505020304" pitchFamily="18" charset="0"/>
              </a:rPr>
              <a:t>tăng</a:t>
            </a:r>
            <a:r>
              <a:rPr sz="2500" dirty="0">
                <a:latin typeface="Century" panose="02040604050505020304" pitchFamily="18" charset="0"/>
              </a:rPr>
              <a:t> – </a:t>
            </a:r>
            <a:r>
              <a:rPr sz="2500" dirty="0" err="1">
                <a:latin typeface="Century" panose="02040604050505020304" pitchFamily="18" charset="0"/>
              </a:rPr>
              <a:t>giảm</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a:t>
            </a:r>
            <a:r>
              <a:rPr sz="2500" dirty="0" err="1">
                <a:latin typeface="Century" panose="02040604050505020304" pitchFamily="18" charset="0"/>
              </a:rPr>
              <a:t>năm</a:t>
            </a:r>
            <a:r>
              <a:rPr sz="2500" dirty="0">
                <a:latin typeface="Century" panose="02040604050505020304" pitchFamily="18" charset="0"/>
              </a:rPr>
              <a:t>, </a:t>
            </a:r>
            <a:r>
              <a:rPr sz="2500" dirty="0" err="1">
                <a:latin typeface="Century" panose="02040604050505020304" pitchFamily="18" charset="0"/>
              </a:rPr>
              <a:t>cho</a:t>
            </a:r>
            <a:r>
              <a:rPr sz="2500" dirty="0">
                <a:latin typeface="Century" panose="02040604050505020304" pitchFamily="18" charset="0"/>
              </a:rPr>
              <a:t> </a:t>
            </a:r>
            <a:r>
              <a:rPr sz="2500" dirty="0" err="1">
                <a:latin typeface="Century" panose="02040604050505020304" pitchFamily="18" charset="0"/>
              </a:rPr>
              <a:t>thấy</a:t>
            </a:r>
            <a:r>
              <a:rPr sz="2500" dirty="0">
                <a:latin typeface="Century" panose="02040604050505020304" pitchFamily="18" charset="0"/>
              </a:rPr>
              <a:t> </a:t>
            </a:r>
            <a:r>
              <a:rPr sz="2500" dirty="0" err="1">
                <a:latin typeface="Century" panose="02040604050505020304" pitchFamily="18" charset="0"/>
              </a:rPr>
              <a:t>cơ</a:t>
            </a:r>
            <a:r>
              <a:rPr sz="2500" dirty="0">
                <a:latin typeface="Century" panose="02040604050505020304" pitchFamily="18" charset="0"/>
              </a:rPr>
              <a:t> </a:t>
            </a:r>
            <a:r>
              <a:rPr sz="2500" dirty="0" err="1">
                <a:latin typeface="Century" panose="02040604050505020304" pitchFamily="18" charset="0"/>
              </a:rPr>
              <a:t>cấu</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chưa</a:t>
            </a:r>
            <a:r>
              <a:rPr sz="2500" dirty="0">
                <a:latin typeface="Century" panose="02040604050505020304" pitchFamily="18" charset="0"/>
              </a:rPr>
              <a:t> </a:t>
            </a:r>
            <a:r>
              <a:rPr sz="2500" dirty="0" err="1">
                <a:latin typeface="Century" panose="02040604050505020304" pitchFamily="18" charset="0"/>
              </a:rPr>
              <a:t>thực</a:t>
            </a:r>
            <a:r>
              <a:rPr sz="2500" dirty="0">
                <a:latin typeface="Century" panose="02040604050505020304" pitchFamily="18" charset="0"/>
              </a:rPr>
              <a:t> </a:t>
            </a:r>
            <a:r>
              <a:rPr sz="2500" dirty="0" err="1">
                <a:latin typeface="Century" panose="02040604050505020304" pitchFamily="18" charset="0"/>
              </a:rPr>
              <a:t>sự</a:t>
            </a:r>
            <a:r>
              <a:rPr sz="2500" dirty="0">
                <a:latin typeface="Century" panose="02040604050505020304" pitchFamily="18" charset="0"/>
              </a:rPr>
              <a:t> </a:t>
            </a:r>
            <a:r>
              <a:rPr sz="2500" dirty="0" err="1">
                <a:latin typeface="Century" panose="02040604050505020304" pitchFamily="18" charset="0"/>
              </a:rPr>
              <a:t>cân</a:t>
            </a:r>
            <a:r>
              <a:rPr sz="2500" dirty="0">
                <a:latin typeface="Century" panose="02040604050505020304" pitchFamily="18" charset="0"/>
              </a:rPr>
              <a:t> </a:t>
            </a:r>
            <a:r>
              <a:rPr sz="2500" dirty="0" err="1">
                <a:latin typeface="Century" panose="02040604050505020304" pitchFamily="18" charset="0"/>
              </a:rPr>
              <a:t>bằng</a:t>
            </a:r>
            <a:r>
              <a:rPr sz="2500" dirty="0">
                <a:latin typeface="Century" panose="02040604050505020304" pitchFamily="18" charset="0"/>
              </a:rPr>
              <a: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414070" y="277123"/>
            <a:ext cx="3467818" cy="1211263"/>
          </a:xfrm>
          <a:noFill/>
          <a:ln>
            <a:noFill/>
          </a:ln>
        </p:spPr>
        <p:txBody>
          <a:bodyPr spcFirstLastPara="1" wrap="square" lIns="91425" tIns="91425" rIns="91425" bIns="91425" anchor="t" anchorCtr="0">
            <a:noAutofit/>
          </a:bodyPr>
          <a:lstStyle/>
          <a:p>
            <a:pPr algn="ctr"/>
            <a:r>
              <a:rPr sz="4000" dirty="0" err="1">
                <a:latin typeface="Aptos Display" panose="020B0004020202020204" pitchFamily="34" charset="0"/>
              </a:rPr>
              <a:t>Rủi</a:t>
            </a:r>
            <a:r>
              <a:rPr sz="4000" dirty="0">
                <a:latin typeface="Aptos Display" panose="020B0004020202020204" pitchFamily="34" charset="0"/>
              </a:rPr>
              <a:t> </a:t>
            </a:r>
            <a:r>
              <a:rPr sz="4000" dirty="0" err="1">
                <a:latin typeface="Aptos Display" panose="020B0004020202020204" pitchFamily="34" charset="0"/>
              </a:rPr>
              <a:t>ro</a:t>
            </a:r>
            <a:r>
              <a:rPr sz="4000" dirty="0">
                <a:latin typeface="Aptos Display" panose="020B0004020202020204" pitchFamily="34" charset="0"/>
              </a:rPr>
              <a:t> </a:t>
            </a:r>
            <a:r>
              <a:rPr sz="4000" dirty="0" err="1">
                <a:latin typeface="Aptos Display" panose="020B0004020202020204" pitchFamily="34" charset="0"/>
              </a:rPr>
              <a:t>tiềm</a:t>
            </a:r>
            <a:r>
              <a:rPr sz="4000" dirty="0">
                <a:latin typeface="Aptos Display" panose="020B0004020202020204" pitchFamily="34" charset="0"/>
              </a:rPr>
              <a:t> </a:t>
            </a:r>
            <a:r>
              <a:rPr sz="4000" dirty="0" err="1">
                <a:latin typeface="Aptos Display" panose="020B0004020202020204" pitchFamily="34" charset="0"/>
              </a:rPr>
              <a:t>ẩn</a:t>
            </a:r>
            <a:endParaRPr sz="4000" dirty="0">
              <a:latin typeface="Aptos Display" panose="020B0004020202020204" pitchFamily="34" charset="0"/>
            </a:endParaRPr>
          </a:p>
        </p:txBody>
      </p:sp>
      <p:sp>
        <p:nvSpPr>
          <p:cNvPr id="4" name="Picture Placeholder 3"/>
          <p:cNvSpPr>
            <a:spLocks noGrp="1"/>
          </p:cNvSpPr>
          <p:nvPr>
            <p:ph type="pic" idx="4294967295"/>
          </p:nvPr>
        </p:nvSpPr>
        <p:spPr>
          <a:xfrm>
            <a:off x="319177" y="1144677"/>
            <a:ext cx="8505645" cy="2854145"/>
          </a:xfrm>
          <a:noFill/>
          <a:ln>
            <a:noFill/>
          </a:ln>
        </p:spPr>
        <p:txBody>
          <a:bodyPr/>
          <a:lstStyle/>
          <a:p>
            <a:pPr marL="0" indent="0">
              <a:buNone/>
            </a:pPr>
            <a:r>
              <a:rPr sz="2500" dirty="0" err="1">
                <a:latin typeface="Century" panose="02040604050505020304" pitchFamily="18" charset="0"/>
              </a:rPr>
              <a:t>Mức</a:t>
            </a:r>
            <a:r>
              <a:rPr sz="2500" dirty="0">
                <a:latin typeface="Century" panose="02040604050505020304" pitchFamily="18" charset="0"/>
              </a:rPr>
              <a:t> </a:t>
            </a:r>
            <a:r>
              <a:rPr sz="2500" dirty="0" err="1">
                <a:latin typeface="Century" panose="02040604050505020304" pitchFamily="18" charset="0"/>
              </a:rPr>
              <a:t>độ</a:t>
            </a:r>
            <a:r>
              <a:rPr sz="2500" dirty="0">
                <a:latin typeface="Century" panose="02040604050505020304" pitchFamily="18" charset="0"/>
              </a:rPr>
              <a:t> </a:t>
            </a:r>
            <a:r>
              <a:rPr sz="2500" dirty="0" err="1">
                <a:latin typeface="Century" panose="02040604050505020304" pitchFamily="18" charset="0"/>
              </a:rPr>
              <a:t>tập</a:t>
            </a:r>
            <a:r>
              <a:rPr sz="2500" dirty="0">
                <a:latin typeface="Century" panose="02040604050505020304" pitchFamily="18" charset="0"/>
              </a:rPr>
              <a:t> </a:t>
            </a:r>
            <a:r>
              <a:rPr sz="2500" dirty="0" err="1">
                <a:latin typeface="Century" panose="02040604050505020304" pitchFamily="18" charset="0"/>
              </a:rPr>
              <a:t>trung</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thu</a:t>
            </a:r>
            <a:r>
              <a:rPr sz="2500" dirty="0">
                <a:latin typeface="Century" panose="02040604050505020304" pitchFamily="18" charset="0"/>
              </a:rPr>
              <a:t> </a:t>
            </a:r>
            <a:r>
              <a:rPr sz="2500" dirty="0" err="1">
                <a:latin typeface="Century" panose="02040604050505020304" pitchFamily="18" charset="0"/>
              </a:rPr>
              <a:t>cao</a:t>
            </a:r>
            <a:r>
              <a:rPr sz="2500" dirty="0">
                <a:latin typeface="Century" panose="02040604050505020304" pitchFamily="18" charset="0"/>
              </a:rPr>
              <a:t> </a:t>
            </a:r>
            <a:r>
              <a:rPr sz="2500" dirty="0" err="1">
                <a:latin typeface="Century" panose="02040604050505020304" pitchFamily="18" charset="0"/>
              </a:rPr>
              <a:t>làm</a:t>
            </a:r>
            <a:r>
              <a:rPr sz="2500" dirty="0">
                <a:latin typeface="Century" panose="02040604050505020304" pitchFamily="18" charset="0"/>
              </a:rPr>
              <a:t> </a:t>
            </a:r>
            <a:r>
              <a:rPr sz="2500" dirty="0" err="1">
                <a:latin typeface="Century" panose="02040604050505020304" pitchFamily="18" charset="0"/>
              </a:rPr>
              <a:t>gia</a:t>
            </a:r>
            <a:r>
              <a:rPr sz="2500" dirty="0">
                <a:latin typeface="Century" panose="02040604050505020304" pitchFamily="18" charset="0"/>
              </a:rPr>
              <a:t> </a:t>
            </a:r>
            <a:r>
              <a:rPr sz="2500" dirty="0" err="1">
                <a:latin typeface="Century" panose="02040604050505020304" pitchFamily="18" charset="0"/>
              </a:rPr>
              <a:t>tăng</a:t>
            </a:r>
            <a:r>
              <a:rPr sz="2500" dirty="0">
                <a:latin typeface="Century" panose="02040604050505020304" pitchFamily="18" charset="0"/>
              </a:rPr>
              <a:t> </a:t>
            </a:r>
            <a:r>
              <a:rPr sz="2500" dirty="0" err="1">
                <a:latin typeface="Century" panose="02040604050505020304" pitchFamily="18" charset="0"/>
              </a:rPr>
              <a:t>rủi</a:t>
            </a:r>
            <a:r>
              <a:rPr sz="2500" dirty="0">
                <a:latin typeface="Century" panose="02040604050505020304" pitchFamily="18" charset="0"/>
              </a:rPr>
              <a:t> </a:t>
            </a:r>
            <a:r>
              <a:rPr sz="2500" dirty="0" err="1">
                <a:latin typeface="Century" panose="02040604050505020304" pitchFamily="18" charset="0"/>
              </a:rPr>
              <a:t>ro</a:t>
            </a:r>
            <a:r>
              <a:rPr sz="2500" dirty="0">
                <a:latin typeface="Century" panose="02040604050505020304" pitchFamily="18" charset="0"/>
              </a:rPr>
              <a:t> </a:t>
            </a:r>
            <a:r>
              <a:rPr sz="2500" dirty="0" err="1">
                <a:latin typeface="Century" panose="02040604050505020304" pitchFamily="18" charset="0"/>
              </a:rPr>
              <a:t>khi</a:t>
            </a:r>
            <a:r>
              <a:rPr sz="2500" dirty="0">
                <a:latin typeface="Century" panose="02040604050505020304" pitchFamily="18" charset="0"/>
              </a:rPr>
              <a:t> </a:t>
            </a:r>
            <a:r>
              <a:rPr sz="2500" dirty="0" err="1">
                <a:latin typeface="Century" panose="02040604050505020304" pitchFamily="18" charset="0"/>
              </a:rPr>
              <a:t>mất</a:t>
            </a:r>
            <a:r>
              <a:rPr sz="2500" dirty="0">
                <a:latin typeface="Century" panose="02040604050505020304" pitchFamily="18" charset="0"/>
              </a:rPr>
              <a:t> </a:t>
            </a:r>
            <a:r>
              <a:rPr sz="2500" dirty="0" err="1">
                <a:latin typeface="Century" panose="02040604050505020304" pitchFamily="18" charset="0"/>
              </a:rPr>
              <a:t>khách</a:t>
            </a:r>
            <a:r>
              <a:rPr sz="2500" dirty="0">
                <a:latin typeface="Century" panose="02040604050505020304" pitchFamily="18" charset="0"/>
              </a:rPr>
              <a:t> </a:t>
            </a:r>
            <a:r>
              <a:rPr sz="2500" dirty="0" err="1">
                <a:latin typeface="Century" panose="02040604050505020304" pitchFamily="18" charset="0"/>
              </a:rPr>
              <a:t>hàng</a:t>
            </a:r>
            <a:r>
              <a:rPr sz="2500" dirty="0">
                <a:latin typeface="Century" panose="02040604050505020304" pitchFamily="18" charset="0"/>
              </a:rPr>
              <a:t> </a:t>
            </a:r>
            <a:r>
              <a:rPr sz="2500" dirty="0" err="1">
                <a:latin typeface="Century" panose="02040604050505020304" pitchFamily="18" charset="0"/>
              </a:rPr>
              <a:t>lớn</a:t>
            </a:r>
            <a:r>
              <a:rPr sz="2500" dirty="0">
                <a:latin typeface="Century" panose="02040604050505020304" pitchFamily="18" charset="0"/>
              </a:rPr>
              <a:t> </a:t>
            </a:r>
            <a:r>
              <a:rPr sz="2500" dirty="0" err="1">
                <a:latin typeface="Century" panose="02040604050505020304" pitchFamily="18" charset="0"/>
              </a:rPr>
              <a:t>hoặc</a:t>
            </a:r>
            <a:r>
              <a:rPr sz="2500" dirty="0">
                <a:latin typeface="Century" panose="02040604050505020304" pitchFamily="18" charset="0"/>
              </a:rPr>
              <a:t> </a:t>
            </a:r>
            <a:r>
              <a:rPr sz="2500" dirty="0" err="1">
                <a:latin typeface="Century" panose="02040604050505020304" pitchFamily="18" charset="0"/>
              </a:rPr>
              <a:t>khi</a:t>
            </a:r>
            <a:r>
              <a:rPr sz="2500" dirty="0">
                <a:latin typeface="Century" panose="02040604050505020304" pitchFamily="18" charset="0"/>
              </a:rPr>
              <a:t> </a:t>
            </a:r>
            <a:r>
              <a:rPr sz="2500" dirty="0" err="1">
                <a:latin typeface="Century" panose="02040604050505020304" pitchFamily="18" charset="0"/>
              </a:rPr>
              <a:t>nhu</a:t>
            </a:r>
            <a:r>
              <a:rPr sz="2500" dirty="0">
                <a:latin typeface="Century" panose="02040604050505020304" pitchFamily="18" charset="0"/>
              </a:rPr>
              <a:t> </a:t>
            </a:r>
            <a:r>
              <a:rPr sz="2500" dirty="0" err="1">
                <a:latin typeface="Century" panose="02040604050505020304" pitchFamily="18" charset="0"/>
              </a:rPr>
              <a:t>cầu</a:t>
            </a:r>
            <a:r>
              <a:rPr sz="2500" dirty="0">
                <a:latin typeface="Century" panose="02040604050505020304" pitchFamily="18" charset="0"/>
              </a:rPr>
              <a:t> </a:t>
            </a:r>
            <a:r>
              <a:rPr sz="2500" dirty="0" err="1">
                <a:latin typeface="Century" panose="02040604050505020304" pitchFamily="18" charset="0"/>
              </a:rPr>
              <a:t>sản</a:t>
            </a:r>
            <a:r>
              <a:rPr sz="2500" dirty="0">
                <a:latin typeface="Century" panose="02040604050505020304" pitchFamily="18" charset="0"/>
              </a:rPr>
              <a:t> </a:t>
            </a:r>
            <a:r>
              <a:rPr sz="2500" dirty="0" err="1">
                <a:latin typeface="Century" panose="02040604050505020304" pitchFamily="18" charset="0"/>
              </a:rPr>
              <a:t>phẩm</a:t>
            </a:r>
            <a:r>
              <a:rPr sz="2500" dirty="0">
                <a:latin typeface="Century" panose="02040604050505020304" pitchFamily="18" charset="0"/>
              </a:rPr>
              <a:t> </a:t>
            </a:r>
            <a:r>
              <a:rPr sz="2500" dirty="0" err="1">
                <a:latin typeface="Century" panose="02040604050505020304" pitchFamily="18" charset="0"/>
              </a:rPr>
              <a:t>chủ</a:t>
            </a:r>
            <a:r>
              <a:rPr sz="2500" dirty="0">
                <a:latin typeface="Century" panose="02040604050505020304" pitchFamily="18" charset="0"/>
              </a:rPr>
              <a:t> </a:t>
            </a:r>
            <a:r>
              <a:rPr sz="2500" dirty="0" err="1">
                <a:latin typeface="Century" panose="02040604050505020304" pitchFamily="18" charset="0"/>
              </a:rPr>
              <a:t>lực</a:t>
            </a:r>
            <a:r>
              <a:rPr sz="2500" dirty="0">
                <a:latin typeface="Century" panose="02040604050505020304" pitchFamily="18" charset="0"/>
              </a:rPr>
              <a:t> </a:t>
            </a:r>
            <a:r>
              <a:rPr sz="2500" dirty="0" err="1">
                <a:latin typeface="Century" panose="02040604050505020304" pitchFamily="18" charset="0"/>
              </a:rPr>
              <a:t>suy</a:t>
            </a:r>
            <a:r>
              <a:rPr sz="2500" dirty="0">
                <a:latin typeface="Century" panose="02040604050505020304" pitchFamily="18" charset="0"/>
              </a:rPr>
              <a:t> </a:t>
            </a:r>
            <a:r>
              <a:rPr sz="2500" dirty="0" err="1">
                <a:latin typeface="Century" panose="02040604050505020304" pitchFamily="18" charset="0"/>
              </a:rPr>
              <a:t>giảm</a:t>
            </a:r>
            <a:r>
              <a:rPr sz="2500" dirty="0">
                <a:latin typeface="Century" panose="02040604050505020304" pitchFamily="18" charset="0"/>
              </a:rPr>
              <a:t>. </a:t>
            </a:r>
            <a:endParaRPr lang="en-US" sz="2500" dirty="0">
              <a:latin typeface="Century" panose="02040604050505020304" pitchFamily="18" charset="0"/>
            </a:endParaRPr>
          </a:p>
          <a:p>
            <a:pPr marL="0" indent="0">
              <a:buNone/>
            </a:pPr>
            <a:r>
              <a:rPr sz="2500" dirty="0">
                <a:latin typeface="Century" panose="02040604050505020304" pitchFamily="18" charset="0"/>
              </a:rPr>
              <a:t>Danh </a:t>
            </a:r>
            <a:r>
              <a:rPr sz="2500" dirty="0" err="1">
                <a:latin typeface="Century" panose="02040604050505020304" pitchFamily="18" charset="0"/>
              </a:rPr>
              <a:t>mục</a:t>
            </a:r>
            <a:r>
              <a:rPr sz="2500" dirty="0">
                <a:latin typeface="Century" panose="02040604050505020304" pitchFamily="18" charset="0"/>
              </a:rPr>
              <a:t> </a:t>
            </a:r>
            <a:r>
              <a:rPr sz="2500" dirty="0" err="1">
                <a:latin typeface="Century" panose="02040604050505020304" pitchFamily="18" charset="0"/>
              </a:rPr>
              <a:t>sản</a:t>
            </a:r>
            <a:r>
              <a:rPr sz="2500" dirty="0">
                <a:latin typeface="Century" panose="02040604050505020304" pitchFamily="18" charset="0"/>
              </a:rPr>
              <a:t> </a:t>
            </a:r>
            <a:r>
              <a:rPr sz="2500" dirty="0" err="1">
                <a:latin typeface="Century" panose="02040604050505020304" pitchFamily="18" charset="0"/>
              </a:rPr>
              <a:t>phẩm</a:t>
            </a:r>
            <a:r>
              <a:rPr sz="2500" dirty="0">
                <a:latin typeface="Century" panose="02040604050505020304" pitchFamily="18" charset="0"/>
              </a:rPr>
              <a:t> </a:t>
            </a:r>
            <a:r>
              <a:rPr sz="2500" dirty="0" err="1">
                <a:latin typeface="Century" panose="02040604050505020304" pitchFamily="18" charset="0"/>
              </a:rPr>
              <a:t>phân</a:t>
            </a:r>
            <a:r>
              <a:rPr sz="2500" dirty="0">
                <a:latin typeface="Century" panose="02040604050505020304" pitchFamily="18" charset="0"/>
              </a:rPr>
              <a:t> </a:t>
            </a:r>
            <a:r>
              <a:rPr sz="2500" dirty="0" err="1">
                <a:latin typeface="Century" panose="02040604050505020304" pitchFamily="18" charset="0"/>
              </a:rPr>
              <a:t>tán</a:t>
            </a:r>
            <a:r>
              <a:rPr sz="2500" dirty="0">
                <a:latin typeface="Century" panose="02040604050505020304" pitchFamily="18" charset="0"/>
              </a:rPr>
              <a:t> </a:t>
            </a:r>
            <a:r>
              <a:rPr sz="2500" dirty="0" err="1">
                <a:latin typeface="Century" panose="02040604050505020304" pitchFamily="18" charset="0"/>
              </a:rPr>
              <a:t>với</a:t>
            </a:r>
            <a:r>
              <a:rPr sz="2500" dirty="0">
                <a:latin typeface="Century" panose="02040604050505020304" pitchFamily="18" charset="0"/>
              </a:rPr>
              <a:t> </a:t>
            </a:r>
            <a:r>
              <a:rPr sz="2500" dirty="0" err="1">
                <a:latin typeface="Century" panose="02040604050505020304" pitchFamily="18" charset="0"/>
              </a:rPr>
              <a:t>nhiều</a:t>
            </a:r>
            <a:r>
              <a:rPr sz="2500" dirty="0">
                <a:latin typeface="Century" panose="02040604050505020304" pitchFamily="18" charset="0"/>
              </a:rPr>
              <a:t> </a:t>
            </a:r>
            <a:r>
              <a:rPr sz="2500" dirty="0" err="1">
                <a:latin typeface="Century" panose="02040604050505020304" pitchFamily="18" charset="0"/>
              </a:rPr>
              <a:t>sản</a:t>
            </a:r>
            <a:r>
              <a:rPr sz="2500" dirty="0">
                <a:latin typeface="Century" panose="02040604050505020304" pitchFamily="18" charset="0"/>
              </a:rPr>
              <a:t> </a:t>
            </a:r>
            <a:r>
              <a:rPr sz="2500" dirty="0" err="1">
                <a:latin typeface="Century" panose="02040604050505020304" pitchFamily="18" charset="0"/>
              </a:rPr>
              <a:t>phẩm</a:t>
            </a:r>
            <a:r>
              <a:rPr sz="2500" dirty="0">
                <a:latin typeface="Century" panose="02040604050505020304" pitchFamily="18" charset="0"/>
              </a:rPr>
              <a:t> </a:t>
            </a:r>
            <a:r>
              <a:rPr sz="2500" dirty="0" err="1">
                <a:latin typeface="Century" panose="02040604050505020304" pitchFamily="18" charset="0"/>
              </a:rPr>
              <a:t>hiệu</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thấp</a:t>
            </a:r>
            <a:r>
              <a:rPr sz="2500" dirty="0">
                <a:latin typeface="Century" panose="02040604050505020304" pitchFamily="18" charset="0"/>
              </a:rPr>
              <a:t> </a:t>
            </a:r>
            <a:r>
              <a:rPr sz="2500" dirty="0" err="1">
                <a:latin typeface="Century" panose="02040604050505020304" pitchFamily="18" charset="0"/>
              </a:rPr>
              <a:t>có</a:t>
            </a:r>
            <a:r>
              <a:rPr sz="2500" dirty="0">
                <a:latin typeface="Century" panose="02040604050505020304" pitchFamily="18" charset="0"/>
              </a:rPr>
              <a:t> </a:t>
            </a:r>
            <a:r>
              <a:rPr sz="2500" dirty="0" err="1">
                <a:latin typeface="Century" panose="02040604050505020304" pitchFamily="18" charset="0"/>
              </a:rPr>
              <a:t>thể</a:t>
            </a:r>
            <a:r>
              <a:rPr sz="2500" dirty="0">
                <a:latin typeface="Century" panose="02040604050505020304" pitchFamily="18" charset="0"/>
              </a:rPr>
              <a:t> </a:t>
            </a:r>
            <a:r>
              <a:rPr sz="2500" dirty="0" err="1">
                <a:latin typeface="Century" panose="02040604050505020304" pitchFamily="18" charset="0"/>
              </a:rPr>
              <a:t>làm</a:t>
            </a:r>
            <a:r>
              <a:rPr sz="2500" dirty="0">
                <a:latin typeface="Century" panose="02040604050505020304" pitchFamily="18" charset="0"/>
              </a:rPr>
              <a:t> </a:t>
            </a:r>
            <a:r>
              <a:rPr sz="2500" dirty="0" err="1">
                <a:latin typeface="Century" panose="02040604050505020304" pitchFamily="18" charset="0"/>
              </a:rPr>
              <a:t>giảm</a:t>
            </a:r>
            <a:r>
              <a:rPr sz="2500" dirty="0">
                <a:latin typeface="Century" panose="02040604050505020304" pitchFamily="18" charset="0"/>
              </a:rPr>
              <a:t> </a:t>
            </a:r>
            <a:r>
              <a:rPr sz="2500" dirty="0" err="1">
                <a:latin typeface="Century" panose="02040604050505020304" pitchFamily="18" charset="0"/>
              </a:rPr>
              <a:t>hiệu</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vận</a:t>
            </a:r>
            <a:r>
              <a:rPr sz="2500" dirty="0">
                <a:latin typeface="Century" panose="02040604050505020304" pitchFamily="18" charset="0"/>
              </a:rPr>
              <a:t> </a:t>
            </a:r>
            <a:r>
              <a:rPr sz="2500" dirty="0" err="1">
                <a:latin typeface="Century" panose="02040604050505020304" pitchFamily="18" charset="0"/>
              </a:rPr>
              <a:t>hành</a:t>
            </a:r>
            <a:r>
              <a:rPr sz="2500" dirty="0">
                <a:latin typeface="Century" panose="02040604050505020304" pitchFamily="18" charset="0"/>
              </a:rPr>
              <a: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007CFC-C7C3-142F-1EB2-BC02F4685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D84250-0C43-25BE-C2CF-A23FC0E92853}"/>
              </a:ext>
            </a:extLst>
          </p:cNvPr>
          <p:cNvSpPr>
            <a:spLocks noGrp="1"/>
          </p:cNvSpPr>
          <p:nvPr>
            <p:ph type="title"/>
          </p:nvPr>
        </p:nvSpPr>
        <p:spPr>
          <a:xfrm>
            <a:off x="2059156" y="742950"/>
            <a:ext cx="6222202" cy="3657600"/>
          </a:xfrm>
          <a:noFill/>
          <a:ln>
            <a:noFill/>
          </a:ln>
        </p:spPr>
        <p:txBody>
          <a:bodyPr spcFirstLastPara="1" wrap="square" lIns="91425" tIns="91425" rIns="91425" bIns="91425" anchor="ctr" anchorCtr="0">
            <a:noAutofit/>
          </a:bodyPr>
          <a:lstStyle/>
          <a:p>
            <a:pPr>
              <a:spcBef>
                <a:spcPts val="300"/>
              </a:spcBef>
              <a:spcAft>
                <a:spcPts val="300"/>
              </a:spcAft>
            </a:pPr>
            <a:r>
              <a:rPr lang="en-US" sz="4000" dirty="0">
                <a:latin typeface="Montserrat" panose="00000500000000000000" pitchFamily="2" charset="0"/>
              </a:rPr>
              <a:t>4.2. PHÂN TÍCH VÀ</a:t>
            </a:r>
            <a:br>
              <a:rPr lang="en-US" sz="4000" dirty="0">
                <a:latin typeface="Montserrat" panose="00000500000000000000" pitchFamily="2" charset="0"/>
              </a:rPr>
            </a:br>
            <a:r>
              <a:rPr lang="en-US" sz="4000" dirty="0">
                <a:latin typeface="Montserrat" panose="00000500000000000000" pitchFamily="2" charset="0"/>
              </a:rPr>
              <a:t> ĐÁNH GIÁ KẾT QUẢ</a:t>
            </a:r>
            <a:br>
              <a:rPr lang="en-US" sz="4000" dirty="0">
                <a:latin typeface="Montserrat" panose="00000500000000000000" pitchFamily="2" charset="0"/>
              </a:rPr>
            </a:br>
            <a:r>
              <a:rPr lang="en-US" sz="4000" dirty="0">
                <a:latin typeface="Montserrat" panose="00000500000000000000" pitchFamily="2" charset="0"/>
              </a:rPr>
              <a:t> DỰ BÁO BẰNG </a:t>
            </a:r>
            <a:br>
              <a:rPr lang="en-US" sz="4000" dirty="0">
                <a:latin typeface="Montserrat" panose="00000500000000000000" pitchFamily="2" charset="0"/>
              </a:rPr>
            </a:br>
            <a:r>
              <a:rPr lang="en-US" sz="4000" dirty="0">
                <a:latin typeface="Montserrat" panose="00000500000000000000" pitchFamily="2" charset="0"/>
              </a:rPr>
              <a:t>MÔ HÌNH SARIMA </a:t>
            </a:r>
          </a:p>
        </p:txBody>
      </p:sp>
    </p:spTree>
    <p:extLst>
      <p:ext uri="{BB962C8B-B14F-4D97-AF65-F5344CB8AC3E}">
        <p14:creationId xmlns:p14="http://schemas.microsoft.com/office/powerpoint/2010/main" val="36975533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C0DA3D-89BC-74EE-3549-2F57BF7220DB}"/>
              </a:ext>
            </a:extLst>
          </p:cNvPr>
          <p:cNvPicPr>
            <a:picLocks noChangeAspect="1"/>
          </p:cNvPicPr>
          <p:nvPr/>
        </p:nvPicPr>
        <p:blipFill>
          <a:blip r:embed="rId2"/>
          <a:stretch>
            <a:fillRect/>
          </a:stretch>
        </p:blipFill>
        <p:spPr>
          <a:xfrm>
            <a:off x="258426" y="189780"/>
            <a:ext cx="8627147" cy="3819575"/>
          </a:xfrm>
          <a:prstGeom prst="rect">
            <a:avLst/>
          </a:prstGeom>
        </p:spPr>
      </p:pic>
      <p:sp>
        <p:nvSpPr>
          <p:cNvPr id="4" name="TextBox 3">
            <a:extLst>
              <a:ext uri="{FF2B5EF4-FFF2-40B4-BE49-F238E27FC236}">
                <a16:creationId xmlns:a16="http://schemas.microsoft.com/office/drawing/2014/main" id="{1BB683E8-293D-B18D-1E4C-0591614AA1E0}"/>
              </a:ext>
            </a:extLst>
          </p:cNvPr>
          <p:cNvSpPr txBox="1"/>
          <p:nvPr/>
        </p:nvSpPr>
        <p:spPr>
          <a:xfrm>
            <a:off x="651293" y="4009355"/>
            <a:ext cx="7841411" cy="584775"/>
          </a:xfrm>
          <a:prstGeom prst="rect">
            <a:avLst/>
          </a:prstGeom>
          <a:noFill/>
        </p:spPr>
        <p:txBody>
          <a:bodyPr wrap="square">
            <a:spAutoFit/>
          </a:bodyPr>
          <a:lstStyle/>
          <a:p>
            <a:r>
              <a:rPr lang="vi-VN" sz="1600" dirty="0"/>
              <a:t>Hình 9. Hàm tự tương quan (ACF) và tự tương quan riêng phần (PACF) của</a:t>
            </a:r>
            <a:r>
              <a:rPr lang="en-US" sz="1600" dirty="0"/>
              <a:t> </a:t>
            </a:r>
            <a:r>
              <a:rPr lang="vi-VN" sz="1600" dirty="0"/>
              <a:t>chuỗi doanh thu sau khi sai phâ</a:t>
            </a:r>
            <a:r>
              <a:rPr lang="en-US" sz="1600" dirty="0"/>
              <a:t>n</a:t>
            </a:r>
          </a:p>
        </p:txBody>
      </p:sp>
    </p:spTree>
    <p:extLst>
      <p:ext uri="{BB962C8B-B14F-4D97-AF65-F5344CB8AC3E}">
        <p14:creationId xmlns:p14="http://schemas.microsoft.com/office/powerpoint/2010/main" val="381589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568325" y="346135"/>
            <a:ext cx="8575675" cy="1211263"/>
          </a:xfrm>
          <a:noFill/>
          <a:ln>
            <a:noFill/>
          </a:ln>
        </p:spPr>
        <p:txBody>
          <a:bodyPr spcFirstLastPara="1" wrap="square" lIns="91425" tIns="91425" rIns="91425" bIns="91425" anchor="t" anchorCtr="0">
            <a:noAutofit/>
          </a:bodyPr>
          <a:lstStyle/>
          <a:p>
            <a:pPr algn="ctr"/>
            <a:r>
              <a:rPr lang="en-US" sz="4000" dirty="0">
                <a:latin typeface="Aptos Display" panose="020B0004020202020204" pitchFamily="34" charset="0"/>
              </a:rPr>
              <a:t>B. </a:t>
            </a:r>
            <a:r>
              <a:rPr sz="4000" dirty="0">
                <a:latin typeface="Aptos Display" panose="020B0004020202020204" pitchFamily="34" charset="0"/>
              </a:rPr>
              <a:t>SARIMA – </a:t>
            </a:r>
            <a:r>
              <a:rPr sz="4000" dirty="0" err="1">
                <a:latin typeface="Aptos Display" panose="020B0004020202020204" pitchFamily="34" charset="0"/>
              </a:rPr>
              <a:t>Mô</a:t>
            </a:r>
            <a:r>
              <a:rPr sz="4000" dirty="0">
                <a:latin typeface="Aptos Display" panose="020B0004020202020204" pitchFamily="34" charset="0"/>
              </a:rPr>
              <a:t> </a:t>
            </a:r>
            <a:r>
              <a:rPr sz="4000" dirty="0" err="1">
                <a:latin typeface="Aptos Display" panose="020B0004020202020204" pitchFamily="34" charset="0"/>
              </a:rPr>
              <a:t>hình</a:t>
            </a:r>
            <a:r>
              <a:rPr sz="4000" dirty="0">
                <a:latin typeface="Aptos Display" panose="020B0004020202020204" pitchFamily="34" charset="0"/>
              </a:rPr>
              <a:t> </a:t>
            </a:r>
            <a:r>
              <a:rPr sz="4000" dirty="0" err="1">
                <a:latin typeface="Aptos Display" panose="020B0004020202020204" pitchFamily="34" charset="0"/>
              </a:rPr>
              <a:t>thứ</a:t>
            </a:r>
            <a:r>
              <a:rPr sz="4000" dirty="0">
                <a:latin typeface="Aptos Display" panose="020B0004020202020204" pitchFamily="34" charset="0"/>
              </a:rPr>
              <a:t> </a:t>
            </a:r>
            <a:r>
              <a:rPr sz="4000" dirty="0" err="1">
                <a:latin typeface="Aptos Display" panose="020B0004020202020204" pitchFamily="34" charset="0"/>
              </a:rPr>
              <a:t>nhất</a:t>
            </a:r>
            <a:r>
              <a:rPr sz="4000" dirty="0">
                <a:latin typeface="Aptos Display" panose="020B0004020202020204" pitchFamily="34" charset="0"/>
              </a:rPr>
              <a:t> (</a:t>
            </a:r>
            <a:r>
              <a:rPr sz="4000" dirty="0" err="1">
                <a:latin typeface="Aptos Display" panose="020B0004020202020204" pitchFamily="34" charset="0"/>
              </a:rPr>
              <a:t>Cơ</a:t>
            </a:r>
            <a:r>
              <a:rPr sz="4000" dirty="0">
                <a:latin typeface="Aptos Display" panose="020B0004020202020204" pitchFamily="34" charset="0"/>
              </a:rPr>
              <a:t> </a:t>
            </a:r>
            <a:r>
              <a:rPr sz="4000" dirty="0" err="1">
                <a:latin typeface="Aptos Display" panose="020B0004020202020204" pitchFamily="34" charset="0"/>
              </a:rPr>
              <a:t>sở</a:t>
            </a:r>
            <a:r>
              <a:rPr sz="4000" dirty="0">
                <a:latin typeface="Aptos Display" panose="020B0004020202020204" pitchFamily="34" charset="0"/>
              </a:rPr>
              <a:t>)</a:t>
            </a:r>
          </a:p>
        </p:txBody>
      </p:sp>
      <p:sp>
        <p:nvSpPr>
          <p:cNvPr id="4" name="Picture Placeholder 3"/>
          <p:cNvSpPr>
            <a:spLocks noGrp="1"/>
          </p:cNvSpPr>
          <p:nvPr>
            <p:ph type="pic" idx="4294967295"/>
          </p:nvPr>
        </p:nvSpPr>
        <p:spPr>
          <a:xfrm>
            <a:off x="568325" y="1079500"/>
            <a:ext cx="8007350" cy="4064000"/>
          </a:xfrm>
          <a:noFill/>
          <a:ln>
            <a:noFill/>
          </a:ln>
        </p:spPr>
        <p:txBody>
          <a:bodyPr/>
          <a:lstStyle/>
          <a:p>
            <a:pPr marL="0" indent="0">
              <a:buNone/>
            </a:pPr>
            <a:r>
              <a:rPr sz="2500" dirty="0" err="1">
                <a:latin typeface="Century" panose="02040604050505020304" pitchFamily="18" charset="0"/>
              </a:rPr>
              <a:t>Mô</a:t>
            </a:r>
            <a:r>
              <a:rPr sz="2500" dirty="0">
                <a:latin typeface="Century" panose="02040604050505020304" pitchFamily="18" charset="0"/>
              </a:rPr>
              <a:t> </a:t>
            </a:r>
            <a:r>
              <a:rPr sz="2500" dirty="0" err="1">
                <a:latin typeface="Century" panose="02040604050505020304" pitchFamily="18" charset="0"/>
              </a:rPr>
              <a:t>hình</a:t>
            </a:r>
            <a:r>
              <a:rPr sz="2500" dirty="0">
                <a:latin typeface="Century" panose="02040604050505020304" pitchFamily="18" charset="0"/>
              </a:rPr>
              <a:t> </a:t>
            </a:r>
            <a:r>
              <a:rPr sz="2500" dirty="0" err="1">
                <a:latin typeface="Century" panose="02040604050505020304" pitchFamily="18" charset="0"/>
              </a:rPr>
              <a:t>cơ</a:t>
            </a:r>
            <a:r>
              <a:rPr sz="2500" dirty="0">
                <a:latin typeface="Century" panose="02040604050505020304" pitchFamily="18" charset="0"/>
              </a:rPr>
              <a:t> </a:t>
            </a:r>
            <a:r>
              <a:rPr sz="2500" dirty="0" err="1">
                <a:latin typeface="Century" panose="02040604050505020304" pitchFamily="18" charset="0"/>
              </a:rPr>
              <a:t>sở</a:t>
            </a:r>
            <a:r>
              <a:rPr sz="2500" dirty="0">
                <a:latin typeface="Century" panose="02040604050505020304" pitchFamily="18" charset="0"/>
              </a:rPr>
              <a:t> </a:t>
            </a:r>
            <a:r>
              <a:rPr sz="2500" dirty="0" err="1">
                <a:latin typeface="Century" panose="02040604050505020304" pitchFamily="18" charset="0"/>
              </a:rPr>
              <a:t>có</a:t>
            </a:r>
            <a:r>
              <a:rPr sz="2500" dirty="0">
                <a:latin typeface="Century" panose="02040604050505020304" pitchFamily="18" charset="0"/>
              </a:rPr>
              <a:t> </a:t>
            </a:r>
            <a:r>
              <a:rPr sz="2500" dirty="0" err="1">
                <a:latin typeface="Century" panose="02040604050505020304" pitchFamily="18" charset="0"/>
              </a:rPr>
              <a:t>cấu</a:t>
            </a:r>
            <a:r>
              <a:rPr sz="2500" dirty="0">
                <a:latin typeface="Century" panose="02040604050505020304" pitchFamily="18" charset="0"/>
              </a:rPr>
              <a:t> </a:t>
            </a:r>
            <a:r>
              <a:rPr sz="2500" dirty="0" err="1">
                <a:latin typeface="Century" panose="02040604050505020304" pitchFamily="18" charset="0"/>
              </a:rPr>
              <a:t>trúc</a:t>
            </a:r>
            <a:r>
              <a:rPr sz="2500" dirty="0">
                <a:latin typeface="Century" panose="02040604050505020304" pitchFamily="18" charset="0"/>
              </a:rPr>
              <a:t> </a:t>
            </a:r>
            <a:r>
              <a:rPr sz="2500" dirty="0" err="1">
                <a:latin typeface="Century" panose="02040604050505020304" pitchFamily="18" charset="0"/>
              </a:rPr>
              <a:t>gọn</a:t>
            </a:r>
            <a:r>
              <a:rPr sz="2500" dirty="0">
                <a:latin typeface="Century" panose="02040604050505020304" pitchFamily="18" charset="0"/>
              </a:rPr>
              <a:t> </a:t>
            </a:r>
            <a:r>
              <a:rPr sz="2500" dirty="0" err="1">
                <a:latin typeface="Century" panose="02040604050505020304" pitchFamily="18" charset="0"/>
              </a:rPr>
              <a:t>nhẹ</a:t>
            </a:r>
            <a:r>
              <a:rPr sz="2500" dirty="0">
                <a:latin typeface="Century" panose="02040604050505020304" pitchFamily="18" charset="0"/>
              </a:rPr>
              <a:t>, </a:t>
            </a:r>
            <a:r>
              <a:rPr sz="2500" dirty="0" err="1">
                <a:latin typeface="Century" panose="02040604050505020304" pitchFamily="18" charset="0"/>
              </a:rPr>
              <a:t>tập</a:t>
            </a:r>
            <a:r>
              <a:rPr sz="2500" dirty="0">
                <a:latin typeface="Century" panose="02040604050505020304" pitchFamily="18" charset="0"/>
              </a:rPr>
              <a:t> </a:t>
            </a:r>
            <a:r>
              <a:rPr sz="2500" dirty="0" err="1">
                <a:latin typeface="Century" panose="02040604050505020304" pitchFamily="18" charset="0"/>
              </a:rPr>
              <a:t>trung</a:t>
            </a:r>
            <a:r>
              <a:rPr sz="2500" dirty="0">
                <a:latin typeface="Century" panose="02040604050505020304" pitchFamily="18" charset="0"/>
              </a:rPr>
              <a:t> </a:t>
            </a:r>
            <a:r>
              <a:rPr sz="2500" dirty="0" err="1">
                <a:latin typeface="Century" panose="02040604050505020304" pitchFamily="18" charset="0"/>
              </a:rPr>
              <a:t>nắm</a:t>
            </a:r>
            <a:r>
              <a:rPr sz="2500" dirty="0">
                <a:latin typeface="Century" panose="02040604050505020304" pitchFamily="18" charset="0"/>
              </a:rPr>
              <a:t> </a:t>
            </a:r>
            <a:r>
              <a:rPr sz="2500" dirty="0" err="1">
                <a:latin typeface="Century" panose="02040604050505020304" pitchFamily="18" charset="0"/>
              </a:rPr>
              <a:t>bắt</a:t>
            </a:r>
            <a:r>
              <a:rPr sz="2500" dirty="0">
                <a:latin typeface="Century" panose="02040604050505020304" pitchFamily="18" charset="0"/>
              </a:rPr>
              <a:t> xu </a:t>
            </a: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chung</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mùa</a:t>
            </a:r>
            <a:r>
              <a:rPr sz="2500" dirty="0">
                <a:latin typeface="Century" panose="02040604050505020304" pitchFamily="18" charset="0"/>
              </a:rPr>
              <a:t> </a:t>
            </a:r>
            <a:r>
              <a:rPr sz="2500" dirty="0" err="1">
                <a:latin typeface="Century" panose="02040604050505020304" pitchFamily="18" charset="0"/>
              </a:rPr>
              <a:t>vụ</a:t>
            </a:r>
            <a:r>
              <a:rPr sz="2500" dirty="0">
                <a:latin typeface="Century" panose="02040604050505020304" pitchFamily="18" charset="0"/>
              </a:rPr>
              <a:t> </a:t>
            </a:r>
            <a:r>
              <a:rPr sz="2500" dirty="0" err="1">
                <a:latin typeface="Century" panose="02040604050505020304" pitchFamily="18" charset="0"/>
              </a:rPr>
              <a:t>cơ</a:t>
            </a:r>
            <a:r>
              <a:rPr sz="2500" dirty="0">
                <a:latin typeface="Century" panose="02040604050505020304" pitchFamily="18" charset="0"/>
              </a:rPr>
              <a:t> </a:t>
            </a:r>
            <a:r>
              <a:rPr sz="2500" dirty="0" err="1">
                <a:latin typeface="Century" panose="02040604050505020304" pitchFamily="18" charset="0"/>
              </a:rPr>
              <a:t>bản</a:t>
            </a:r>
            <a:r>
              <a:rPr sz="2500" dirty="0">
                <a:latin typeface="Century" panose="02040604050505020304" pitchFamily="18" charset="0"/>
              </a:rPr>
              <a:t>. </a:t>
            </a:r>
            <a:r>
              <a:rPr sz="2500" dirty="0" err="1">
                <a:latin typeface="Century" panose="02040604050505020304" pitchFamily="18" charset="0"/>
              </a:rPr>
              <a:t>Phù</a:t>
            </a:r>
            <a:r>
              <a:rPr sz="2500" dirty="0">
                <a:latin typeface="Century" panose="02040604050505020304" pitchFamily="18" charset="0"/>
              </a:rPr>
              <a:t> </a:t>
            </a:r>
            <a:r>
              <a:rPr sz="2500" dirty="0" err="1">
                <a:latin typeface="Century" panose="02040604050505020304" pitchFamily="18" charset="0"/>
              </a:rPr>
              <a:t>hợp</a:t>
            </a:r>
            <a:r>
              <a:rPr sz="2500" dirty="0">
                <a:latin typeface="Century" panose="02040604050505020304" pitchFamily="18" charset="0"/>
              </a:rPr>
              <a:t> </a:t>
            </a:r>
            <a:r>
              <a:rPr sz="2500" dirty="0" err="1">
                <a:latin typeface="Century" panose="02040604050505020304" pitchFamily="18" charset="0"/>
              </a:rPr>
              <a:t>để</a:t>
            </a:r>
            <a:r>
              <a:rPr sz="2500" dirty="0">
                <a:latin typeface="Century" panose="02040604050505020304" pitchFamily="18" charset="0"/>
              </a:rPr>
              <a:t> </a:t>
            </a:r>
            <a:r>
              <a:rPr sz="2500" dirty="0" err="1">
                <a:latin typeface="Century" panose="02040604050505020304" pitchFamily="18" charset="0"/>
              </a:rPr>
              <a:t>mô</a:t>
            </a:r>
            <a:r>
              <a:rPr sz="2500" dirty="0">
                <a:latin typeface="Century" panose="02040604050505020304" pitchFamily="18" charset="0"/>
              </a:rPr>
              <a:t> </a:t>
            </a:r>
            <a:r>
              <a:rPr sz="2500" dirty="0" err="1">
                <a:latin typeface="Century" panose="02040604050505020304" pitchFamily="18" charset="0"/>
              </a:rPr>
              <a:t>tả</a:t>
            </a:r>
            <a:r>
              <a:rPr sz="2500" dirty="0">
                <a:latin typeface="Century" panose="02040604050505020304" pitchFamily="18" charset="0"/>
              </a:rPr>
              <a:t> </a:t>
            </a:r>
            <a:r>
              <a:rPr sz="2500" dirty="0" err="1">
                <a:latin typeface="Century" panose="02040604050505020304" pitchFamily="18" charset="0"/>
              </a:rPr>
              <a:t>tổng</a:t>
            </a:r>
            <a:r>
              <a:rPr sz="2500" dirty="0">
                <a:latin typeface="Century" panose="02040604050505020304" pitchFamily="18" charset="0"/>
              </a:rPr>
              <a:t> </a:t>
            </a:r>
            <a:r>
              <a:rPr sz="2500" dirty="0" err="1">
                <a:latin typeface="Century" panose="02040604050505020304" pitchFamily="18" charset="0"/>
              </a:rPr>
              <a:t>thể</a:t>
            </a:r>
            <a:r>
              <a:rPr sz="2500" dirty="0">
                <a:latin typeface="Century" panose="02040604050505020304" pitchFamily="18" charset="0"/>
              </a:rPr>
              <a:t> </a:t>
            </a:r>
            <a:r>
              <a:rPr sz="2500" dirty="0" err="1">
                <a:latin typeface="Century" panose="02040604050505020304" pitchFamily="18" charset="0"/>
              </a:rPr>
              <a:t>nhưng</a:t>
            </a:r>
            <a:r>
              <a:rPr sz="2500" dirty="0">
                <a:latin typeface="Century" panose="02040604050505020304" pitchFamily="18" charset="0"/>
              </a:rPr>
              <a:t> </a:t>
            </a:r>
            <a:r>
              <a:rPr sz="2500" dirty="0" err="1">
                <a:latin typeface="Century" panose="02040604050505020304" pitchFamily="18" charset="0"/>
              </a:rPr>
              <a:t>còn</a:t>
            </a:r>
            <a:r>
              <a:rPr sz="2500" dirty="0">
                <a:latin typeface="Century" panose="02040604050505020304" pitchFamily="18" charset="0"/>
              </a:rPr>
              <a:t> </a:t>
            </a:r>
            <a:r>
              <a:rPr sz="2500" dirty="0" err="1">
                <a:latin typeface="Century" panose="02040604050505020304" pitchFamily="18" charset="0"/>
              </a:rPr>
              <a:t>hạn</a:t>
            </a:r>
            <a:r>
              <a:rPr sz="2500" dirty="0">
                <a:latin typeface="Century" panose="02040604050505020304" pitchFamily="18" charset="0"/>
              </a:rPr>
              <a:t> </a:t>
            </a:r>
            <a:r>
              <a:rPr sz="2500" dirty="0" err="1">
                <a:latin typeface="Century" panose="02040604050505020304" pitchFamily="18" charset="0"/>
              </a:rPr>
              <a:t>chế</a:t>
            </a:r>
            <a:r>
              <a:rPr sz="2500" dirty="0">
                <a:latin typeface="Century" panose="02040604050505020304" pitchFamily="18" charset="0"/>
              </a:rPr>
              <a:t> </a:t>
            </a:r>
            <a:r>
              <a:rPr sz="2500" dirty="0" err="1">
                <a:latin typeface="Century" panose="02040604050505020304" pitchFamily="18" charset="0"/>
              </a:rPr>
              <a:t>trong</a:t>
            </a:r>
            <a:r>
              <a:rPr sz="2500" dirty="0">
                <a:latin typeface="Century" panose="02040604050505020304" pitchFamily="18" charset="0"/>
              </a:rPr>
              <a:t> </a:t>
            </a:r>
            <a:r>
              <a:rPr sz="2500" dirty="0" err="1">
                <a:latin typeface="Century" panose="02040604050505020304" pitchFamily="18" charset="0"/>
              </a:rPr>
              <a:t>các</a:t>
            </a:r>
            <a:r>
              <a:rPr sz="2500" dirty="0">
                <a:latin typeface="Century" panose="02040604050505020304" pitchFamily="18" charset="0"/>
              </a:rPr>
              <a:t> </a:t>
            </a:r>
            <a:r>
              <a:rPr sz="2500" dirty="0" err="1">
                <a:latin typeface="Century" panose="02040604050505020304" pitchFamily="18" charset="0"/>
              </a:rPr>
              <a:t>giai</a:t>
            </a:r>
            <a:r>
              <a:rPr sz="2500" dirty="0">
                <a:latin typeface="Century" panose="02040604050505020304" pitchFamily="18" charset="0"/>
              </a:rPr>
              <a:t> </a:t>
            </a:r>
            <a:r>
              <a:rPr sz="2500" dirty="0" err="1">
                <a:latin typeface="Century" panose="02040604050505020304" pitchFamily="18" charset="0"/>
              </a:rPr>
              <a:t>đoạn</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mạnh</a:t>
            </a:r>
            <a:r>
              <a:rPr sz="2500" dirty="0">
                <a:latin typeface="Century" panose="02040604050505020304" pitchFamily="18" charset="0"/>
              </a:rPr>
              <a: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3C05062-8AAF-9D7B-FCAD-15E51BA9B41B}"/>
              </a:ext>
            </a:extLst>
          </p:cNvPr>
          <p:cNvPicPr>
            <a:picLocks noChangeAspect="1"/>
          </p:cNvPicPr>
          <p:nvPr/>
        </p:nvPicPr>
        <p:blipFill>
          <a:blip r:embed="rId2"/>
          <a:stretch>
            <a:fillRect/>
          </a:stretch>
        </p:blipFill>
        <p:spPr>
          <a:xfrm>
            <a:off x="0" y="413304"/>
            <a:ext cx="9023230" cy="3850850"/>
          </a:xfrm>
          <a:prstGeom prst="rect">
            <a:avLst/>
          </a:prstGeom>
        </p:spPr>
      </p:pic>
      <p:sp>
        <p:nvSpPr>
          <p:cNvPr id="4" name="TextBox 3">
            <a:extLst>
              <a:ext uri="{FF2B5EF4-FFF2-40B4-BE49-F238E27FC236}">
                <a16:creationId xmlns:a16="http://schemas.microsoft.com/office/drawing/2014/main" id="{3926B594-60A6-BF27-6D64-BDADAD8B50C6}"/>
              </a:ext>
            </a:extLst>
          </p:cNvPr>
          <p:cNvSpPr txBox="1"/>
          <p:nvPr/>
        </p:nvSpPr>
        <p:spPr>
          <a:xfrm>
            <a:off x="491704" y="4258518"/>
            <a:ext cx="7599873" cy="338554"/>
          </a:xfrm>
          <a:prstGeom prst="rect">
            <a:avLst/>
          </a:prstGeom>
          <a:noFill/>
        </p:spPr>
        <p:txBody>
          <a:bodyPr wrap="square">
            <a:spAutoFit/>
          </a:bodyPr>
          <a:lstStyle/>
          <a:p>
            <a:r>
              <a:rPr lang="en-US" sz="1600" dirty="0" err="1"/>
              <a:t>Hình</a:t>
            </a:r>
            <a:r>
              <a:rPr lang="en-US" sz="1600" dirty="0"/>
              <a:t> 10. </a:t>
            </a:r>
            <a:r>
              <a:rPr lang="en-US" sz="1600" dirty="0" err="1"/>
              <a:t>Kết</a:t>
            </a:r>
            <a:r>
              <a:rPr lang="en-US" sz="1600" dirty="0"/>
              <a:t> </a:t>
            </a:r>
            <a:r>
              <a:rPr lang="en-US" sz="1600" dirty="0" err="1"/>
              <a:t>quả</a:t>
            </a:r>
            <a:r>
              <a:rPr lang="en-US" sz="1600" dirty="0"/>
              <a:t> </a:t>
            </a:r>
            <a:r>
              <a:rPr lang="en-US" sz="1600" dirty="0" err="1"/>
              <a:t>dự</a:t>
            </a:r>
            <a:r>
              <a:rPr lang="en-US" sz="1600" dirty="0"/>
              <a:t> </a:t>
            </a:r>
            <a:r>
              <a:rPr lang="en-US" sz="1600" dirty="0" err="1"/>
              <a:t>báo</a:t>
            </a:r>
            <a:r>
              <a:rPr lang="en-US" sz="1600" dirty="0"/>
              <a:t> </a:t>
            </a:r>
            <a:r>
              <a:rPr lang="en-US" sz="1600" dirty="0" err="1"/>
              <a:t>doanh</a:t>
            </a:r>
            <a:r>
              <a:rPr lang="en-US" sz="1600" dirty="0"/>
              <a:t> </a:t>
            </a:r>
            <a:r>
              <a:rPr lang="en-US" sz="1600" dirty="0" err="1"/>
              <a:t>thu</a:t>
            </a:r>
            <a:r>
              <a:rPr lang="en-US" sz="1600" dirty="0"/>
              <a:t> </a:t>
            </a:r>
            <a:r>
              <a:rPr lang="en-US" sz="1600" dirty="0" err="1"/>
              <a:t>ngắn</a:t>
            </a:r>
            <a:r>
              <a:rPr lang="en-US" sz="1600" dirty="0"/>
              <a:t> </a:t>
            </a:r>
            <a:r>
              <a:rPr lang="en-US" sz="1600" dirty="0" err="1"/>
              <a:t>hạn</a:t>
            </a:r>
            <a:r>
              <a:rPr lang="en-US" sz="1600" dirty="0"/>
              <a:t> </a:t>
            </a:r>
            <a:r>
              <a:rPr lang="en-US" sz="1600" dirty="0" err="1"/>
              <a:t>bằng</a:t>
            </a:r>
            <a:r>
              <a:rPr lang="en-US" sz="1600" dirty="0"/>
              <a:t> </a:t>
            </a:r>
            <a:r>
              <a:rPr lang="en-US" sz="1600" dirty="0" err="1"/>
              <a:t>mô</a:t>
            </a:r>
            <a:r>
              <a:rPr lang="en-US" sz="1600" dirty="0"/>
              <a:t> </a:t>
            </a:r>
            <a:r>
              <a:rPr lang="en-US" sz="1600" dirty="0" err="1"/>
              <a:t>hình</a:t>
            </a:r>
            <a:r>
              <a:rPr lang="en-US" sz="1600" dirty="0"/>
              <a:t> SARIMA </a:t>
            </a:r>
            <a:r>
              <a:rPr lang="en-US" sz="1600" dirty="0" err="1"/>
              <a:t>thứ</a:t>
            </a:r>
            <a:r>
              <a:rPr lang="en-US" sz="1600" dirty="0"/>
              <a:t> </a:t>
            </a:r>
            <a:r>
              <a:rPr lang="en-US" sz="1600" dirty="0" err="1"/>
              <a:t>nhất</a:t>
            </a:r>
            <a:endParaRPr lang="en-US" sz="1600" dirty="0"/>
          </a:p>
        </p:txBody>
      </p:sp>
    </p:spTree>
    <p:extLst>
      <p:ext uri="{BB962C8B-B14F-4D97-AF65-F5344CB8AC3E}">
        <p14:creationId xmlns:p14="http://schemas.microsoft.com/office/powerpoint/2010/main" val="392852322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45056" y="259871"/>
            <a:ext cx="8453886" cy="1211263"/>
          </a:xfrm>
          <a:noFill/>
          <a:ln>
            <a:noFill/>
          </a:ln>
        </p:spPr>
        <p:txBody>
          <a:bodyPr spcFirstLastPara="1" wrap="square" lIns="91425" tIns="91425" rIns="91425" bIns="91425" anchor="t" anchorCtr="0">
            <a:noAutofit/>
          </a:bodyPr>
          <a:lstStyle/>
          <a:p>
            <a:pPr algn="ctr"/>
            <a:r>
              <a:rPr sz="4000" dirty="0">
                <a:latin typeface="Aptos Display" panose="020B0004020202020204" pitchFamily="34" charset="0"/>
              </a:rPr>
              <a:t>SARIMA – </a:t>
            </a:r>
            <a:r>
              <a:rPr sz="4000" dirty="0" err="1">
                <a:latin typeface="Aptos Display" panose="020B0004020202020204" pitchFamily="34" charset="0"/>
              </a:rPr>
              <a:t>Mô</a:t>
            </a:r>
            <a:r>
              <a:rPr sz="4000" dirty="0">
                <a:latin typeface="Aptos Display" panose="020B0004020202020204" pitchFamily="34" charset="0"/>
              </a:rPr>
              <a:t> </a:t>
            </a:r>
            <a:r>
              <a:rPr sz="4000" dirty="0" err="1">
                <a:latin typeface="Aptos Display" panose="020B0004020202020204" pitchFamily="34" charset="0"/>
              </a:rPr>
              <a:t>hình</a:t>
            </a:r>
            <a:r>
              <a:rPr sz="4000" dirty="0">
                <a:latin typeface="Aptos Display" panose="020B0004020202020204" pitchFamily="34" charset="0"/>
              </a:rPr>
              <a:t> </a:t>
            </a:r>
            <a:r>
              <a:rPr sz="4000" dirty="0" err="1">
                <a:latin typeface="Aptos Display" panose="020B0004020202020204" pitchFamily="34" charset="0"/>
              </a:rPr>
              <a:t>thứ</a:t>
            </a:r>
            <a:r>
              <a:rPr sz="4000" dirty="0">
                <a:latin typeface="Aptos Display" panose="020B0004020202020204" pitchFamily="34" charset="0"/>
              </a:rPr>
              <a:t> </a:t>
            </a:r>
            <a:r>
              <a:rPr sz="4000" dirty="0" err="1">
                <a:latin typeface="Aptos Display" panose="020B0004020202020204" pitchFamily="34" charset="0"/>
              </a:rPr>
              <a:t>hai</a:t>
            </a:r>
            <a:r>
              <a:rPr sz="4000" dirty="0">
                <a:latin typeface="Aptos Display" panose="020B0004020202020204" pitchFamily="34" charset="0"/>
              </a:rPr>
              <a:t> (</a:t>
            </a:r>
            <a:r>
              <a:rPr sz="4000" dirty="0" err="1">
                <a:latin typeface="Aptos Display" panose="020B0004020202020204" pitchFamily="34" charset="0"/>
              </a:rPr>
              <a:t>Cải</a:t>
            </a:r>
            <a:r>
              <a:rPr sz="4000" dirty="0">
                <a:latin typeface="Aptos Display" panose="020B0004020202020204" pitchFamily="34" charset="0"/>
              </a:rPr>
              <a:t> </a:t>
            </a:r>
            <a:r>
              <a:rPr sz="4000" dirty="0" err="1">
                <a:latin typeface="Aptos Display" panose="020B0004020202020204" pitchFamily="34" charset="0"/>
              </a:rPr>
              <a:t>tiến</a:t>
            </a:r>
            <a:r>
              <a:rPr sz="4000" dirty="0">
                <a:latin typeface="Aptos Display" panose="020B0004020202020204" pitchFamily="34" charset="0"/>
              </a:rPr>
              <a:t>)</a:t>
            </a:r>
          </a:p>
        </p:txBody>
      </p:sp>
      <p:sp>
        <p:nvSpPr>
          <p:cNvPr id="4" name="Picture Placeholder 3"/>
          <p:cNvSpPr>
            <a:spLocks noGrp="1"/>
          </p:cNvSpPr>
          <p:nvPr>
            <p:ph type="pic" idx="4294967295"/>
          </p:nvPr>
        </p:nvSpPr>
        <p:spPr>
          <a:xfrm>
            <a:off x="345055" y="1367616"/>
            <a:ext cx="8453887" cy="1530590"/>
          </a:xfrm>
          <a:noFill/>
          <a:ln>
            <a:noFill/>
          </a:ln>
        </p:spPr>
        <p:txBody>
          <a:bodyPr/>
          <a:lstStyle/>
          <a:p>
            <a:pPr marL="0" indent="0">
              <a:buNone/>
            </a:pPr>
            <a:r>
              <a:rPr sz="2500" dirty="0" err="1">
                <a:latin typeface="Century" panose="02040604050505020304" pitchFamily="18" charset="0"/>
              </a:rPr>
              <a:t>Mô</a:t>
            </a:r>
            <a:r>
              <a:rPr sz="2500" dirty="0">
                <a:latin typeface="Century" panose="02040604050505020304" pitchFamily="18" charset="0"/>
              </a:rPr>
              <a:t> </a:t>
            </a:r>
            <a:r>
              <a:rPr sz="2500" dirty="0" err="1">
                <a:latin typeface="Century" panose="02040604050505020304" pitchFamily="18" charset="0"/>
              </a:rPr>
              <a:t>hình</a:t>
            </a:r>
            <a:r>
              <a:rPr sz="2500" dirty="0">
                <a:latin typeface="Century" panose="02040604050505020304" pitchFamily="18" charset="0"/>
              </a:rPr>
              <a:t> </a:t>
            </a:r>
            <a:r>
              <a:rPr sz="2500" dirty="0" err="1">
                <a:latin typeface="Century" panose="02040604050505020304" pitchFamily="18" charset="0"/>
              </a:rPr>
              <a:t>cải</a:t>
            </a:r>
            <a:r>
              <a:rPr sz="2500" dirty="0">
                <a:latin typeface="Century" panose="02040604050505020304" pitchFamily="18" charset="0"/>
              </a:rPr>
              <a:t> </a:t>
            </a:r>
            <a:r>
              <a:rPr sz="2500" dirty="0" err="1">
                <a:latin typeface="Century" panose="02040604050505020304" pitchFamily="18" charset="0"/>
              </a:rPr>
              <a:t>tiến</a:t>
            </a:r>
            <a:r>
              <a:rPr sz="2500" dirty="0">
                <a:latin typeface="Century" panose="02040604050505020304" pitchFamily="18" charset="0"/>
              </a:rPr>
              <a:t> </a:t>
            </a:r>
            <a:r>
              <a:rPr sz="2500" dirty="0" err="1">
                <a:latin typeface="Century" panose="02040604050505020304" pitchFamily="18" charset="0"/>
              </a:rPr>
              <a:t>điều</a:t>
            </a:r>
            <a:r>
              <a:rPr sz="2500" dirty="0">
                <a:latin typeface="Century" panose="02040604050505020304" pitchFamily="18" charset="0"/>
              </a:rPr>
              <a:t> </a:t>
            </a:r>
            <a:r>
              <a:rPr sz="2500" dirty="0" err="1">
                <a:latin typeface="Century" panose="02040604050505020304" pitchFamily="18" charset="0"/>
              </a:rPr>
              <a:t>chỉnh</a:t>
            </a:r>
            <a:r>
              <a:rPr sz="2500" dirty="0">
                <a:latin typeface="Century" panose="02040604050505020304" pitchFamily="18" charset="0"/>
              </a:rPr>
              <a:t> </a:t>
            </a:r>
            <a:r>
              <a:rPr sz="2500" dirty="0" err="1">
                <a:latin typeface="Century" panose="02040604050505020304" pitchFamily="18" charset="0"/>
              </a:rPr>
              <a:t>tham</a:t>
            </a:r>
            <a:r>
              <a:rPr sz="2500" dirty="0">
                <a:latin typeface="Century" panose="02040604050505020304" pitchFamily="18" charset="0"/>
              </a:rPr>
              <a:t> </a:t>
            </a:r>
            <a:r>
              <a:rPr sz="2500" dirty="0" err="1">
                <a:latin typeface="Century" panose="02040604050505020304" pitchFamily="18" charset="0"/>
              </a:rPr>
              <a:t>số</a:t>
            </a:r>
            <a:r>
              <a:rPr sz="2500" dirty="0">
                <a:latin typeface="Century" panose="02040604050505020304" pitchFamily="18" charset="0"/>
              </a:rPr>
              <a:t> </a:t>
            </a:r>
            <a:r>
              <a:rPr sz="2500" dirty="0" err="1">
                <a:latin typeface="Century" panose="02040604050505020304" pitchFamily="18" charset="0"/>
              </a:rPr>
              <a:t>để</a:t>
            </a:r>
            <a:r>
              <a:rPr sz="2500" dirty="0">
                <a:latin typeface="Century" panose="02040604050505020304" pitchFamily="18" charset="0"/>
              </a:rPr>
              <a:t> </a:t>
            </a:r>
            <a:r>
              <a:rPr sz="2500" dirty="0" err="1">
                <a:latin typeface="Century" panose="02040604050505020304" pitchFamily="18" charset="0"/>
              </a:rPr>
              <a:t>phản</a:t>
            </a:r>
            <a:r>
              <a:rPr sz="2500" dirty="0">
                <a:latin typeface="Century" panose="02040604050505020304" pitchFamily="18" charset="0"/>
              </a:rPr>
              <a:t> </a:t>
            </a:r>
            <a:r>
              <a:rPr sz="2500" dirty="0" err="1">
                <a:latin typeface="Century" panose="02040604050505020304" pitchFamily="18" charset="0"/>
              </a:rPr>
              <a:t>ánh</a:t>
            </a:r>
            <a:r>
              <a:rPr sz="2500" dirty="0">
                <a:latin typeface="Century" panose="02040604050505020304" pitchFamily="18" charset="0"/>
              </a:rPr>
              <a:t> </a:t>
            </a:r>
            <a:r>
              <a:rPr sz="2500" dirty="0" err="1">
                <a:latin typeface="Century" panose="02040604050505020304" pitchFamily="18" charset="0"/>
              </a:rPr>
              <a:t>tốt</a:t>
            </a:r>
            <a:r>
              <a:rPr sz="2500" dirty="0">
                <a:latin typeface="Century" panose="02040604050505020304" pitchFamily="18" charset="0"/>
              </a:rPr>
              <a:t> </a:t>
            </a:r>
            <a:r>
              <a:rPr sz="2500" dirty="0" err="1">
                <a:latin typeface="Century" panose="02040604050505020304" pitchFamily="18" charset="0"/>
              </a:rPr>
              <a:t>hơn</a:t>
            </a:r>
            <a:r>
              <a:rPr sz="2500" dirty="0">
                <a:latin typeface="Century" panose="02040604050505020304" pitchFamily="18" charset="0"/>
              </a:rPr>
              <a:t> dao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ngắn</a:t>
            </a:r>
            <a:r>
              <a:rPr sz="2500" dirty="0">
                <a:latin typeface="Century" panose="02040604050505020304" pitchFamily="18" charset="0"/>
              </a:rPr>
              <a:t> </a:t>
            </a:r>
            <a:r>
              <a:rPr sz="2500" dirty="0" err="1">
                <a:latin typeface="Century" panose="02040604050505020304" pitchFamily="18" charset="0"/>
              </a:rPr>
              <a:t>hạn</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mùa</a:t>
            </a:r>
            <a:r>
              <a:rPr sz="2500" dirty="0">
                <a:latin typeface="Century" panose="02040604050505020304" pitchFamily="18" charset="0"/>
              </a:rPr>
              <a:t> </a:t>
            </a:r>
            <a:r>
              <a:rPr sz="2500" dirty="0" err="1">
                <a:latin typeface="Century" panose="02040604050505020304" pitchFamily="18" charset="0"/>
              </a:rPr>
              <a:t>vụ</a:t>
            </a:r>
            <a:r>
              <a:rPr sz="2500" dirty="0">
                <a:latin typeface="Century" panose="02040604050505020304" pitchFamily="18" charset="0"/>
              </a:rPr>
              <a:t> </a:t>
            </a:r>
            <a:r>
              <a:rPr sz="2500" dirty="0" err="1">
                <a:latin typeface="Century" panose="02040604050505020304" pitchFamily="18" charset="0"/>
              </a:rPr>
              <a:t>phức</a:t>
            </a:r>
            <a:r>
              <a:rPr sz="2500" dirty="0">
                <a:latin typeface="Century" panose="02040604050505020304" pitchFamily="18" charset="0"/>
              </a:rPr>
              <a:t> </a:t>
            </a:r>
            <a:r>
              <a:rPr sz="2500" dirty="0" err="1">
                <a:latin typeface="Century" panose="02040604050505020304" pitchFamily="18" charset="0"/>
              </a:rPr>
              <a:t>tạp</a:t>
            </a:r>
            <a:r>
              <a:rPr sz="2500" dirty="0">
                <a:latin typeface="Century" panose="02040604050505020304" pitchFamily="18" charset="0"/>
              </a:rPr>
              <a:t>. </a:t>
            </a:r>
            <a:r>
              <a:rPr sz="2500" dirty="0" err="1">
                <a:latin typeface="Century" panose="02040604050505020304" pitchFamily="18" charset="0"/>
              </a:rPr>
              <a:t>Kết</a:t>
            </a:r>
            <a:r>
              <a:rPr sz="2500" dirty="0">
                <a:latin typeface="Century" panose="02040604050505020304" pitchFamily="18" charset="0"/>
              </a:rPr>
              <a:t> </a:t>
            </a:r>
            <a:r>
              <a:rPr sz="2500" dirty="0" err="1">
                <a:latin typeface="Century" panose="02040604050505020304" pitchFamily="18" charset="0"/>
              </a:rPr>
              <a:t>quả</a:t>
            </a:r>
            <a:r>
              <a:rPr sz="2500" dirty="0">
                <a:latin typeface="Century" panose="02040604050505020304" pitchFamily="18" charset="0"/>
              </a:rPr>
              <a:t> </a:t>
            </a:r>
            <a:r>
              <a:rPr sz="2500" dirty="0" err="1">
                <a:latin typeface="Century" panose="02040604050505020304" pitchFamily="18" charset="0"/>
              </a:rPr>
              <a:t>cho</a:t>
            </a:r>
            <a:r>
              <a:rPr sz="2500" dirty="0">
                <a:latin typeface="Century" panose="02040604050505020304" pitchFamily="18" charset="0"/>
              </a:rPr>
              <a:t> </a:t>
            </a:r>
            <a:r>
              <a:rPr sz="2500" dirty="0" err="1">
                <a:latin typeface="Century" panose="02040604050505020304" pitchFamily="18" charset="0"/>
              </a:rPr>
              <a:t>thấy</a:t>
            </a:r>
            <a:r>
              <a:rPr sz="2500" dirty="0">
                <a:latin typeface="Century" panose="02040604050505020304" pitchFamily="18" charset="0"/>
              </a:rPr>
              <a:t> AIC/BIC </a:t>
            </a:r>
            <a:r>
              <a:rPr sz="2500" dirty="0" err="1">
                <a:latin typeface="Century" panose="02040604050505020304" pitchFamily="18" charset="0"/>
              </a:rPr>
              <a:t>thấp</a:t>
            </a:r>
            <a:r>
              <a:rPr sz="2500" dirty="0">
                <a:latin typeface="Century" panose="02040604050505020304" pitchFamily="18" charset="0"/>
              </a:rPr>
              <a:t> </a:t>
            </a:r>
            <a:r>
              <a:rPr sz="2500" dirty="0" err="1">
                <a:latin typeface="Century" panose="02040604050505020304" pitchFamily="18" charset="0"/>
              </a:rPr>
              <a:t>hơn</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sai</a:t>
            </a:r>
            <a:r>
              <a:rPr sz="2500" dirty="0">
                <a:latin typeface="Century" panose="02040604050505020304" pitchFamily="18" charset="0"/>
              </a:rPr>
              <a:t> </a:t>
            </a:r>
            <a:r>
              <a:rPr sz="2500" dirty="0" err="1">
                <a:latin typeface="Century" panose="02040604050505020304" pitchFamily="18" charset="0"/>
              </a:rPr>
              <a:t>số</a:t>
            </a:r>
            <a:r>
              <a:rPr sz="2500" dirty="0">
                <a:latin typeface="Century" panose="02040604050505020304" pitchFamily="18" charset="0"/>
              </a:rPr>
              <a:t> </a:t>
            </a:r>
            <a:r>
              <a:rPr sz="2500" dirty="0" err="1">
                <a:latin typeface="Century" panose="02040604050505020304" pitchFamily="18" charset="0"/>
              </a:rPr>
              <a:t>dự</a:t>
            </a:r>
            <a:r>
              <a:rPr sz="2500" dirty="0">
                <a:latin typeface="Century" panose="02040604050505020304" pitchFamily="18" charset="0"/>
              </a:rPr>
              <a:t> </a:t>
            </a:r>
            <a:r>
              <a:rPr sz="2500" dirty="0" err="1">
                <a:latin typeface="Century" panose="02040604050505020304" pitchFamily="18" charset="0"/>
              </a:rPr>
              <a:t>báo</a:t>
            </a:r>
            <a:r>
              <a:rPr sz="2500" dirty="0">
                <a:latin typeface="Century" panose="02040604050505020304" pitchFamily="18" charset="0"/>
              </a:rPr>
              <a:t> </a:t>
            </a:r>
            <a:r>
              <a:rPr sz="2500" dirty="0" err="1">
                <a:latin typeface="Century" panose="02040604050505020304" pitchFamily="18" charset="0"/>
              </a:rPr>
              <a:t>nhỏ</a:t>
            </a:r>
            <a:r>
              <a:rPr sz="2500" dirty="0">
                <a:latin typeface="Century" panose="02040604050505020304" pitchFamily="18" charset="0"/>
              </a:rPr>
              <a:t> </a:t>
            </a:r>
            <a:r>
              <a:rPr sz="2500" dirty="0" err="1">
                <a:latin typeface="Century" panose="02040604050505020304" pitchFamily="18" charset="0"/>
              </a:rPr>
              <a:t>hơn</a:t>
            </a:r>
            <a:r>
              <a:rPr sz="2500" dirty="0">
                <a:latin typeface="Century" panose="02040604050505020304" pitchFamily="18" charset="0"/>
              </a:rPr>
              <a: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187325" y="190860"/>
            <a:ext cx="7697218" cy="1211263"/>
          </a:xfrm>
          <a:noFill/>
          <a:ln>
            <a:noFill/>
          </a:ln>
        </p:spPr>
        <p:txBody>
          <a:bodyPr spcFirstLastPara="1" wrap="square" lIns="91425" tIns="91425" rIns="91425" bIns="91425" anchor="t" anchorCtr="0">
            <a:noAutofit/>
          </a:bodyPr>
          <a:lstStyle/>
          <a:p>
            <a:pPr algn="ctr"/>
            <a:r>
              <a:rPr sz="4000" dirty="0">
                <a:latin typeface="Aptos Display" panose="020B0004020202020204" pitchFamily="34" charset="0"/>
              </a:rPr>
              <a:t>So </a:t>
            </a:r>
            <a:r>
              <a:rPr sz="4000" dirty="0" err="1">
                <a:latin typeface="Aptos Display" panose="020B0004020202020204" pitchFamily="34" charset="0"/>
              </a:rPr>
              <a:t>sánh</a:t>
            </a:r>
            <a:r>
              <a:rPr sz="4000" dirty="0">
                <a:latin typeface="Aptos Display" panose="020B0004020202020204" pitchFamily="34" charset="0"/>
              </a:rPr>
              <a:t> </a:t>
            </a:r>
            <a:r>
              <a:rPr sz="4000" dirty="0" err="1">
                <a:latin typeface="Aptos Display" panose="020B0004020202020204" pitchFamily="34" charset="0"/>
              </a:rPr>
              <a:t>hai</a:t>
            </a:r>
            <a:r>
              <a:rPr sz="4000" dirty="0">
                <a:latin typeface="Aptos Display" panose="020B0004020202020204" pitchFamily="34" charset="0"/>
              </a:rPr>
              <a:t> </a:t>
            </a:r>
            <a:r>
              <a:rPr sz="4000" dirty="0" err="1">
                <a:latin typeface="Aptos Display" panose="020B0004020202020204" pitchFamily="34" charset="0"/>
              </a:rPr>
              <a:t>mô</a:t>
            </a:r>
            <a:r>
              <a:rPr sz="4000" dirty="0">
                <a:latin typeface="Aptos Display" panose="020B0004020202020204" pitchFamily="34" charset="0"/>
              </a:rPr>
              <a:t> </a:t>
            </a:r>
            <a:r>
              <a:rPr sz="4000" dirty="0" err="1">
                <a:latin typeface="Aptos Display" panose="020B0004020202020204" pitchFamily="34" charset="0"/>
              </a:rPr>
              <a:t>hình</a:t>
            </a:r>
            <a:r>
              <a:rPr sz="4000" dirty="0">
                <a:latin typeface="Aptos Display" panose="020B0004020202020204" pitchFamily="34" charset="0"/>
              </a:rPr>
              <a:t> SARIMA</a:t>
            </a:r>
          </a:p>
        </p:txBody>
      </p:sp>
      <p:sp>
        <p:nvSpPr>
          <p:cNvPr id="4" name="Picture Placeholder 3"/>
          <p:cNvSpPr>
            <a:spLocks noGrp="1"/>
          </p:cNvSpPr>
          <p:nvPr>
            <p:ph type="pic" idx="4294967295"/>
          </p:nvPr>
        </p:nvSpPr>
        <p:spPr>
          <a:xfrm>
            <a:off x="465827" y="888640"/>
            <a:ext cx="8327538" cy="3840480"/>
          </a:xfrm>
          <a:noFill/>
          <a:ln>
            <a:noFill/>
          </a:ln>
        </p:spPr>
        <p:txBody>
          <a:bodyPr/>
          <a:lstStyle/>
          <a:p>
            <a:pPr marL="0" indent="0">
              <a:buNone/>
            </a:pPr>
            <a:r>
              <a:rPr sz="2400" dirty="0">
                <a:latin typeface="Century" panose="02040604050505020304" pitchFamily="18" charset="0"/>
              </a:rPr>
              <a:t>SARIMA 1 </a:t>
            </a:r>
            <a:r>
              <a:rPr sz="2400" dirty="0" err="1">
                <a:latin typeface="Century" panose="02040604050505020304" pitchFamily="18" charset="0"/>
              </a:rPr>
              <a:t>phù</a:t>
            </a:r>
            <a:r>
              <a:rPr sz="2400" dirty="0">
                <a:latin typeface="Century" panose="02040604050505020304" pitchFamily="18" charset="0"/>
              </a:rPr>
              <a:t> </a:t>
            </a:r>
            <a:r>
              <a:rPr sz="2400" dirty="0" err="1">
                <a:latin typeface="Century" panose="02040604050505020304" pitchFamily="18" charset="0"/>
              </a:rPr>
              <a:t>hợp</a:t>
            </a:r>
            <a:r>
              <a:rPr sz="2400" dirty="0">
                <a:latin typeface="Century" panose="02040604050505020304" pitchFamily="18" charset="0"/>
              </a:rPr>
              <a:t> </a:t>
            </a:r>
            <a:r>
              <a:rPr sz="2400" dirty="0" err="1">
                <a:latin typeface="Century" panose="02040604050505020304" pitchFamily="18" charset="0"/>
              </a:rPr>
              <a:t>giám</a:t>
            </a:r>
            <a:r>
              <a:rPr sz="2400" dirty="0">
                <a:latin typeface="Century" panose="02040604050505020304" pitchFamily="18" charset="0"/>
              </a:rPr>
              <a:t> </a:t>
            </a:r>
            <a:r>
              <a:rPr sz="2400" dirty="0" err="1">
                <a:latin typeface="Century" panose="02040604050505020304" pitchFamily="18" charset="0"/>
              </a:rPr>
              <a:t>sát</a:t>
            </a:r>
            <a:r>
              <a:rPr sz="2400" dirty="0">
                <a:latin typeface="Century" panose="02040604050505020304" pitchFamily="18" charset="0"/>
              </a:rPr>
              <a:t> xu </a:t>
            </a:r>
            <a:r>
              <a:rPr sz="2400" dirty="0" err="1">
                <a:latin typeface="Century" panose="02040604050505020304" pitchFamily="18" charset="0"/>
              </a:rPr>
              <a:t>hướng</a:t>
            </a:r>
            <a:r>
              <a:rPr sz="2400" dirty="0">
                <a:latin typeface="Century" panose="02040604050505020304" pitchFamily="18" charset="0"/>
              </a:rPr>
              <a:t> </a:t>
            </a:r>
            <a:r>
              <a:rPr sz="2400" dirty="0" err="1">
                <a:latin typeface="Century" panose="02040604050505020304" pitchFamily="18" charset="0"/>
              </a:rPr>
              <a:t>dài</a:t>
            </a:r>
            <a:r>
              <a:rPr sz="2400" dirty="0">
                <a:latin typeface="Century" panose="02040604050505020304" pitchFamily="18" charset="0"/>
              </a:rPr>
              <a:t> </a:t>
            </a:r>
            <a:r>
              <a:rPr sz="2400" dirty="0" err="1">
                <a:latin typeface="Century" panose="02040604050505020304" pitchFamily="18" charset="0"/>
              </a:rPr>
              <a:t>hạn</a:t>
            </a:r>
            <a:r>
              <a:rPr sz="2400" dirty="0">
                <a:latin typeface="Century" panose="02040604050505020304" pitchFamily="18" charset="0"/>
              </a:rPr>
              <a:t> </a:t>
            </a:r>
            <a:r>
              <a:rPr sz="2400" dirty="0" err="1">
                <a:latin typeface="Century" panose="02040604050505020304" pitchFamily="18" charset="0"/>
              </a:rPr>
              <a:t>nhờ</a:t>
            </a:r>
            <a:r>
              <a:rPr sz="2400" dirty="0">
                <a:latin typeface="Century" panose="02040604050505020304" pitchFamily="18" charset="0"/>
              </a:rPr>
              <a:t> </a:t>
            </a:r>
            <a:r>
              <a:rPr sz="2400" dirty="0" err="1">
                <a:latin typeface="Century" panose="02040604050505020304" pitchFamily="18" charset="0"/>
              </a:rPr>
              <a:t>tính</a:t>
            </a:r>
            <a:r>
              <a:rPr sz="2400" dirty="0">
                <a:latin typeface="Century" panose="02040604050505020304" pitchFamily="18" charset="0"/>
              </a:rPr>
              <a:t> </a:t>
            </a:r>
            <a:r>
              <a:rPr sz="2400" dirty="0" err="1">
                <a:latin typeface="Century" panose="02040604050505020304" pitchFamily="18" charset="0"/>
              </a:rPr>
              <a:t>đơn</a:t>
            </a:r>
            <a:r>
              <a:rPr sz="2400" dirty="0">
                <a:latin typeface="Century" panose="02040604050505020304" pitchFamily="18" charset="0"/>
              </a:rPr>
              <a:t> </a:t>
            </a:r>
            <a:r>
              <a:rPr sz="2400" dirty="0" err="1">
                <a:latin typeface="Century" panose="02040604050505020304" pitchFamily="18" charset="0"/>
              </a:rPr>
              <a:t>giản</a:t>
            </a:r>
            <a:r>
              <a:rPr sz="2400" dirty="0">
                <a:latin typeface="Century" panose="02040604050505020304" pitchFamily="18" charset="0"/>
              </a:rPr>
              <a:t> </a:t>
            </a:r>
            <a:r>
              <a:rPr sz="2400" dirty="0" err="1">
                <a:latin typeface="Century" panose="02040604050505020304" pitchFamily="18" charset="0"/>
              </a:rPr>
              <a:t>và</a:t>
            </a:r>
            <a:r>
              <a:rPr sz="2400" dirty="0">
                <a:latin typeface="Century" panose="02040604050505020304" pitchFamily="18" charset="0"/>
              </a:rPr>
              <a:t> </a:t>
            </a:r>
            <a:r>
              <a:rPr sz="2400" dirty="0" err="1">
                <a:latin typeface="Century" panose="02040604050505020304" pitchFamily="18" charset="0"/>
              </a:rPr>
              <a:t>khả</a:t>
            </a:r>
            <a:r>
              <a:rPr sz="2400" dirty="0">
                <a:latin typeface="Century" panose="02040604050505020304" pitchFamily="18" charset="0"/>
              </a:rPr>
              <a:t> </a:t>
            </a:r>
            <a:r>
              <a:rPr sz="2400" dirty="0" err="1">
                <a:latin typeface="Century" panose="02040604050505020304" pitchFamily="18" charset="0"/>
              </a:rPr>
              <a:t>năng</a:t>
            </a:r>
            <a:r>
              <a:rPr sz="2400" dirty="0">
                <a:latin typeface="Century" panose="02040604050505020304" pitchFamily="18" charset="0"/>
              </a:rPr>
              <a:t> </a:t>
            </a:r>
            <a:r>
              <a:rPr sz="2400" dirty="0" err="1">
                <a:latin typeface="Century" panose="02040604050505020304" pitchFamily="18" charset="0"/>
              </a:rPr>
              <a:t>diễn</a:t>
            </a:r>
            <a:r>
              <a:rPr sz="2400" dirty="0">
                <a:latin typeface="Century" panose="02040604050505020304" pitchFamily="18" charset="0"/>
              </a:rPr>
              <a:t> </a:t>
            </a:r>
            <a:r>
              <a:rPr sz="2400" dirty="0" err="1">
                <a:latin typeface="Century" panose="02040604050505020304" pitchFamily="18" charset="0"/>
              </a:rPr>
              <a:t>giải</a:t>
            </a:r>
            <a:r>
              <a:rPr sz="2400" dirty="0">
                <a:latin typeface="Century" panose="02040604050505020304" pitchFamily="18" charset="0"/>
              </a:rPr>
              <a:t> </a:t>
            </a:r>
            <a:r>
              <a:rPr sz="2400" dirty="0" err="1">
                <a:latin typeface="Century" panose="02040604050505020304" pitchFamily="18" charset="0"/>
              </a:rPr>
              <a:t>tốt</a:t>
            </a:r>
            <a:endParaRPr lang="en-US" sz="2400" dirty="0">
              <a:latin typeface="Century" panose="02040604050505020304" pitchFamily="18" charset="0"/>
            </a:endParaRPr>
          </a:p>
          <a:p>
            <a:pPr marL="0" indent="0">
              <a:buNone/>
            </a:pPr>
            <a:endParaRPr lang="en-US" sz="2400" dirty="0">
              <a:latin typeface="Century" panose="02040604050505020304" pitchFamily="18" charset="0"/>
            </a:endParaRPr>
          </a:p>
          <a:p>
            <a:pPr marL="0" indent="0">
              <a:buNone/>
            </a:pPr>
            <a:r>
              <a:rPr lang="vi-VN" sz="2400" dirty="0">
                <a:solidFill>
                  <a:srgbClr val="1B1B1B"/>
                </a:solidFill>
                <a:latin typeface="Century" panose="02040604050505020304" pitchFamily="18" charset="0"/>
              </a:rPr>
              <a:t>SARIMA 2 phù hợp hơn cho dự báo ngắn hạn trong bối cảnh biến động cao</a:t>
            </a:r>
          </a:p>
          <a:p>
            <a:pPr marL="0" indent="0">
              <a:buNone/>
            </a:pPr>
            <a:endParaRPr lang="en-US" sz="2400" dirty="0">
              <a:latin typeface="Century" panose="02040604050505020304" pitchFamily="18" charset="0"/>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43B274-FB65-5A5B-752A-58AC00EAC34D}"/>
              </a:ext>
            </a:extLst>
          </p:cNvPr>
          <p:cNvPicPr>
            <a:picLocks noChangeAspect="1"/>
          </p:cNvPicPr>
          <p:nvPr/>
        </p:nvPicPr>
        <p:blipFill>
          <a:blip r:embed="rId2"/>
          <a:stretch>
            <a:fillRect/>
          </a:stretch>
        </p:blipFill>
        <p:spPr>
          <a:xfrm>
            <a:off x="0" y="207034"/>
            <a:ext cx="9144000" cy="3717031"/>
          </a:xfrm>
          <a:prstGeom prst="rect">
            <a:avLst/>
          </a:prstGeom>
        </p:spPr>
      </p:pic>
      <p:sp>
        <p:nvSpPr>
          <p:cNvPr id="4" name="TextBox 3">
            <a:extLst>
              <a:ext uri="{FF2B5EF4-FFF2-40B4-BE49-F238E27FC236}">
                <a16:creationId xmlns:a16="http://schemas.microsoft.com/office/drawing/2014/main" id="{57754AB4-56DD-C42C-91E2-1DC613FC4ACF}"/>
              </a:ext>
            </a:extLst>
          </p:cNvPr>
          <p:cNvSpPr txBox="1"/>
          <p:nvPr/>
        </p:nvSpPr>
        <p:spPr>
          <a:xfrm>
            <a:off x="957531" y="3906812"/>
            <a:ext cx="7944929" cy="338554"/>
          </a:xfrm>
          <a:prstGeom prst="rect">
            <a:avLst/>
          </a:prstGeom>
          <a:noFill/>
        </p:spPr>
        <p:txBody>
          <a:bodyPr wrap="square">
            <a:spAutoFit/>
          </a:bodyPr>
          <a:lstStyle/>
          <a:p>
            <a:r>
              <a:rPr lang="en-US" sz="1600" dirty="0" err="1"/>
              <a:t>Hình</a:t>
            </a:r>
            <a:r>
              <a:rPr lang="en-US" sz="1600" dirty="0"/>
              <a:t> 12. So </a:t>
            </a:r>
            <a:r>
              <a:rPr lang="en-US" sz="1600" dirty="0" err="1"/>
              <a:t>sánh</a:t>
            </a:r>
            <a:r>
              <a:rPr lang="en-US" sz="1600" dirty="0"/>
              <a:t> </a:t>
            </a:r>
            <a:r>
              <a:rPr lang="en-US" sz="1600" dirty="0" err="1"/>
              <a:t>kết</a:t>
            </a:r>
            <a:r>
              <a:rPr lang="en-US" sz="1600" dirty="0"/>
              <a:t> </a:t>
            </a:r>
            <a:r>
              <a:rPr lang="en-US" sz="1600" dirty="0" err="1"/>
              <a:t>quả</a:t>
            </a:r>
            <a:r>
              <a:rPr lang="en-US" sz="1600" dirty="0"/>
              <a:t> </a:t>
            </a:r>
            <a:r>
              <a:rPr lang="en-US" sz="1600" dirty="0" err="1"/>
              <a:t>dự</a:t>
            </a:r>
            <a:r>
              <a:rPr lang="en-US" sz="1600" dirty="0"/>
              <a:t> </a:t>
            </a:r>
            <a:r>
              <a:rPr lang="en-US" sz="1600" dirty="0" err="1"/>
              <a:t>báo</a:t>
            </a:r>
            <a:r>
              <a:rPr lang="en-US" sz="1600" dirty="0"/>
              <a:t> </a:t>
            </a:r>
            <a:r>
              <a:rPr lang="en-US" sz="1600" dirty="0" err="1"/>
              <a:t>của</a:t>
            </a:r>
            <a:r>
              <a:rPr lang="en-US" sz="1600" dirty="0"/>
              <a:t> </a:t>
            </a:r>
            <a:r>
              <a:rPr lang="en-US" sz="1600" dirty="0" err="1"/>
              <a:t>hai</a:t>
            </a:r>
            <a:r>
              <a:rPr lang="en-US" sz="1600" dirty="0"/>
              <a:t> </a:t>
            </a:r>
            <a:r>
              <a:rPr lang="en-US" sz="1600" dirty="0" err="1"/>
              <a:t>mô</a:t>
            </a:r>
            <a:r>
              <a:rPr lang="en-US" sz="1600" dirty="0"/>
              <a:t> </a:t>
            </a:r>
            <a:r>
              <a:rPr lang="en-US" sz="1600" dirty="0" err="1"/>
              <a:t>hình</a:t>
            </a:r>
            <a:r>
              <a:rPr lang="en-US" sz="1600" dirty="0"/>
              <a:t> SARIMA </a:t>
            </a:r>
            <a:r>
              <a:rPr lang="en-US" sz="1600" dirty="0" err="1"/>
              <a:t>với</a:t>
            </a:r>
            <a:r>
              <a:rPr lang="en-US" sz="1600" dirty="0"/>
              <a:t> </a:t>
            </a:r>
            <a:r>
              <a:rPr lang="en-US" sz="1600" dirty="0" err="1"/>
              <a:t>doanh</a:t>
            </a:r>
            <a:r>
              <a:rPr lang="en-US" sz="1600" dirty="0"/>
              <a:t> </a:t>
            </a:r>
            <a:r>
              <a:rPr lang="en-US" sz="1600" dirty="0" err="1"/>
              <a:t>thu</a:t>
            </a:r>
            <a:r>
              <a:rPr lang="en-US" sz="1600" dirty="0"/>
              <a:t> </a:t>
            </a:r>
            <a:r>
              <a:rPr lang="en-US" sz="1600" dirty="0" err="1"/>
              <a:t>thực</a:t>
            </a:r>
            <a:r>
              <a:rPr lang="en-US" sz="1600" dirty="0"/>
              <a:t> </a:t>
            </a:r>
            <a:r>
              <a:rPr lang="en-US" sz="1600" dirty="0" err="1"/>
              <a:t>tế</a:t>
            </a:r>
            <a:endParaRPr lang="en-US" sz="1600" dirty="0"/>
          </a:p>
        </p:txBody>
      </p:sp>
    </p:spTree>
    <p:extLst>
      <p:ext uri="{BB962C8B-B14F-4D97-AF65-F5344CB8AC3E}">
        <p14:creationId xmlns:p14="http://schemas.microsoft.com/office/powerpoint/2010/main" val="23067139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379561" y="259870"/>
            <a:ext cx="7799298" cy="1211263"/>
          </a:xfrm>
          <a:noFill/>
          <a:ln>
            <a:noFill/>
          </a:ln>
        </p:spPr>
        <p:txBody>
          <a:bodyPr spcFirstLastPara="1" wrap="square" lIns="91425" tIns="91425" rIns="91425" bIns="91425" anchor="t" anchorCtr="0">
            <a:noAutofit/>
          </a:bodyPr>
          <a:lstStyle/>
          <a:p>
            <a:pPr algn="ctr"/>
            <a:r>
              <a:rPr sz="4000" dirty="0" err="1">
                <a:latin typeface="Aptos Display" panose="020B0004020202020204" pitchFamily="34" charset="0"/>
              </a:rPr>
              <a:t>Hàm</a:t>
            </a:r>
            <a:r>
              <a:rPr sz="4000" dirty="0">
                <a:latin typeface="Aptos Display" panose="020B0004020202020204" pitchFamily="34" charset="0"/>
              </a:rPr>
              <a:t> ý </a:t>
            </a:r>
            <a:r>
              <a:rPr sz="4000" dirty="0" err="1">
                <a:latin typeface="Aptos Display" panose="020B0004020202020204" pitchFamily="34" charset="0"/>
              </a:rPr>
              <a:t>quản</a:t>
            </a:r>
            <a:r>
              <a:rPr sz="4000" dirty="0">
                <a:latin typeface="Aptos Display" panose="020B0004020202020204" pitchFamily="34" charset="0"/>
              </a:rPr>
              <a:t> </a:t>
            </a:r>
            <a:r>
              <a:rPr sz="4000" dirty="0" err="1">
                <a:latin typeface="Aptos Display" panose="020B0004020202020204" pitchFamily="34" charset="0"/>
              </a:rPr>
              <a:t>trị</a:t>
            </a:r>
            <a:r>
              <a:rPr sz="4000" dirty="0">
                <a:latin typeface="Aptos Display" panose="020B0004020202020204" pitchFamily="34" charset="0"/>
              </a:rPr>
              <a:t> </a:t>
            </a:r>
            <a:r>
              <a:rPr sz="4000" dirty="0" err="1">
                <a:latin typeface="Aptos Display" panose="020B0004020202020204" pitchFamily="34" charset="0"/>
              </a:rPr>
              <a:t>từ</a:t>
            </a:r>
            <a:r>
              <a:rPr sz="4000" dirty="0">
                <a:latin typeface="Aptos Display" panose="020B0004020202020204" pitchFamily="34" charset="0"/>
              </a:rPr>
              <a:t> </a:t>
            </a:r>
            <a:r>
              <a:rPr sz="4000" dirty="0" err="1">
                <a:latin typeface="Aptos Display" panose="020B0004020202020204" pitchFamily="34" charset="0"/>
              </a:rPr>
              <a:t>kết</a:t>
            </a:r>
            <a:r>
              <a:rPr sz="4000" dirty="0">
                <a:latin typeface="Aptos Display" panose="020B0004020202020204" pitchFamily="34" charset="0"/>
              </a:rPr>
              <a:t> </a:t>
            </a:r>
            <a:r>
              <a:rPr sz="4000" dirty="0" err="1">
                <a:latin typeface="Aptos Display" panose="020B0004020202020204" pitchFamily="34" charset="0"/>
              </a:rPr>
              <a:t>quả</a:t>
            </a:r>
            <a:r>
              <a:rPr sz="4000" dirty="0">
                <a:latin typeface="Aptos Display" panose="020B0004020202020204" pitchFamily="34" charset="0"/>
              </a:rPr>
              <a:t> </a:t>
            </a:r>
            <a:r>
              <a:rPr sz="4000" dirty="0" err="1">
                <a:latin typeface="Aptos Display" panose="020B0004020202020204" pitchFamily="34" charset="0"/>
              </a:rPr>
              <a:t>dự</a:t>
            </a:r>
            <a:r>
              <a:rPr sz="4000" dirty="0">
                <a:latin typeface="Aptos Display" panose="020B0004020202020204" pitchFamily="34" charset="0"/>
              </a:rPr>
              <a:t> </a:t>
            </a:r>
            <a:r>
              <a:rPr sz="4000" dirty="0" err="1">
                <a:latin typeface="Aptos Display" panose="020B0004020202020204" pitchFamily="34" charset="0"/>
              </a:rPr>
              <a:t>báo</a:t>
            </a:r>
            <a:endParaRPr sz="4000" dirty="0">
              <a:latin typeface="Aptos Display" panose="020B0004020202020204" pitchFamily="34" charset="0"/>
            </a:endParaRPr>
          </a:p>
        </p:txBody>
      </p:sp>
      <p:sp>
        <p:nvSpPr>
          <p:cNvPr id="4" name="Picture Placeholder 3"/>
          <p:cNvSpPr>
            <a:spLocks noGrp="1"/>
          </p:cNvSpPr>
          <p:nvPr>
            <p:ph type="pic" idx="4294967295"/>
          </p:nvPr>
        </p:nvSpPr>
        <p:spPr>
          <a:xfrm>
            <a:off x="379561" y="1079500"/>
            <a:ext cx="8384878" cy="3665028"/>
          </a:xfrm>
          <a:noFill/>
          <a:ln>
            <a:noFill/>
          </a:ln>
        </p:spPr>
        <p:txBody>
          <a:bodyPr/>
          <a:lstStyle/>
          <a:p>
            <a:pPr marL="0" indent="0">
              <a:buNone/>
            </a:pPr>
            <a:r>
              <a:rPr lang="en-US" sz="2500" dirty="0">
                <a:latin typeface="Century" panose="02040604050505020304" pitchFamily="18" charset="0"/>
                <a:sym typeface="Wingdings" panose="05000000000000000000" pitchFamily="2" charset="2"/>
              </a:rPr>
              <a:t> </a:t>
            </a:r>
            <a:r>
              <a:rPr sz="2500" dirty="0" err="1">
                <a:latin typeface="Century" panose="02040604050505020304" pitchFamily="18" charset="0"/>
              </a:rPr>
              <a:t>Dự</a:t>
            </a:r>
            <a:r>
              <a:rPr sz="2500" dirty="0">
                <a:latin typeface="Century" panose="02040604050505020304" pitchFamily="18" charset="0"/>
              </a:rPr>
              <a:t> </a:t>
            </a:r>
            <a:r>
              <a:rPr sz="2500" dirty="0" err="1">
                <a:latin typeface="Century" panose="02040604050505020304" pitchFamily="18" charset="0"/>
              </a:rPr>
              <a:t>báo</a:t>
            </a:r>
            <a:r>
              <a:rPr sz="2500" dirty="0">
                <a:latin typeface="Century" panose="02040604050505020304" pitchFamily="18" charset="0"/>
              </a:rPr>
              <a:t> </a:t>
            </a:r>
            <a:r>
              <a:rPr sz="2500" dirty="0" err="1">
                <a:latin typeface="Century" panose="02040604050505020304" pitchFamily="18" charset="0"/>
              </a:rPr>
              <a:t>giúp</a:t>
            </a:r>
            <a:r>
              <a:rPr sz="2500" dirty="0">
                <a:latin typeface="Century" panose="02040604050505020304" pitchFamily="18" charset="0"/>
              </a:rPr>
              <a:t> </a:t>
            </a:r>
            <a:r>
              <a:rPr sz="2500" dirty="0" err="1">
                <a:latin typeface="Century" panose="02040604050505020304" pitchFamily="18" charset="0"/>
              </a:rPr>
              <a:t>doanh</a:t>
            </a:r>
            <a:r>
              <a:rPr sz="2500" dirty="0">
                <a:latin typeface="Century" panose="02040604050505020304" pitchFamily="18" charset="0"/>
              </a:rPr>
              <a:t> </a:t>
            </a:r>
            <a:r>
              <a:rPr sz="2500" dirty="0" err="1">
                <a:latin typeface="Century" panose="02040604050505020304" pitchFamily="18" charset="0"/>
              </a:rPr>
              <a:t>nghiệp</a:t>
            </a:r>
            <a:r>
              <a:rPr sz="2500" dirty="0">
                <a:latin typeface="Century" panose="02040604050505020304" pitchFamily="18" charset="0"/>
              </a:rPr>
              <a:t> </a:t>
            </a:r>
            <a:r>
              <a:rPr sz="2500" dirty="0" err="1">
                <a:latin typeface="Century" panose="02040604050505020304" pitchFamily="18" charset="0"/>
              </a:rPr>
              <a:t>chủ</a:t>
            </a:r>
            <a:r>
              <a:rPr sz="2500" dirty="0">
                <a:latin typeface="Century" panose="02040604050505020304" pitchFamily="18" charset="0"/>
              </a:rPr>
              <a:t> </a:t>
            </a:r>
            <a:r>
              <a:rPr sz="2500" dirty="0" err="1">
                <a:latin typeface="Century" panose="02040604050505020304" pitchFamily="18" charset="0"/>
              </a:rPr>
              <a:t>động</a:t>
            </a:r>
            <a:r>
              <a:rPr sz="2500" dirty="0">
                <a:latin typeface="Century" panose="02040604050505020304" pitchFamily="18" charset="0"/>
              </a:rPr>
              <a:t> </a:t>
            </a:r>
            <a:r>
              <a:rPr sz="2500" dirty="0" err="1">
                <a:latin typeface="Century" panose="02040604050505020304" pitchFamily="18" charset="0"/>
              </a:rPr>
              <a:t>chuẩn</a:t>
            </a:r>
            <a:r>
              <a:rPr sz="2500" dirty="0">
                <a:latin typeface="Century" panose="02040604050505020304" pitchFamily="18" charset="0"/>
              </a:rPr>
              <a:t> </a:t>
            </a:r>
            <a:r>
              <a:rPr sz="2500" dirty="0" err="1">
                <a:latin typeface="Century" panose="02040604050505020304" pitchFamily="18" charset="0"/>
              </a:rPr>
              <a:t>bị</a:t>
            </a:r>
            <a:r>
              <a:rPr sz="2500" dirty="0">
                <a:latin typeface="Century" panose="02040604050505020304" pitchFamily="18" charset="0"/>
              </a:rPr>
              <a:t> </a:t>
            </a:r>
            <a:r>
              <a:rPr sz="2500" dirty="0" err="1">
                <a:latin typeface="Century" panose="02040604050505020304" pitchFamily="18" charset="0"/>
              </a:rPr>
              <a:t>tồn</a:t>
            </a:r>
            <a:r>
              <a:rPr sz="2500" dirty="0">
                <a:latin typeface="Century" panose="02040604050505020304" pitchFamily="18" charset="0"/>
              </a:rPr>
              <a:t> </a:t>
            </a:r>
            <a:r>
              <a:rPr sz="2500" dirty="0" err="1">
                <a:latin typeface="Century" panose="02040604050505020304" pitchFamily="18" charset="0"/>
              </a:rPr>
              <a:t>kho</a:t>
            </a:r>
            <a:r>
              <a:rPr sz="2500" dirty="0">
                <a:latin typeface="Century" panose="02040604050505020304" pitchFamily="18" charset="0"/>
              </a:rPr>
              <a:t> </a:t>
            </a:r>
            <a:r>
              <a:rPr sz="2500" dirty="0" err="1">
                <a:latin typeface="Century" panose="02040604050505020304" pitchFamily="18" charset="0"/>
              </a:rPr>
              <a:t>và</a:t>
            </a:r>
            <a:r>
              <a:rPr sz="2500" dirty="0">
                <a:latin typeface="Century" panose="02040604050505020304" pitchFamily="18" charset="0"/>
              </a:rPr>
              <a:t> </a:t>
            </a:r>
            <a:r>
              <a:rPr sz="2500" dirty="0" err="1">
                <a:latin typeface="Century" panose="02040604050505020304" pitchFamily="18" charset="0"/>
              </a:rPr>
              <a:t>nguồn</a:t>
            </a:r>
            <a:r>
              <a:rPr sz="2500" dirty="0">
                <a:latin typeface="Century" panose="02040604050505020304" pitchFamily="18" charset="0"/>
              </a:rPr>
              <a:t> </a:t>
            </a:r>
            <a:r>
              <a:rPr sz="2500" dirty="0" err="1">
                <a:latin typeface="Century" panose="02040604050505020304" pitchFamily="18" charset="0"/>
              </a:rPr>
              <a:t>lực</a:t>
            </a:r>
            <a:r>
              <a:rPr sz="2500" dirty="0">
                <a:latin typeface="Century" panose="02040604050505020304" pitchFamily="18" charset="0"/>
              </a:rPr>
              <a:t> ở </a:t>
            </a:r>
            <a:r>
              <a:rPr sz="2500" dirty="0" err="1">
                <a:latin typeface="Century" panose="02040604050505020304" pitchFamily="18" charset="0"/>
              </a:rPr>
              <a:t>các</a:t>
            </a:r>
            <a:r>
              <a:rPr sz="2500" dirty="0">
                <a:latin typeface="Century" panose="02040604050505020304" pitchFamily="18" charset="0"/>
              </a:rPr>
              <a:t> </a:t>
            </a:r>
            <a:r>
              <a:rPr sz="2500" dirty="0" err="1">
                <a:latin typeface="Century" panose="02040604050505020304" pitchFamily="18" charset="0"/>
              </a:rPr>
              <a:t>giai</a:t>
            </a:r>
            <a:r>
              <a:rPr sz="2500" dirty="0">
                <a:latin typeface="Century" panose="02040604050505020304" pitchFamily="18" charset="0"/>
              </a:rPr>
              <a:t> </a:t>
            </a:r>
            <a:r>
              <a:rPr sz="2500" dirty="0" err="1">
                <a:latin typeface="Century" panose="02040604050505020304" pitchFamily="18" charset="0"/>
              </a:rPr>
              <a:t>đoạn</a:t>
            </a:r>
            <a:r>
              <a:rPr sz="2500" dirty="0">
                <a:latin typeface="Century" panose="02040604050505020304" pitchFamily="18" charset="0"/>
              </a:rPr>
              <a:t> </a:t>
            </a:r>
            <a:r>
              <a:rPr sz="2500" dirty="0" err="1">
                <a:latin typeface="Century" panose="02040604050505020304" pitchFamily="18" charset="0"/>
              </a:rPr>
              <a:t>cao</a:t>
            </a:r>
            <a:r>
              <a:rPr sz="2500" dirty="0">
                <a:latin typeface="Century" panose="02040604050505020304" pitchFamily="18" charset="0"/>
              </a:rPr>
              <a:t> </a:t>
            </a:r>
            <a:r>
              <a:rPr sz="2500" dirty="0" err="1">
                <a:latin typeface="Century" panose="02040604050505020304" pitchFamily="18" charset="0"/>
              </a:rPr>
              <a:t>điểm</a:t>
            </a:r>
            <a:r>
              <a:rPr sz="2500" dirty="0">
                <a:latin typeface="Century" panose="02040604050505020304" pitchFamily="18" charset="0"/>
              </a:rPr>
              <a:t>, </a:t>
            </a:r>
            <a:r>
              <a:rPr sz="2500" dirty="0" err="1">
                <a:latin typeface="Century" panose="02040604050505020304" pitchFamily="18" charset="0"/>
              </a:rPr>
              <a:t>đồng</a:t>
            </a:r>
            <a:r>
              <a:rPr sz="2500" dirty="0">
                <a:latin typeface="Century" panose="02040604050505020304" pitchFamily="18" charset="0"/>
              </a:rPr>
              <a:t> </a:t>
            </a:r>
            <a:r>
              <a:rPr sz="2500" dirty="0" err="1">
                <a:latin typeface="Century" panose="02040604050505020304" pitchFamily="18" charset="0"/>
              </a:rPr>
              <a:t>thời</a:t>
            </a:r>
            <a:r>
              <a:rPr sz="2500" dirty="0">
                <a:latin typeface="Century" panose="02040604050505020304" pitchFamily="18" charset="0"/>
              </a:rPr>
              <a:t> </a:t>
            </a:r>
            <a:r>
              <a:rPr sz="2500" dirty="0" err="1">
                <a:latin typeface="Century" panose="02040604050505020304" pitchFamily="18" charset="0"/>
              </a:rPr>
              <a:t>giảm</a:t>
            </a:r>
            <a:r>
              <a:rPr sz="2500" dirty="0">
                <a:latin typeface="Century" panose="02040604050505020304" pitchFamily="18" charset="0"/>
              </a:rPr>
              <a:t> </a:t>
            </a:r>
            <a:r>
              <a:rPr sz="2500" dirty="0" err="1">
                <a:latin typeface="Century" panose="02040604050505020304" pitchFamily="18" charset="0"/>
              </a:rPr>
              <a:t>rủi</a:t>
            </a:r>
            <a:r>
              <a:rPr sz="2500" dirty="0">
                <a:latin typeface="Century" panose="02040604050505020304" pitchFamily="18" charset="0"/>
              </a:rPr>
              <a:t> </a:t>
            </a:r>
            <a:r>
              <a:rPr sz="2500" dirty="0" err="1">
                <a:latin typeface="Century" panose="02040604050505020304" pitchFamily="18" charset="0"/>
              </a:rPr>
              <a:t>ro</a:t>
            </a:r>
            <a:r>
              <a:rPr sz="2500" dirty="0">
                <a:latin typeface="Century" panose="02040604050505020304" pitchFamily="18" charset="0"/>
              </a:rPr>
              <a:t> </a:t>
            </a:r>
            <a:r>
              <a:rPr sz="2500" dirty="0" err="1">
                <a:latin typeface="Century" panose="02040604050505020304" pitchFamily="18" charset="0"/>
              </a:rPr>
              <a:t>tồn</a:t>
            </a:r>
            <a:r>
              <a:rPr sz="2500" dirty="0">
                <a:latin typeface="Century" panose="02040604050505020304" pitchFamily="18" charset="0"/>
              </a:rPr>
              <a:t> </a:t>
            </a:r>
            <a:r>
              <a:rPr sz="2500" dirty="0" err="1">
                <a:latin typeface="Century" panose="02040604050505020304" pitchFamily="18" charset="0"/>
              </a:rPr>
              <a:t>kho</a:t>
            </a:r>
            <a:r>
              <a:rPr sz="2500" dirty="0">
                <a:latin typeface="Century" panose="02040604050505020304" pitchFamily="18" charset="0"/>
              </a:rPr>
              <a:t> </a:t>
            </a:r>
            <a:r>
              <a:rPr sz="2500" dirty="0" err="1">
                <a:latin typeface="Century" panose="02040604050505020304" pitchFamily="18" charset="0"/>
              </a:rPr>
              <a:t>dư</a:t>
            </a:r>
            <a:r>
              <a:rPr sz="2500" dirty="0">
                <a:latin typeface="Century" panose="02040604050505020304" pitchFamily="18" charset="0"/>
              </a:rPr>
              <a:t> </a:t>
            </a:r>
            <a:r>
              <a:rPr sz="2500" dirty="0" err="1">
                <a:latin typeface="Century" panose="02040604050505020304" pitchFamily="18" charset="0"/>
              </a:rPr>
              <a:t>thừa</a:t>
            </a:r>
            <a:r>
              <a:rPr lang="en-US" sz="2500" dirty="0">
                <a:latin typeface="Century" panose="02040604050505020304" pitchFamily="18" charset="0"/>
              </a:rPr>
              <a:t> ở </a:t>
            </a:r>
            <a:r>
              <a:rPr lang="en-US" sz="2500" dirty="0" err="1">
                <a:latin typeface="Century" panose="02040604050505020304" pitchFamily="18" charset="0"/>
              </a:rPr>
              <a:t>giai</a:t>
            </a:r>
            <a:r>
              <a:rPr lang="en-US" sz="2500" dirty="0">
                <a:latin typeface="Century" panose="02040604050505020304" pitchFamily="18" charset="0"/>
              </a:rPr>
              <a:t> </a:t>
            </a:r>
            <a:r>
              <a:rPr lang="en-US" sz="2500" dirty="0" err="1">
                <a:latin typeface="Century" panose="02040604050505020304" pitchFamily="18" charset="0"/>
              </a:rPr>
              <a:t>đoạn</a:t>
            </a:r>
            <a:r>
              <a:rPr lang="en-US" sz="2500" dirty="0">
                <a:latin typeface="Century" panose="02040604050505020304" pitchFamily="18" charset="0"/>
              </a:rPr>
              <a:t> </a:t>
            </a:r>
            <a:r>
              <a:rPr lang="en-US" sz="2500" dirty="0" err="1">
                <a:latin typeface="Century" panose="02040604050505020304" pitchFamily="18" charset="0"/>
              </a:rPr>
              <a:t>thấp</a:t>
            </a:r>
            <a:r>
              <a:rPr lang="en-US" sz="2500" dirty="0">
                <a:latin typeface="Century" panose="02040604050505020304" pitchFamily="18" charset="0"/>
              </a:rPr>
              <a:t> </a:t>
            </a:r>
            <a:r>
              <a:rPr lang="en-US" sz="2500" dirty="0" err="1">
                <a:latin typeface="Century" panose="02040604050505020304" pitchFamily="18" charset="0"/>
              </a:rPr>
              <a:t>điểm</a:t>
            </a:r>
            <a:r>
              <a:rPr sz="2500" dirty="0">
                <a:latin typeface="Century" panose="02040604050505020304" pitchFamily="18" charset="0"/>
              </a:rPr>
              <a:t>. </a:t>
            </a:r>
            <a:endParaRPr lang="en-US" sz="2500" dirty="0">
              <a:latin typeface="Century" panose="02040604050505020304" pitchFamily="18" charset="0"/>
            </a:endParaRPr>
          </a:p>
          <a:p>
            <a:pPr marL="0" indent="0">
              <a:buNone/>
            </a:pP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Nhấn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mạnh</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tầm</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quan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trọng</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của</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việc</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lựa</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ch</a:t>
            </a:r>
            <a:r>
              <a:rPr sz="2500" dirty="0" err="1">
                <a:latin typeface="Century" panose="02040604050505020304" pitchFamily="18" charset="0"/>
              </a:rPr>
              <a:t>ọn</a:t>
            </a:r>
            <a:r>
              <a:rPr sz="2500" dirty="0">
                <a:latin typeface="Century" panose="02040604050505020304" pitchFamily="18" charset="0"/>
              </a:rPr>
              <a:t> </a:t>
            </a:r>
            <a:r>
              <a:rPr sz="2500" dirty="0" err="1">
                <a:latin typeface="Century" panose="02040604050505020304" pitchFamily="18" charset="0"/>
              </a:rPr>
              <a:t>mô</a:t>
            </a:r>
            <a:r>
              <a:rPr sz="2500" dirty="0">
                <a:latin typeface="Century" panose="02040604050505020304" pitchFamily="18" charset="0"/>
              </a:rPr>
              <a:t> </a:t>
            </a:r>
            <a:r>
              <a:rPr sz="2500" dirty="0" err="1">
                <a:latin typeface="Century" panose="02040604050505020304" pitchFamily="18" charset="0"/>
              </a:rPr>
              <a:t>hình</a:t>
            </a:r>
            <a:r>
              <a:rPr sz="2500" dirty="0">
                <a:latin typeface="Century" panose="02040604050505020304" pitchFamily="18" charset="0"/>
              </a:rPr>
              <a:t> </a:t>
            </a:r>
            <a:r>
              <a:rPr sz="2500" dirty="0" err="1">
                <a:latin typeface="Century" panose="02040604050505020304" pitchFamily="18" charset="0"/>
              </a:rPr>
              <a:t>phù</a:t>
            </a:r>
            <a:r>
              <a:rPr sz="2500" dirty="0">
                <a:latin typeface="Century" panose="02040604050505020304" pitchFamily="18" charset="0"/>
              </a:rPr>
              <a:t> </a:t>
            </a:r>
            <a:r>
              <a:rPr sz="2500" dirty="0" err="1">
                <a:latin typeface="Century" panose="02040604050505020304" pitchFamily="18" charset="0"/>
              </a:rPr>
              <a:t>hợp</a:t>
            </a:r>
            <a:endParaRPr lang="en-US" sz="2500" dirty="0">
              <a:latin typeface="Century" panose="02040604050505020304" pitchFamily="18" charset="0"/>
            </a:endParaRPr>
          </a:p>
          <a:p>
            <a:pPr marL="0" indent="0">
              <a:buNone/>
            </a:pP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Chuyển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từ</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cách</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quản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lý</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dựa</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trên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kinh</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nghiệm</a:t>
            </a:r>
            <a:r>
              <a:rPr lang="en-US" sz="2500" dirty="0">
                <a:latin typeface="Century" panose="02040604050505020304" pitchFamily="18" charset="0"/>
                <a:sym typeface="Wingdings" panose="05000000000000000000" pitchFamily="2" charset="2"/>
              </a:rPr>
              <a:t> sang </a:t>
            </a:r>
            <a:r>
              <a:rPr lang="en-US" sz="2500" dirty="0" err="1">
                <a:latin typeface="Century" panose="02040604050505020304" pitchFamily="18" charset="0"/>
                <a:sym typeface="Wingdings" panose="05000000000000000000" pitchFamily="2" charset="2"/>
              </a:rPr>
              <a:t>quản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lý</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dựa</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trên</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dữ</a:t>
            </a:r>
            <a:r>
              <a:rPr lang="en-US" sz="2500" dirty="0">
                <a:latin typeface="Century" panose="02040604050505020304" pitchFamily="18" charset="0"/>
                <a:sym typeface="Wingdings" panose="05000000000000000000" pitchFamily="2" charset="2"/>
              </a:rPr>
              <a:t> </a:t>
            </a:r>
            <a:r>
              <a:rPr lang="en-US" sz="2500" dirty="0" err="1">
                <a:latin typeface="Century" panose="02040604050505020304" pitchFamily="18" charset="0"/>
                <a:sym typeface="Wingdings" panose="05000000000000000000" pitchFamily="2" charset="2"/>
              </a:rPr>
              <a:t>liệu</a:t>
            </a:r>
            <a:r>
              <a:rPr lang="en-US" sz="2500" dirty="0">
                <a:latin typeface="Century" panose="02040604050505020304" pitchFamily="18" charset="0"/>
                <a:sym typeface="Wingdings" panose="05000000000000000000" pitchFamily="2" charset="2"/>
              </a:rPr>
              <a:t> </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nâng</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cao</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tính</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chủ</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động</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và</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hiệu</a:t>
            </a:r>
            <a:r>
              <a:rPr lang="en-US" sz="2500" dirty="0">
                <a:latin typeface="Century" panose="02040604050505020304" pitchFamily="18" charset="0"/>
                <a:sym typeface="Symbol" panose="05050102010706020507" pitchFamily="18" charset="2"/>
              </a:rPr>
              <a:t> </a:t>
            </a:r>
            <a:r>
              <a:rPr lang="en-US" sz="2500" dirty="0" err="1">
                <a:latin typeface="Century" panose="02040604050505020304" pitchFamily="18" charset="0"/>
                <a:sym typeface="Symbol" panose="05050102010706020507" pitchFamily="18" charset="2"/>
              </a:rPr>
              <a:t>quả</a:t>
            </a:r>
            <a:endParaRPr sz="2500" dirty="0">
              <a:latin typeface="Century" panose="02040604050505020304" pitchFamily="18" charset="0"/>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533819" y="311898"/>
            <a:ext cx="6660611" cy="1211263"/>
          </a:xfrm>
          <a:noFill/>
          <a:ln>
            <a:noFill/>
          </a:ln>
        </p:spPr>
        <p:txBody>
          <a:bodyPr spcFirstLastPara="1" wrap="square" lIns="91425" tIns="91425" rIns="91425" bIns="91425" anchor="t" anchorCtr="0">
            <a:noAutofit/>
          </a:bodyPr>
          <a:lstStyle/>
          <a:p>
            <a:pPr algn="ctr"/>
            <a:r>
              <a:rPr sz="4000" dirty="0" err="1">
                <a:latin typeface="Aptos Display" panose="020B0004020202020204" pitchFamily="34" charset="0"/>
              </a:rPr>
              <a:t>Hạn</a:t>
            </a:r>
            <a:r>
              <a:rPr sz="4000" dirty="0">
                <a:latin typeface="Aptos Display" panose="020B0004020202020204" pitchFamily="34" charset="0"/>
              </a:rPr>
              <a:t> </a:t>
            </a:r>
            <a:r>
              <a:rPr sz="4000" dirty="0" err="1">
                <a:latin typeface="Aptos Display" panose="020B0004020202020204" pitchFamily="34" charset="0"/>
              </a:rPr>
              <a:t>chế</a:t>
            </a:r>
            <a:r>
              <a:rPr sz="4000" dirty="0">
                <a:latin typeface="Aptos Display" panose="020B0004020202020204" pitchFamily="34" charset="0"/>
              </a:rPr>
              <a:t> &amp; </a:t>
            </a:r>
            <a:r>
              <a:rPr sz="4000" dirty="0" err="1">
                <a:latin typeface="Aptos Display" panose="020B0004020202020204" pitchFamily="34" charset="0"/>
              </a:rPr>
              <a:t>Hướng</a:t>
            </a:r>
            <a:r>
              <a:rPr sz="4000" dirty="0">
                <a:latin typeface="Aptos Display" panose="020B0004020202020204" pitchFamily="34" charset="0"/>
              </a:rPr>
              <a:t> </a:t>
            </a:r>
            <a:r>
              <a:rPr sz="4000" dirty="0" err="1">
                <a:latin typeface="Aptos Display" panose="020B0004020202020204" pitchFamily="34" charset="0"/>
              </a:rPr>
              <a:t>phát</a:t>
            </a:r>
            <a:r>
              <a:rPr sz="4000" dirty="0">
                <a:latin typeface="Aptos Display" panose="020B0004020202020204" pitchFamily="34" charset="0"/>
              </a:rPr>
              <a:t> </a:t>
            </a:r>
            <a:r>
              <a:rPr sz="4000" dirty="0" err="1">
                <a:latin typeface="Aptos Display" panose="020B0004020202020204" pitchFamily="34" charset="0"/>
              </a:rPr>
              <a:t>triển</a:t>
            </a:r>
            <a:endParaRPr sz="4000" dirty="0">
              <a:latin typeface="Aptos Display" panose="020B0004020202020204" pitchFamily="34" charset="0"/>
            </a:endParaRPr>
          </a:p>
        </p:txBody>
      </p:sp>
      <p:sp>
        <p:nvSpPr>
          <p:cNvPr id="4" name="Picture Placeholder 3"/>
          <p:cNvSpPr>
            <a:spLocks noGrp="1"/>
          </p:cNvSpPr>
          <p:nvPr>
            <p:ph type="pic" idx="4294967295"/>
          </p:nvPr>
        </p:nvSpPr>
        <p:spPr>
          <a:xfrm>
            <a:off x="553109" y="1323376"/>
            <a:ext cx="8057072" cy="2496748"/>
          </a:xfrm>
          <a:noFill/>
          <a:ln>
            <a:noFill/>
          </a:ln>
        </p:spPr>
        <p:txBody>
          <a:bodyPr/>
          <a:lstStyle/>
          <a:p>
            <a:pPr marL="0" indent="0">
              <a:buNone/>
            </a:pPr>
            <a:r>
              <a:rPr sz="2500" dirty="0" err="1">
                <a:latin typeface="Century" panose="02040604050505020304" pitchFamily="18" charset="0"/>
              </a:rPr>
              <a:t>Mô</a:t>
            </a:r>
            <a:r>
              <a:rPr sz="2500" dirty="0">
                <a:latin typeface="Century" panose="02040604050505020304" pitchFamily="18" charset="0"/>
              </a:rPr>
              <a:t> </a:t>
            </a:r>
            <a:r>
              <a:rPr sz="2500" dirty="0" err="1">
                <a:latin typeface="Century" panose="02040604050505020304" pitchFamily="18" charset="0"/>
              </a:rPr>
              <a:t>hình</a:t>
            </a:r>
            <a:r>
              <a:rPr sz="2500" dirty="0">
                <a:latin typeface="Century" panose="02040604050505020304" pitchFamily="18" charset="0"/>
              </a:rPr>
              <a:t> </a:t>
            </a:r>
            <a:r>
              <a:rPr sz="2500" dirty="0" err="1">
                <a:latin typeface="Century" panose="02040604050505020304" pitchFamily="18" charset="0"/>
              </a:rPr>
              <a:t>hiện</a:t>
            </a:r>
            <a:r>
              <a:rPr sz="2500" dirty="0">
                <a:latin typeface="Century" panose="02040604050505020304" pitchFamily="18" charset="0"/>
              </a:rPr>
              <a:t> </a:t>
            </a:r>
            <a:r>
              <a:rPr sz="2500" dirty="0" err="1">
                <a:latin typeface="Century" panose="02040604050505020304" pitchFamily="18" charset="0"/>
              </a:rPr>
              <a:t>tại</a:t>
            </a:r>
            <a:r>
              <a:rPr sz="2500" dirty="0">
                <a:latin typeface="Century" panose="02040604050505020304" pitchFamily="18" charset="0"/>
              </a:rPr>
              <a:t> </a:t>
            </a:r>
            <a:r>
              <a:rPr sz="2500" dirty="0" err="1">
                <a:latin typeface="Century" panose="02040604050505020304" pitchFamily="18" charset="0"/>
              </a:rPr>
              <a:t>chưa</a:t>
            </a:r>
            <a:r>
              <a:rPr sz="2500" dirty="0">
                <a:latin typeface="Century" panose="02040604050505020304" pitchFamily="18" charset="0"/>
              </a:rPr>
              <a:t> </a:t>
            </a:r>
            <a:r>
              <a:rPr sz="2500" dirty="0" err="1">
                <a:latin typeface="Century" panose="02040604050505020304" pitchFamily="18" charset="0"/>
              </a:rPr>
              <a:t>xét</a:t>
            </a:r>
            <a:r>
              <a:rPr sz="2500" dirty="0">
                <a:latin typeface="Century" panose="02040604050505020304" pitchFamily="18" charset="0"/>
              </a:rPr>
              <a:t> </a:t>
            </a:r>
            <a:r>
              <a:rPr sz="2500" dirty="0" err="1">
                <a:latin typeface="Century" panose="02040604050505020304" pitchFamily="18" charset="0"/>
              </a:rPr>
              <a:t>biến</a:t>
            </a:r>
            <a:r>
              <a:rPr sz="2500" dirty="0">
                <a:latin typeface="Century" panose="02040604050505020304" pitchFamily="18" charset="0"/>
              </a:rPr>
              <a:t> </a:t>
            </a:r>
            <a:r>
              <a:rPr sz="2500" dirty="0" err="1">
                <a:latin typeface="Century" panose="02040604050505020304" pitchFamily="18" charset="0"/>
              </a:rPr>
              <a:t>ngoại</a:t>
            </a:r>
            <a:r>
              <a:rPr sz="2500" dirty="0">
                <a:latin typeface="Century" panose="02040604050505020304" pitchFamily="18" charset="0"/>
              </a:rPr>
              <a:t> </a:t>
            </a:r>
            <a:r>
              <a:rPr sz="2500" dirty="0" err="1">
                <a:latin typeface="Century" panose="02040604050505020304" pitchFamily="18" charset="0"/>
              </a:rPr>
              <a:t>sinh</a:t>
            </a:r>
            <a:r>
              <a:rPr sz="2500" dirty="0">
                <a:latin typeface="Century" panose="02040604050505020304" pitchFamily="18" charset="0"/>
              </a:rPr>
              <a:t> </a:t>
            </a:r>
            <a:r>
              <a:rPr sz="2500" dirty="0" err="1">
                <a:latin typeface="Century" panose="02040604050505020304" pitchFamily="18" charset="0"/>
              </a:rPr>
              <a:t>như</a:t>
            </a:r>
            <a:r>
              <a:rPr sz="2500" dirty="0">
                <a:latin typeface="Century" panose="02040604050505020304" pitchFamily="18" charset="0"/>
              </a:rPr>
              <a:t> </a:t>
            </a:r>
            <a:r>
              <a:rPr sz="2500" dirty="0" err="1">
                <a:latin typeface="Century" panose="02040604050505020304" pitchFamily="18" charset="0"/>
              </a:rPr>
              <a:t>khuyến</a:t>
            </a:r>
            <a:r>
              <a:rPr sz="2500" dirty="0">
                <a:latin typeface="Century" panose="02040604050505020304" pitchFamily="18" charset="0"/>
              </a:rPr>
              <a:t> </a:t>
            </a:r>
            <a:r>
              <a:rPr sz="2500" dirty="0" err="1">
                <a:latin typeface="Century" panose="02040604050505020304" pitchFamily="18" charset="0"/>
              </a:rPr>
              <a:t>mãi</a:t>
            </a:r>
            <a:r>
              <a:rPr sz="2500" dirty="0">
                <a:latin typeface="Century" panose="02040604050505020304" pitchFamily="18" charset="0"/>
              </a:rPr>
              <a:t> hay </a:t>
            </a:r>
            <a:r>
              <a:rPr sz="2500" dirty="0" err="1">
                <a:latin typeface="Century" panose="02040604050505020304" pitchFamily="18" charset="0"/>
              </a:rPr>
              <a:t>yếu</a:t>
            </a:r>
            <a:r>
              <a:rPr sz="2500" dirty="0">
                <a:latin typeface="Century" panose="02040604050505020304" pitchFamily="18" charset="0"/>
              </a:rPr>
              <a:t> </a:t>
            </a:r>
            <a:r>
              <a:rPr sz="2500" dirty="0" err="1">
                <a:latin typeface="Century" panose="02040604050505020304" pitchFamily="18" charset="0"/>
              </a:rPr>
              <a:t>tố</a:t>
            </a:r>
            <a:r>
              <a:rPr sz="2500" dirty="0">
                <a:latin typeface="Century" panose="02040604050505020304" pitchFamily="18" charset="0"/>
              </a:rPr>
              <a:t> </a:t>
            </a:r>
            <a:r>
              <a:rPr sz="2500" dirty="0" err="1">
                <a:latin typeface="Century" panose="02040604050505020304" pitchFamily="18" charset="0"/>
              </a:rPr>
              <a:t>vĩ</a:t>
            </a:r>
            <a:r>
              <a:rPr sz="2500" dirty="0">
                <a:latin typeface="Century" panose="02040604050505020304" pitchFamily="18" charset="0"/>
              </a:rPr>
              <a:t> </a:t>
            </a:r>
            <a:r>
              <a:rPr sz="2500" dirty="0" err="1">
                <a:latin typeface="Century" panose="02040604050505020304" pitchFamily="18" charset="0"/>
              </a:rPr>
              <a:t>mô</a:t>
            </a:r>
            <a:r>
              <a:rPr lang="en-US" sz="2500" dirty="0">
                <a:latin typeface="Century" panose="02040604050505020304" pitchFamily="18" charset="0"/>
              </a:rPr>
              <a:t> hay </a:t>
            </a:r>
            <a:r>
              <a:rPr lang="en-US" sz="2500" dirty="0" err="1">
                <a:latin typeface="Century" panose="02040604050505020304" pitchFamily="18" charset="0"/>
              </a:rPr>
              <a:t>chương</a:t>
            </a:r>
            <a:r>
              <a:rPr lang="en-US" sz="2500" dirty="0">
                <a:latin typeface="Century" panose="02040604050505020304" pitchFamily="18" charset="0"/>
              </a:rPr>
              <a:t> </a:t>
            </a:r>
            <a:r>
              <a:rPr lang="en-US" sz="2500" dirty="0" err="1">
                <a:latin typeface="Century" panose="02040604050505020304" pitchFamily="18" charset="0"/>
              </a:rPr>
              <a:t>trình</a:t>
            </a:r>
            <a:r>
              <a:rPr lang="en-US" sz="2500" dirty="0">
                <a:latin typeface="Century" panose="02040604050505020304" pitchFamily="18" charset="0"/>
              </a:rPr>
              <a:t> </a:t>
            </a:r>
            <a:r>
              <a:rPr lang="en-US" sz="2500" dirty="0" err="1">
                <a:latin typeface="Century" panose="02040604050505020304" pitchFamily="18" charset="0"/>
              </a:rPr>
              <a:t>đặc</a:t>
            </a:r>
            <a:r>
              <a:rPr lang="en-US" sz="2500" dirty="0">
                <a:latin typeface="Century" panose="02040604050505020304" pitchFamily="18" charset="0"/>
              </a:rPr>
              <a:t> </a:t>
            </a:r>
            <a:r>
              <a:rPr lang="en-US" sz="2500" dirty="0" err="1">
                <a:latin typeface="Century" panose="02040604050505020304" pitchFamily="18" charset="0"/>
              </a:rPr>
              <a:t>biệt</a:t>
            </a:r>
            <a:r>
              <a:rPr sz="2500" dirty="0">
                <a:latin typeface="Century" panose="02040604050505020304" pitchFamily="18" charset="0"/>
              </a:rPr>
              <a:t>. </a:t>
            </a:r>
            <a:endParaRPr lang="en-US" sz="2500" dirty="0">
              <a:latin typeface="Century" panose="02040604050505020304" pitchFamily="18" charset="0"/>
            </a:endParaRPr>
          </a:p>
          <a:p>
            <a:pPr marL="0" indent="0">
              <a:buNone/>
            </a:pPr>
            <a:r>
              <a:rPr sz="2500" dirty="0" err="1">
                <a:latin typeface="Century" panose="02040604050505020304" pitchFamily="18" charset="0"/>
              </a:rPr>
              <a:t>Hướng</a:t>
            </a:r>
            <a:r>
              <a:rPr sz="2500" dirty="0">
                <a:latin typeface="Century" panose="02040604050505020304" pitchFamily="18" charset="0"/>
              </a:rPr>
              <a:t> </a:t>
            </a:r>
            <a:r>
              <a:rPr sz="2500" dirty="0" err="1">
                <a:latin typeface="Century" panose="02040604050505020304" pitchFamily="18" charset="0"/>
              </a:rPr>
              <a:t>tiếp</a:t>
            </a:r>
            <a:r>
              <a:rPr sz="2500" dirty="0">
                <a:latin typeface="Century" panose="02040604050505020304" pitchFamily="18" charset="0"/>
              </a:rPr>
              <a:t> </a:t>
            </a:r>
            <a:r>
              <a:rPr sz="2500" dirty="0" err="1">
                <a:latin typeface="Century" panose="02040604050505020304" pitchFamily="18" charset="0"/>
              </a:rPr>
              <a:t>theo</a:t>
            </a:r>
            <a:r>
              <a:rPr sz="2500" dirty="0">
                <a:latin typeface="Century" panose="02040604050505020304" pitchFamily="18" charset="0"/>
              </a:rPr>
              <a:t> </a:t>
            </a:r>
            <a:r>
              <a:rPr sz="2500" dirty="0" err="1">
                <a:latin typeface="Century" panose="02040604050505020304" pitchFamily="18" charset="0"/>
              </a:rPr>
              <a:t>là</a:t>
            </a:r>
            <a:r>
              <a:rPr sz="2500" dirty="0">
                <a:latin typeface="Century" panose="02040604050505020304" pitchFamily="18" charset="0"/>
              </a:rPr>
              <a:t> </a:t>
            </a:r>
            <a:r>
              <a:rPr sz="2500" dirty="0" err="1">
                <a:latin typeface="Century" panose="02040604050505020304" pitchFamily="18" charset="0"/>
              </a:rPr>
              <a:t>mở</a:t>
            </a:r>
            <a:r>
              <a:rPr sz="2500" dirty="0">
                <a:latin typeface="Century" panose="02040604050505020304" pitchFamily="18" charset="0"/>
              </a:rPr>
              <a:t> </a:t>
            </a:r>
            <a:r>
              <a:rPr sz="2500" dirty="0" err="1">
                <a:latin typeface="Century" panose="02040604050505020304" pitchFamily="18" charset="0"/>
              </a:rPr>
              <a:t>rộng</a:t>
            </a:r>
            <a:r>
              <a:rPr sz="2500" dirty="0">
                <a:latin typeface="Century" panose="02040604050505020304" pitchFamily="18" charset="0"/>
              </a:rPr>
              <a:t> SARIMAX </a:t>
            </a:r>
            <a:r>
              <a:rPr sz="2500" dirty="0" err="1">
                <a:latin typeface="Century" panose="02040604050505020304" pitchFamily="18" charset="0"/>
              </a:rPr>
              <a:t>hoặc</a:t>
            </a:r>
            <a:r>
              <a:rPr sz="2500" dirty="0">
                <a:latin typeface="Century" panose="02040604050505020304" pitchFamily="18" charset="0"/>
              </a:rPr>
              <a:t> </a:t>
            </a:r>
            <a:r>
              <a:rPr sz="2500" dirty="0" err="1">
                <a:latin typeface="Century" panose="02040604050505020304" pitchFamily="18" charset="0"/>
              </a:rPr>
              <a:t>kết</a:t>
            </a:r>
            <a:r>
              <a:rPr sz="2500" dirty="0">
                <a:latin typeface="Century" panose="02040604050505020304" pitchFamily="18" charset="0"/>
              </a:rPr>
              <a:t> </a:t>
            </a:r>
            <a:r>
              <a:rPr sz="2500" dirty="0" err="1">
                <a:latin typeface="Century" panose="02040604050505020304" pitchFamily="18" charset="0"/>
              </a:rPr>
              <a:t>hợp</a:t>
            </a:r>
            <a:r>
              <a:rPr sz="2500" dirty="0">
                <a:latin typeface="Century" panose="02040604050505020304" pitchFamily="18" charset="0"/>
              </a:rPr>
              <a:t> </a:t>
            </a:r>
            <a:r>
              <a:rPr sz="2500" dirty="0" err="1">
                <a:latin typeface="Century" panose="02040604050505020304" pitchFamily="18" charset="0"/>
              </a:rPr>
              <a:t>các</a:t>
            </a:r>
            <a:r>
              <a:rPr sz="2500" dirty="0">
                <a:latin typeface="Century" panose="02040604050505020304" pitchFamily="18" charset="0"/>
              </a:rPr>
              <a:t> </a:t>
            </a:r>
            <a:r>
              <a:rPr sz="2500" dirty="0" err="1">
                <a:latin typeface="Century" panose="02040604050505020304" pitchFamily="18" charset="0"/>
              </a:rPr>
              <a:t>phương</a:t>
            </a:r>
            <a:r>
              <a:rPr sz="2500" dirty="0">
                <a:latin typeface="Century" panose="02040604050505020304" pitchFamily="18" charset="0"/>
              </a:rPr>
              <a:t> </a:t>
            </a:r>
            <a:r>
              <a:rPr sz="2500" dirty="0" err="1">
                <a:latin typeface="Century" panose="02040604050505020304" pitchFamily="18" charset="0"/>
              </a:rPr>
              <a:t>pháp</a:t>
            </a:r>
            <a:r>
              <a:rPr sz="2500" dirty="0">
                <a:latin typeface="Century" panose="02040604050505020304" pitchFamily="18" charset="0"/>
              </a:rPr>
              <a:t> </a:t>
            </a:r>
            <a:r>
              <a:rPr sz="2500" dirty="0" err="1">
                <a:latin typeface="Century" panose="02040604050505020304" pitchFamily="18" charset="0"/>
              </a:rPr>
              <a:t>học</a:t>
            </a:r>
            <a:r>
              <a:rPr sz="2500" dirty="0">
                <a:latin typeface="Century" panose="02040604050505020304" pitchFamily="18" charset="0"/>
              </a:rPr>
              <a:t> </a:t>
            </a:r>
            <a:r>
              <a:rPr sz="2500" dirty="0" err="1">
                <a:latin typeface="Century" panose="02040604050505020304" pitchFamily="18" charset="0"/>
              </a:rPr>
              <a:t>máy</a:t>
            </a:r>
            <a:r>
              <a:rPr sz="2500" dirty="0">
                <a:latin typeface="Century" panose="02040604050505020304" pitchFamily="18" charset="0"/>
              </a:rPr>
              <a:t>.</a:t>
            </a:r>
          </a:p>
        </p:txBody>
      </p:sp>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583</TotalTime>
  <Words>1712</Words>
  <Application>Microsoft Office PowerPoint</Application>
  <PresentationFormat>On-screen Show (16:9)</PresentationFormat>
  <Paragraphs>116</Paragraphs>
  <Slides>42</Slides>
  <Notes>2</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42</vt:i4>
      </vt:variant>
    </vt:vector>
  </HeadingPairs>
  <TitlesOfParts>
    <vt:vector size="55" baseType="lpstr">
      <vt:lpstr>Raleway</vt:lpstr>
      <vt:lpstr>Didact Gothic</vt:lpstr>
      <vt:lpstr>Poppins</vt:lpstr>
      <vt:lpstr>Aptos Display</vt:lpstr>
      <vt:lpstr>Bahnschrift SemiBold Condensed</vt:lpstr>
      <vt:lpstr>Arial</vt:lpstr>
      <vt:lpstr>Segoe UI Black</vt:lpstr>
      <vt:lpstr>Libre Franklin</vt:lpstr>
      <vt:lpstr>Century</vt:lpstr>
      <vt:lpstr>Montserrat</vt:lpstr>
      <vt:lpstr>Nunito Light</vt:lpstr>
      <vt:lpstr>Wingdings</vt:lpstr>
      <vt:lpstr>Cycle Diagrams Theme for a Business Plan by Slidesgo</vt:lpstr>
      <vt:lpstr>PHÂN TÍCH DỮ LIỆU  BÁN LẺ TRỰC TUYẾN</vt:lpstr>
      <vt:lpstr>Table of contents</vt:lpstr>
      <vt:lpstr>1. BỐI CẢNH VÀ MỤC TIÊU</vt:lpstr>
      <vt:lpstr>Business Goal 1</vt:lpstr>
      <vt:lpstr>Mục tiêu phân tích</vt:lpstr>
      <vt:lpstr>Bài toán nghiệp vụ</vt:lpstr>
      <vt:lpstr>Câu chuyện dữ liệu</vt:lpstr>
      <vt:lpstr>SMART – Specific &amp; Measurable</vt:lpstr>
      <vt:lpstr>SMART – Achievable &amp; Relevant</vt:lpstr>
      <vt:lpstr>SMART – Time - bound</vt:lpstr>
      <vt:lpstr>2. PHƯƠNG PHÁP TIẾP CẬN  BÀI TOÁN</vt:lpstr>
      <vt:lpstr>PowerPoint Presentation</vt:lpstr>
      <vt:lpstr>PowerPoint Presentation</vt:lpstr>
      <vt:lpstr>3. KẾT QUẢ</vt:lpstr>
      <vt:lpstr>3. 1. Tổng quan dữ liệu</vt:lpstr>
      <vt:lpstr>3. 1. Tổng quan dữ liệu</vt:lpstr>
      <vt:lpstr>Xu hướng doanh thu theo thời gian</vt:lpstr>
      <vt:lpstr>Làm trơn &amp; biến động doanh thu</vt:lpstr>
      <vt:lpstr>PowerPoint Presentation</vt:lpstr>
      <vt:lpstr>PowerPoint Presentation</vt:lpstr>
      <vt:lpstr>Tăng trưởng WoW &amp; MoM</vt:lpstr>
      <vt:lpstr>PowerPoint Presentation</vt:lpstr>
      <vt:lpstr>PowerPoint Presentation</vt:lpstr>
      <vt:lpstr>Phân tích theo sản phẩm</vt:lpstr>
      <vt:lpstr>PowerPoint Presentation</vt:lpstr>
      <vt:lpstr>Phân tích theo khách hàng</vt:lpstr>
      <vt:lpstr>PowerPoint Presentation</vt:lpstr>
      <vt:lpstr>Phân tích theo quốc gia</vt:lpstr>
      <vt:lpstr>PowerPoint Presentation</vt:lpstr>
      <vt:lpstr>4. INSIGHTS</vt:lpstr>
      <vt:lpstr>4.1. NHẬN ĐỊNH VÀ  RỦI RO </vt:lpstr>
      <vt:lpstr>Nhận định chính</vt:lpstr>
      <vt:lpstr>Rủi ro tiềm ẩn</vt:lpstr>
      <vt:lpstr>4.2. PHÂN TÍCH VÀ  ĐÁNH GIÁ KẾT QUẢ  DỰ BÁO BẰNG  MÔ HÌNH SARIMA </vt:lpstr>
      <vt:lpstr>PowerPoint Presentation</vt:lpstr>
      <vt:lpstr>B. SARIMA – Mô hình thứ nhất (Cơ sở)</vt:lpstr>
      <vt:lpstr>PowerPoint Presentation</vt:lpstr>
      <vt:lpstr>SARIMA – Mô hình thứ hai (Cải tiến)</vt:lpstr>
      <vt:lpstr>So sánh hai mô hình SARIMA</vt:lpstr>
      <vt:lpstr>PowerPoint Presentation</vt:lpstr>
      <vt:lpstr>Hàm ý quản trị từ kết quả dự báo</vt:lpstr>
      <vt:lpstr>Hạn chế &amp; Hướng phát triển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asd asd</cp:lastModifiedBy>
  <cp:revision>32</cp:revision>
  <dcterms:modified xsi:type="dcterms:W3CDTF">2026-01-30T16:03:02Z</dcterms:modified>
</cp:coreProperties>
</file>