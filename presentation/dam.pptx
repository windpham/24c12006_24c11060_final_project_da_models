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61"/>
  </p:notesMasterIdLst>
  <p:sldIdLst>
    <p:sldId id="256" r:id="rId2"/>
    <p:sldId id="257" r:id="rId3"/>
    <p:sldId id="318" r:id="rId4"/>
    <p:sldId id="294" r:id="rId5"/>
    <p:sldId id="295" r:id="rId6"/>
    <p:sldId id="296" r:id="rId7"/>
    <p:sldId id="297" r:id="rId8"/>
    <p:sldId id="298" r:id="rId9"/>
    <p:sldId id="299" r:id="rId10"/>
    <p:sldId id="300" r:id="rId11"/>
    <p:sldId id="341" r:id="rId12"/>
    <p:sldId id="342" r:id="rId13"/>
    <p:sldId id="343" r:id="rId14"/>
    <p:sldId id="344" r:id="rId15"/>
    <p:sldId id="345" r:id="rId16"/>
    <p:sldId id="319" r:id="rId17"/>
    <p:sldId id="317" r:id="rId18"/>
    <p:sldId id="320" r:id="rId19"/>
    <p:sldId id="350" r:id="rId20"/>
    <p:sldId id="321" r:id="rId21"/>
    <p:sldId id="308" r:id="rId22"/>
    <p:sldId id="323" r:id="rId23"/>
    <p:sldId id="309" r:id="rId24"/>
    <p:sldId id="310" r:id="rId25"/>
    <p:sldId id="324" r:id="rId26"/>
    <p:sldId id="325" r:id="rId27"/>
    <p:sldId id="311" r:id="rId28"/>
    <p:sldId id="326" r:id="rId29"/>
    <p:sldId id="327" r:id="rId30"/>
    <p:sldId id="312" r:id="rId31"/>
    <p:sldId id="328" r:id="rId32"/>
    <p:sldId id="313" r:id="rId33"/>
    <p:sldId id="329" r:id="rId34"/>
    <p:sldId id="314" r:id="rId35"/>
    <p:sldId id="330" r:id="rId36"/>
    <p:sldId id="346" r:id="rId37"/>
    <p:sldId id="348" r:id="rId38"/>
    <p:sldId id="347" r:id="rId39"/>
    <p:sldId id="351" r:id="rId40"/>
    <p:sldId id="349" r:id="rId41"/>
    <p:sldId id="331" r:id="rId42"/>
    <p:sldId id="332" r:id="rId43"/>
    <p:sldId id="315" r:id="rId44"/>
    <p:sldId id="316" r:id="rId45"/>
    <p:sldId id="333" r:id="rId46"/>
    <p:sldId id="334" r:id="rId47"/>
    <p:sldId id="335" r:id="rId48"/>
    <p:sldId id="336" r:id="rId49"/>
    <p:sldId id="337" r:id="rId50"/>
    <p:sldId id="338" r:id="rId51"/>
    <p:sldId id="339" r:id="rId52"/>
    <p:sldId id="340" r:id="rId53"/>
    <p:sldId id="322" r:id="rId54"/>
    <p:sldId id="354" r:id="rId55"/>
    <p:sldId id="352" r:id="rId56"/>
    <p:sldId id="353" r:id="rId57"/>
    <p:sldId id="355" r:id="rId58"/>
    <p:sldId id="356" r:id="rId59"/>
    <p:sldId id="357" r:id="rId60"/>
  </p:sldIdLst>
  <p:sldSz cx="9144000" cy="5143500" type="screen16x9"/>
  <p:notesSz cx="6858000" cy="9144000"/>
  <p:embeddedFontLst>
    <p:embeddedFont>
      <p:font typeface="Poppins" charset="0"/>
      <p:regular r:id="rId62"/>
      <p:bold r:id="rId63"/>
      <p:italic r:id="rId64"/>
      <p:boldItalic r:id="rId65"/>
    </p:embeddedFont>
    <p:embeddedFont>
      <p:font typeface="Didact Gothic" charset="0"/>
      <p:regular r:id="rId66"/>
    </p:embeddedFont>
    <p:embeddedFont>
      <p:font typeface="Raleway" charset="0"/>
      <p:regular r:id="rId67"/>
      <p:bold r:id="rId68"/>
      <p:italic r:id="rId69"/>
      <p:boldItalic r:id="rId70"/>
    </p:embeddedFont>
    <p:embeddedFont>
      <p:font typeface="Segoe UI Black" pitchFamily="34" charset="0"/>
      <p:bold r:id="rId71"/>
      <p:boldItalic r:id="rId72"/>
    </p:embeddedFont>
    <p:embeddedFont>
      <p:font typeface="Century" pitchFamily="18" charset="0"/>
      <p:regular r:id="rId73"/>
    </p:embeddedFont>
    <p:embeddedFont>
      <p:font typeface="Montserrat" pitchFamily="2" charset="0"/>
      <p:regular r:id="rId74"/>
    </p:embeddedFont>
    <p:embeddedFont>
      <p:font typeface="Libre Franklin" charset="0"/>
      <p:regular r:id="rId75"/>
      <p:bold r:id="rId76"/>
      <p:italic r:id="rId77"/>
      <p:boldItalic r:id="rId78"/>
    </p:embeddedFont>
    <p:embeddedFont>
      <p:font typeface="Nunito Light" charset="0"/>
      <p:regular r:id="rId79"/>
      <p: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5D7B47-62A6-4617-9382-30DE93583E0C}" v="1" dt="2026-01-30T16:02:59.190"/>
  </p1510:revLst>
</p1510:revInfo>
</file>

<file path=ppt/tableStyles.xml><?xml version="1.0" encoding="utf-8"?>
<a:tblStyleLst xmlns:a="http://schemas.openxmlformats.org/drawingml/2006/main" def="{796E0CDC-5D70-4933-84AB-4C97D0D1E0CE}">
  <a:tblStyle styleId="{796E0CDC-5D70-4933-84AB-4C97D0D1E0C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744" y="-72"/>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2.fntdata"/><Relationship Id="rId68" Type="http://schemas.openxmlformats.org/officeDocument/2006/relationships/font" Target="fonts/font7.fntdata"/><Relationship Id="rId76" Type="http://schemas.openxmlformats.org/officeDocument/2006/relationships/font" Target="fonts/font15.fntdata"/><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5.fntdata"/><Relationship Id="rId74" Type="http://schemas.openxmlformats.org/officeDocument/2006/relationships/font" Target="fonts/font13.fntdata"/><Relationship Id="rId79" Type="http://schemas.openxmlformats.org/officeDocument/2006/relationships/font" Target="fonts/font18.fntdata"/><Relationship Id="rId87"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82"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1.fntdata"/><Relationship Id="rId80" Type="http://schemas.openxmlformats.org/officeDocument/2006/relationships/font" Target="fonts/font1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font" Target="fonts/font17.fntdata"/><Relationship Id="rId81" Type="http://schemas.openxmlformats.org/officeDocument/2006/relationships/presProps" Target="presProps.xml"/><Relationship Id="rId8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d asd" userId="b4befc514d541a6f" providerId="LiveId" clId="{B6038FD3-2B18-4F7A-92ED-D33EE05E090D}"/>
    <pc:docChg chg="addSld modSld">
      <pc:chgData name="asd asd" userId="b4befc514d541a6f" providerId="LiveId" clId="{B6038FD3-2B18-4F7A-92ED-D33EE05E090D}" dt="2026-01-30T16:02:59.177" v="0"/>
      <pc:docMkLst>
        <pc:docMk/>
      </pc:docMkLst>
      <pc:sldChg chg="add">
        <pc:chgData name="asd asd" userId="b4befc514d541a6f" providerId="LiveId" clId="{B6038FD3-2B18-4F7A-92ED-D33EE05E090D}" dt="2026-01-30T16:02:59.177" v="0"/>
        <pc:sldMkLst>
          <pc:docMk/>
          <pc:sldMk cId="0" sldId="315"/>
        </pc:sldMkLst>
      </pc:sldChg>
      <pc:sldChg chg="add">
        <pc:chgData name="asd asd" userId="b4befc514d541a6f" providerId="LiveId" clId="{B6038FD3-2B18-4F7A-92ED-D33EE05E090D}" dt="2026-01-30T16:02:59.177" v="0"/>
        <pc:sldMkLst>
          <pc:docMk/>
          <pc:sldMk cId="0" sldId="316"/>
        </pc:sldMkLst>
      </pc:sldChg>
      <pc:sldChg chg="add">
        <pc:chgData name="asd asd" userId="b4befc514d541a6f" providerId="LiveId" clId="{B6038FD3-2B18-4F7A-92ED-D33EE05E090D}" dt="2026-01-30T16:02:59.177" v="0"/>
        <pc:sldMkLst>
          <pc:docMk/>
          <pc:sldMk cId="0" sldId="322"/>
        </pc:sldMkLst>
      </pc:sldChg>
      <pc:sldChg chg="add">
        <pc:chgData name="asd asd" userId="b4befc514d541a6f" providerId="LiveId" clId="{B6038FD3-2B18-4F7A-92ED-D33EE05E090D}" dt="2026-01-30T16:02:59.177" v="0"/>
        <pc:sldMkLst>
          <pc:docMk/>
          <pc:sldMk cId="4096627422" sldId="331"/>
        </pc:sldMkLst>
      </pc:sldChg>
      <pc:sldChg chg="add">
        <pc:chgData name="asd asd" userId="b4befc514d541a6f" providerId="LiveId" clId="{B6038FD3-2B18-4F7A-92ED-D33EE05E090D}" dt="2026-01-30T16:02:59.177" v="0"/>
        <pc:sldMkLst>
          <pc:docMk/>
          <pc:sldMk cId="3929202884" sldId="332"/>
        </pc:sldMkLst>
      </pc:sldChg>
      <pc:sldChg chg="add">
        <pc:chgData name="asd asd" userId="b4befc514d541a6f" providerId="LiveId" clId="{B6038FD3-2B18-4F7A-92ED-D33EE05E090D}" dt="2026-01-30T16:02:59.177" v="0"/>
        <pc:sldMkLst>
          <pc:docMk/>
          <pc:sldMk cId="3697553333" sldId="333"/>
        </pc:sldMkLst>
      </pc:sldChg>
      <pc:sldChg chg="add">
        <pc:chgData name="asd asd" userId="b4befc514d541a6f" providerId="LiveId" clId="{B6038FD3-2B18-4F7A-92ED-D33EE05E090D}" dt="2026-01-30T16:02:59.177" v="0"/>
        <pc:sldMkLst>
          <pc:docMk/>
          <pc:sldMk cId="38158927" sldId="334"/>
        </pc:sldMkLst>
      </pc:sldChg>
      <pc:sldChg chg="add">
        <pc:chgData name="asd asd" userId="b4befc514d541a6f" providerId="LiveId" clId="{B6038FD3-2B18-4F7A-92ED-D33EE05E090D}" dt="2026-01-30T16:02:59.177" v="0"/>
        <pc:sldMkLst>
          <pc:docMk/>
          <pc:sldMk cId="0" sldId="335"/>
        </pc:sldMkLst>
      </pc:sldChg>
      <pc:sldChg chg="add">
        <pc:chgData name="asd asd" userId="b4befc514d541a6f" providerId="LiveId" clId="{B6038FD3-2B18-4F7A-92ED-D33EE05E090D}" dt="2026-01-30T16:02:59.177" v="0"/>
        <pc:sldMkLst>
          <pc:docMk/>
          <pc:sldMk cId="3928523224" sldId="336"/>
        </pc:sldMkLst>
      </pc:sldChg>
      <pc:sldChg chg="add">
        <pc:chgData name="asd asd" userId="b4befc514d541a6f" providerId="LiveId" clId="{B6038FD3-2B18-4F7A-92ED-D33EE05E090D}" dt="2026-01-30T16:02:59.177" v="0"/>
        <pc:sldMkLst>
          <pc:docMk/>
          <pc:sldMk cId="0" sldId="337"/>
        </pc:sldMkLst>
      </pc:sldChg>
      <pc:sldChg chg="add">
        <pc:chgData name="asd asd" userId="b4befc514d541a6f" providerId="LiveId" clId="{B6038FD3-2B18-4F7A-92ED-D33EE05E090D}" dt="2026-01-30T16:02:59.177" v="0"/>
        <pc:sldMkLst>
          <pc:docMk/>
          <pc:sldMk cId="0" sldId="338"/>
        </pc:sldMkLst>
      </pc:sldChg>
      <pc:sldChg chg="add">
        <pc:chgData name="asd asd" userId="b4befc514d541a6f" providerId="LiveId" clId="{B6038FD3-2B18-4F7A-92ED-D33EE05E090D}" dt="2026-01-30T16:02:59.177" v="0"/>
        <pc:sldMkLst>
          <pc:docMk/>
          <pc:sldMk cId="2306713959" sldId="339"/>
        </pc:sldMkLst>
      </pc:sldChg>
      <pc:sldChg chg="add">
        <pc:chgData name="asd asd" userId="b4befc514d541a6f" providerId="LiveId" clId="{B6038FD3-2B18-4F7A-92ED-D33EE05E090D}" dt="2026-01-30T16:02:59.177" v="0"/>
        <pc:sldMkLst>
          <pc:docMk/>
          <pc:sldMk cId="0" sldId="34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b1324a7d3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b1324a7d3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 name="Google Shape;17;p3"/>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720000" y="1215750"/>
            <a:ext cx="7704000" cy="1224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1" name="Google Shape;21;p4"/>
          <p:cNvGrpSpPr/>
          <p:nvPr/>
        </p:nvGrpSpPr>
        <p:grpSpPr>
          <a:xfrm>
            <a:off x="0" y="0"/>
            <a:ext cx="9144000" cy="312600"/>
            <a:chOff x="0" y="0"/>
            <a:chExt cx="9144000" cy="312600"/>
          </a:xfrm>
        </p:grpSpPr>
        <p:sp>
          <p:nvSpPr>
            <p:cNvPr id="22" name="Google Shape;22;p4"/>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3" name="Google Shape;23;p4"/>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6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6"/>
        <p:cNvGrpSpPr/>
        <p:nvPr/>
      </p:nvGrpSpPr>
      <p:grpSpPr>
        <a:xfrm>
          <a:off x="0" y="0"/>
          <a:ext cx="0" cy="0"/>
          <a:chOff x="0" y="0"/>
          <a:chExt cx="0" cy="0"/>
        </a:xfrm>
      </p:grpSpPr>
      <p:sp>
        <p:nvSpPr>
          <p:cNvPr id="67" name="Google Shape;67;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 name="Google Shape;68;p13"/>
          <p:cNvSpPr txBox="1">
            <a:spLocks noGrp="1"/>
          </p:cNvSpPr>
          <p:nvPr>
            <p:ph type="title" idx="2" hasCustomPrompt="1"/>
          </p:nvPr>
        </p:nvSpPr>
        <p:spPr>
          <a:xfrm>
            <a:off x="72000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a:spLocks noGrp="1"/>
          </p:cNvSpPr>
          <p:nvPr>
            <p:ph type="title" idx="3" hasCustomPrompt="1"/>
          </p:nvPr>
        </p:nvSpPr>
        <p:spPr>
          <a:xfrm>
            <a:off x="72000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 name="Google Shape;70;p13"/>
          <p:cNvSpPr txBox="1">
            <a:spLocks noGrp="1"/>
          </p:cNvSpPr>
          <p:nvPr>
            <p:ph type="title" idx="4" hasCustomPrompt="1"/>
          </p:nvPr>
        </p:nvSpPr>
        <p:spPr>
          <a:xfrm>
            <a:off x="3419275"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title" idx="5" hasCustomPrompt="1"/>
          </p:nvPr>
        </p:nvSpPr>
        <p:spPr>
          <a:xfrm>
            <a:off x="3419275"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2" name="Google Shape;72;p13"/>
          <p:cNvSpPr txBox="1">
            <a:spLocks noGrp="1"/>
          </p:cNvSpPr>
          <p:nvPr>
            <p:ph type="title" idx="6" hasCustomPrompt="1"/>
          </p:nvPr>
        </p:nvSpPr>
        <p:spPr>
          <a:xfrm>
            <a:off x="611855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a:spLocks noGrp="1"/>
          </p:cNvSpPr>
          <p:nvPr>
            <p:ph type="title" idx="7" hasCustomPrompt="1"/>
          </p:nvPr>
        </p:nvSpPr>
        <p:spPr>
          <a:xfrm>
            <a:off x="611855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a:spLocks noGrp="1"/>
          </p:cNvSpPr>
          <p:nvPr>
            <p:ph type="subTitle" idx="1"/>
          </p:nvPr>
        </p:nvSpPr>
        <p:spPr>
          <a:xfrm>
            <a:off x="72000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5" name="Google Shape;75;p13"/>
          <p:cNvSpPr txBox="1">
            <a:spLocks noGrp="1"/>
          </p:cNvSpPr>
          <p:nvPr>
            <p:ph type="subTitle" idx="8"/>
          </p:nvPr>
        </p:nvSpPr>
        <p:spPr>
          <a:xfrm>
            <a:off x="3419275"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6" name="Google Shape;76;p13"/>
          <p:cNvSpPr txBox="1">
            <a:spLocks noGrp="1"/>
          </p:cNvSpPr>
          <p:nvPr>
            <p:ph type="subTitle" idx="9"/>
          </p:nvPr>
        </p:nvSpPr>
        <p:spPr>
          <a:xfrm>
            <a:off x="611855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7" name="Google Shape;77;p13"/>
          <p:cNvSpPr txBox="1">
            <a:spLocks noGrp="1"/>
          </p:cNvSpPr>
          <p:nvPr>
            <p:ph type="subTitle" idx="13"/>
          </p:nvPr>
        </p:nvSpPr>
        <p:spPr>
          <a:xfrm>
            <a:off x="720000" y="3726825"/>
            <a:ext cx="23814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8" name="Google Shape;78;p13"/>
          <p:cNvSpPr txBox="1">
            <a:spLocks noGrp="1"/>
          </p:cNvSpPr>
          <p:nvPr>
            <p:ph type="subTitle" idx="14"/>
          </p:nvPr>
        </p:nvSpPr>
        <p:spPr>
          <a:xfrm>
            <a:off x="3419275" y="372682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9" name="Google Shape;79;p13"/>
          <p:cNvSpPr txBox="1">
            <a:spLocks noGrp="1"/>
          </p:cNvSpPr>
          <p:nvPr>
            <p:ph type="subTitle" idx="15"/>
          </p:nvPr>
        </p:nvSpPr>
        <p:spPr>
          <a:xfrm>
            <a:off x="6118550" y="3726825"/>
            <a:ext cx="24792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80" name="Google Shape;80;p13"/>
          <p:cNvGrpSpPr/>
          <p:nvPr/>
        </p:nvGrpSpPr>
        <p:grpSpPr>
          <a:xfrm>
            <a:off x="0" y="0"/>
            <a:ext cx="9144000" cy="312600"/>
            <a:chOff x="0" y="0"/>
            <a:chExt cx="9144000" cy="312600"/>
          </a:xfrm>
        </p:grpSpPr>
        <p:sp>
          <p:nvSpPr>
            <p:cNvPr id="81" name="Google Shape;81;p13"/>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82" name="Google Shape;82;p13"/>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0"/>
        <p:cNvGrpSpPr/>
        <p:nvPr/>
      </p:nvGrpSpPr>
      <p:grpSpPr>
        <a:xfrm>
          <a:off x="0" y="0"/>
          <a:ext cx="0" cy="0"/>
          <a:chOff x="0" y="0"/>
          <a:chExt cx="0" cy="0"/>
        </a:xfrm>
      </p:grpSpPr>
      <p:grpSp>
        <p:nvGrpSpPr>
          <p:cNvPr id="91" name="Google Shape;91;p15"/>
          <p:cNvGrpSpPr/>
          <p:nvPr/>
        </p:nvGrpSpPr>
        <p:grpSpPr>
          <a:xfrm rot="10800000">
            <a:off x="8415525" y="0"/>
            <a:ext cx="728475" cy="5163250"/>
            <a:chOff x="-8400" y="0"/>
            <a:chExt cx="728475" cy="5163250"/>
          </a:xfrm>
        </p:grpSpPr>
        <p:sp>
          <p:nvSpPr>
            <p:cNvPr id="92" name="Google Shape;92;p15"/>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3" name="Google Shape;93;p15"/>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2" r:id="rId14"/>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p>
            <a:pPr lvl="0"/>
            <a:r>
              <a:rPr lang="en-US" sz="4400" dirty="0">
                <a:latin typeface="+mn-lt"/>
              </a:rPr>
              <a:t>PHÂN TÍCH DỮ LIỆU </a:t>
            </a:r>
            <a:br>
              <a:rPr lang="en-US" sz="4400" dirty="0">
                <a:latin typeface="+mn-lt"/>
              </a:rPr>
            </a:br>
            <a:r>
              <a:rPr lang="en-US" sz="4400" dirty="0">
                <a:latin typeface="+mn-lt"/>
              </a:rPr>
              <a:t>BÁN LẺ TRỰC TUYẾN</a:t>
            </a:r>
            <a:endParaRPr sz="4400" b="0" dirty="0">
              <a:latin typeface="+mn-lt"/>
            </a:endParaRPr>
          </a:p>
        </p:txBody>
      </p:sp>
      <p:sp>
        <p:nvSpPr>
          <p:cNvPr id="109" name="Google Shape;109;p20"/>
          <p:cNvSpPr txBox="1">
            <a:spLocks noGrp="1"/>
          </p:cNvSpPr>
          <p:nvPr>
            <p:ph type="subTitle" idx="1"/>
          </p:nvPr>
        </p:nvSpPr>
        <p:spPr>
          <a:xfrm>
            <a:off x="1355125" y="3745850"/>
            <a:ext cx="4528800" cy="67891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mn-lt"/>
              </a:rPr>
              <a:t>24C12006 – PHẠM PHONG HÀO</a:t>
            </a:r>
          </a:p>
          <a:p>
            <a:pPr marL="0" lvl="0" indent="0" algn="l" rtl="0">
              <a:spcBef>
                <a:spcPts val="0"/>
              </a:spcBef>
              <a:spcAft>
                <a:spcPts val="0"/>
              </a:spcAft>
              <a:buNone/>
            </a:pPr>
            <a:r>
              <a:rPr lang="en" dirty="0" smtClean="0">
                <a:latin typeface="+mn-lt"/>
              </a:rPr>
              <a:t>24C11060 – TRẦN ĐÌNH SANG</a:t>
            </a:r>
            <a:endParaRPr dirty="0">
              <a:latin typeface="+mn-lt"/>
            </a:endParaRPr>
          </a:p>
        </p:txBody>
      </p:sp>
      <p:cxnSp>
        <p:nvCxnSpPr>
          <p:cNvPr id="110" name="Google Shape;110;p20"/>
          <p:cNvCxnSpPr/>
          <p:nvPr/>
        </p:nvCxnSpPr>
        <p:spPr>
          <a:xfrm>
            <a:off x="1431100" y="3636300"/>
            <a:ext cx="5835000" cy="0"/>
          </a:xfrm>
          <a:prstGeom prst="straightConnector1">
            <a:avLst/>
          </a:prstGeom>
          <a:noFill/>
          <a:ln w="9525" cap="flat" cmpd="sng">
            <a:solidFill>
              <a:schemeClr val="dk1"/>
            </a:solidFill>
            <a:prstDash val="solid"/>
            <a:round/>
            <a:headEnd type="none" w="med" len="med"/>
            <a:tailEnd type="none" w="med" len="med"/>
          </a:ln>
        </p:spPr>
      </p:cxnSp>
      <p:sp>
        <p:nvSpPr>
          <p:cNvPr id="5" name="Google Shape;109;p20"/>
          <p:cNvSpPr txBox="1">
            <a:spLocks/>
          </p:cNvSpPr>
          <p:nvPr/>
        </p:nvSpPr>
        <p:spPr>
          <a:xfrm>
            <a:off x="1422284" y="256149"/>
            <a:ext cx="7194774" cy="678916"/>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200"/>
              <a:buFont typeface="Didact Gothic"/>
              <a:buNone/>
              <a:tabLst/>
              <a:defRPr/>
            </a:pPr>
            <a:r>
              <a:rPr kumimoji="0" lang="en-US" sz="2400" b="0" i="0" u="none" strike="noStrike" kern="0" cap="none" spc="0" normalizeH="0" baseline="0" noProof="0" dirty="0" smtClean="0">
                <a:ln>
                  <a:noFill/>
                </a:ln>
                <a:solidFill>
                  <a:schemeClr val="dk1"/>
                </a:solidFill>
                <a:effectLst/>
                <a:uLnTx/>
                <a:uFillTx/>
                <a:latin typeface="+mn-lt"/>
                <a:ea typeface="Didact Gothic"/>
                <a:cs typeface="Didact Gothic"/>
                <a:sym typeface="Didact Gothic"/>
              </a:rPr>
              <a:t>CÁC</a:t>
            </a:r>
            <a:r>
              <a:rPr kumimoji="0" lang="en-US" sz="2400" b="0" i="0" u="none" strike="noStrike" kern="0" cap="none" spc="0" normalizeH="0" noProof="0" dirty="0" smtClean="0">
                <a:ln>
                  <a:noFill/>
                </a:ln>
                <a:solidFill>
                  <a:schemeClr val="dk1"/>
                </a:solidFill>
                <a:effectLst/>
                <a:uLnTx/>
                <a:uFillTx/>
                <a:latin typeface="+mn-lt"/>
                <a:ea typeface="Didact Gothic"/>
                <a:cs typeface="Didact Gothic"/>
                <a:sym typeface="Didact Gothic"/>
              </a:rPr>
              <a:t> MÔ HÌNH PHÂN TÍCH DỮ LIỆU</a:t>
            </a:r>
            <a:endParaRPr kumimoji="0" lang="en-US" sz="2400" b="0" i="0" u="none" strike="noStrike" kern="0" cap="none" spc="0" normalizeH="0" baseline="0" noProof="0" dirty="0" smtClean="0">
              <a:ln>
                <a:noFill/>
              </a:ln>
              <a:solidFill>
                <a:schemeClr val="dk1"/>
              </a:solidFill>
              <a:effectLst/>
              <a:uLnTx/>
              <a:uFillTx/>
              <a:latin typeface="+mn-lt"/>
              <a:ea typeface="Didact Gothic"/>
              <a:cs typeface="Didact Gothic"/>
              <a:sym typeface="Didact Gothic"/>
            </a:endParaRPr>
          </a:p>
          <a:p>
            <a:pPr marL="0" marR="0" lvl="0" indent="0" algn="l" defTabSz="914400" rtl="0" eaLnBrk="1" fontAlgn="auto" latinLnBrk="0" hangingPunct="1">
              <a:lnSpc>
                <a:spcPct val="100000"/>
              </a:lnSpc>
              <a:spcBef>
                <a:spcPts val="0"/>
              </a:spcBef>
              <a:spcAft>
                <a:spcPts val="0"/>
              </a:spcAft>
              <a:buClr>
                <a:schemeClr val="dk1"/>
              </a:buClr>
              <a:buSzPts val="1200"/>
              <a:buFont typeface="Didact Gothic"/>
              <a:buNone/>
              <a:tabLst/>
              <a:defRPr/>
            </a:pPr>
            <a:r>
              <a:rPr lang="en-US" sz="1600" dirty="0" err="1" smtClean="0">
                <a:solidFill>
                  <a:schemeClr val="dk1"/>
                </a:solidFill>
                <a:latin typeface="+mn-lt"/>
                <a:ea typeface="Didact Gothic"/>
                <a:cs typeface="Didact Gothic"/>
                <a:sym typeface="Didact Gothic"/>
              </a:rPr>
              <a:t>Giảng</a:t>
            </a:r>
            <a:r>
              <a:rPr lang="en-US" sz="1600" dirty="0" smtClean="0">
                <a:solidFill>
                  <a:schemeClr val="dk1"/>
                </a:solidFill>
                <a:latin typeface="+mn-lt"/>
                <a:ea typeface="Didact Gothic"/>
                <a:cs typeface="Didact Gothic"/>
                <a:sym typeface="Didact Gothic"/>
              </a:rPr>
              <a:t> </a:t>
            </a:r>
            <a:r>
              <a:rPr lang="en-US" sz="1600" dirty="0" err="1" smtClean="0">
                <a:solidFill>
                  <a:schemeClr val="dk1"/>
                </a:solidFill>
                <a:latin typeface="+mn-lt"/>
                <a:ea typeface="Didact Gothic"/>
                <a:cs typeface="Didact Gothic"/>
                <a:sym typeface="Didact Gothic"/>
              </a:rPr>
              <a:t>viên</a:t>
            </a:r>
            <a:r>
              <a:rPr lang="en-US" sz="1600" dirty="0" smtClean="0">
                <a:solidFill>
                  <a:schemeClr val="dk1"/>
                </a:solidFill>
                <a:latin typeface="+mn-lt"/>
                <a:ea typeface="Didact Gothic"/>
                <a:cs typeface="Didact Gothic"/>
                <a:sym typeface="Didact Gothic"/>
              </a:rPr>
              <a:t> </a:t>
            </a:r>
            <a:r>
              <a:rPr lang="en-US" sz="1600" dirty="0" err="1" smtClean="0">
                <a:solidFill>
                  <a:schemeClr val="dk1"/>
                </a:solidFill>
                <a:latin typeface="+mn-lt"/>
                <a:ea typeface="Didact Gothic"/>
                <a:cs typeface="Didact Gothic"/>
                <a:sym typeface="Didact Gothic"/>
              </a:rPr>
              <a:t>hướng</a:t>
            </a:r>
            <a:r>
              <a:rPr lang="en-US" sz="1600" dirty="0" smtClean="0">
                <a:solidFill>
                  <a:schemeClr val="dk1"/>
                </a:solidFill>
                <a:latin typeface="+mn-lt"/>
                <a:ea typeface="Didact Gothic"/>
                <a:cs typeface="Didact Gothic"/>
                <a:sym typeface="Didact Gothic"/>
              </a:rPr>
              <a:t> </a:t>
            </a:r>
            <a:r>
              <a:rPr lang="en-US" sz="1600" dirty="0" err="1" smtClean="0">
                <a:solidFill>
                  <a:schemeClr val="dk1"/>
                </a:solidFill>
                <a:latin typeface="+mn-lt"/>
                <a:ea typeface="Didact Gothic"/>
                <a:cs typeface="Didact Gothic"/>
                <a:sym typeface="Didact Gothic"/>
              </a:rPr>
              <a:t>dẫn</a:t>
            </a:r>
            <a:r>
              <a:rPr lang="en-US" sz="1600" dirty="0" smtClean="0">
                <a:solidFill>
                  <a:schemeClr val="dk1"/>
                </a:solidFill>
                <a:latin typeface="+mn-lt"/>
                <a:ea typeface="Didact Gothic"/>
                <a:cs typeface="Didact Gothic"/>
                <a:sym typeface="Didact Gothic"/>
              </a:rPr>
              <a:t>: TS. </a:t>
            </a:r>
            <a:r>
              <a:rPr lang="en-US" sz="1600" dirty="0" err="1" smtClean="0">
                <a:solidFill>
                  <a:schemeClr val="dk1"/>
                </a:solidFill>
                <a:latin typeface="+mn-lt"/>
                <a:ea typeface="Didact Gothic"/>
                <a:cs typeface="Didact Gothic"/>
                <a:sym typeface="Didact Gothic"/>
              </a:rPr>
              <a:t>Nguyễn</a:t>
            </a:r>
            <a:r>
              <a:rPr lang="en-US" sz="1600" dirty="0" smtClean="0">
                <a:solidFill>
                  <a:schemeClr val="dk1"/>
                </a:solidFill>
                <a:latin typeface="+mn-lt"/>
                <a:ea typeface="Didact Gothic"/>
                <a:cs typeface="Didact Gothic"/>
                <a:sym typeface="Didact Gothic"/>
              </a:rPr>
              <a:t> </a:t>
            </a:r>
            <a:r>
              <a:rPr lang="en-US" sz="1600" dirty="0" err="1" smtClean="0">
                <a:solidFill>
                  <a:schemeClr val="dk1"/>
                </a:solidFill>
                <a:latin typeface="+mn-lt"/>
                <a:ea typeface="Didact Gothic"/>
                <a:cs typeface="Didact Gothic"/>
                <a:sym typeface="Didact Gothic"/>
              </a:rPr>
              <a:t>Trần</a:t>
            </a:r>
            <a:r>
              <a:rPr lang="en-US" sz="1600" dirty="0" smtClean="0">
                <a:solidFill>
                  <a:schemeClr val="dk1"/>
                </a:solidFill>
                <a:latin typeface="+mn-lt"/>
                <a:ea typeface="Didact Gothic"/>
                <a:cs typeface="Didact Gothic"/>
                <a:sym typeface="Didact Gothic"/>
              </a:rPr>
              <a:t> Minh </a:t>
            </a:r>
            <a:r>
              <a:rPr lang="en-US" sz="1600" dirty="0" err="1" smtClean="0">
                <a:solidFill>
                  <a:schemeClr val="dk1"/>
                </a:solidFill>
                <a:latin typeface="+mn-lt"/>
                <a:ea typeface="Didact Gothic"/>
                <a:cs typeface="Didact Gothic"/>
                <a:sym typeface="Didact Gothic"/>
              </a:rPr>
              <a:t>Thư</a:t>
            </a:r>
            <a:endParaRPr kumimoji="0" lang="en-US" sz="1600" b="0" i="0" u="none" strike="noStrike" kern="0" cap="none" spc="0" normalizeH="0" baseline="0" noProof="0" dirty="0">
              <a:ln>
                <a:noFill/>
              </a:ln>
              <a:solidFill>
                <a:schemeClr val="dk1"/>
              </a:solidFill>
              <a:effectLst/>
              <a:uLnTx/>
              <a:uFillTx/>
              <a:latin typeface="+mn-lt"/>
              <a:ea typeface="Didact Gothic"/>
              <a:cs typeface="Didact Gothic"/>
              <a:sym typeface="Didact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n-lt"/>
              </a:rPr>
              <a:t>Table of contents</a:t>
            </a:r>
            <a:endParaRPr dirty="0">
              <a:latin typeface="+mn-lt"/>
            </a:endParaRPr>
          </a:p>
        </p:txBody>
      </p:sp>
      <p:sp>
        <p:nvSpPr>
          <p:cNvPr id="116" name="Google Shape;116;p21"/>
          <p:cNvSpPr txBox="1">
            <a:spLocks noGrp="1"/>
          </p:cNvSpPr>
          <p:nvPr>
            <p:ph type="title" idx="2"/>
          </p:nvPr>
        </p:nvSpPr>
        <p:spPr>
          <a:xfrm>
            <a:off x="720000" y="1611324"/>
            <a:ext cx="734700" cy="50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mn-lt"/>
              </a:rPr>
              <a:t>01</a:t>
            </a:r>
            <a:endParaRPr>
              <a:latin typeface="+mn-lt"/>
            </a:endParaRPr>
          </a:p>
        </p:txBody>
      </p:sp>
      <p:sp>
        <p:nvSpPr>
          <p:cNvPr id="117" name="Google Shape;117;p21"/>
          <p:cNvSpPr txBox="1">
            <a:spLocks noGrp="1"/>
          </p:cNvSpPr>
          <p:nvPr>
            <p:ph type="title" idx="3"/>
          </p:nvPr>
        </p:nvSpPr>
        <p:spPr>
          <a:xfrm>
            <a:off x="720000" y="3044627"/>
            <a:ext cx="734700" cy="50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mn-lt"/>
              </a:rPr>
              <a:t>04</a:t>
            </a:r>
            <a:endParaRPr>
              <a:latin typeface="+mn-lt"/>
            </a:endParaRPr>
          </a:p>
        </p:txBody>
      </p:sp>
      <p:sp>
        <p:nvSpPr>
          <p:cNvPr id="118" name="Google Shape;118;p21"/>
          <p:cNvSpPr txBox="1">
            <a:spLocks noGrp="1"/>
          </p:cNvSpPr>
          <p:nvPr>
            <p:ph type="title" idx="4"/>
          </p:nvPr>
        </p:nvSpPr>
        <p:spPr>
          <a:xfrm>
            <a:off x="3419275" y="1611324"/>
            <a:ext cx="734700" cy="50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mn-lt"/>
              </a:rPr>
              <a:t>02</a:t>
            </a:r>
            <a:endParaRPr>
              <a:latin typeface="+mn-lt"/>
            </a:endParaRPr>
          </a:p>
        </p:txBody>
      </p:sp>
      <p:sp>
        <p:nvSpPr>
          <p:cNvPr id="119" name="Google Shape;119;p21"/>
          <p:cNvSpPr txBox="1">
            <a:spLocks noGrp="1"/>
          </p:cNvSpPr>
          <p:nvPr>
            <p:ph type="title" idx="5"/>
          </p:nvPr>
        </p:nvSpPr>
        <p:spPr>
          <a:xfrm>
            <a:off x="3419275" y="3044627"/>
            <a:ext cx="734700" cy="50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mn-lt"/>
              </a:rPr>
              <a:t>05</a:t>
            </a:r>
            <a:endParaRPr>
              <a:latin typeface="+mn-lt"/>
            </a:endParaRPr>
          </a:p>
        </p:txBody>
      </p:sp>
      <p:sp>
        <p:nvSpPr>
          <p:cNvPr id="120" name="Google Shape;120;p21"/>
          <p:cNvSpPr txBox="1">
            <a:spLocks noGrp="1"/>
          </p:cNvSpPr>
          <p:nvPr>
            <p:ph type="title" idx="6"/>
          </p:nvPr>
        </p:nvSpPr>
        <p:spPr>
          <a:xfrm>
            <a:off x="6118550" y="1611324"/>
            <a:ext cx="734700" cy="50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mn-lt"/>
              </a:rPr>
              <a:t>03</a:t>
            </a:r>
            <a:endParaRPr>
              <a:latin typeface="+mn-lt"/>
            </a:endParaRPr>
          </a:p>
        </p:txBody>
      </p:sp>
      <p:sp>
        <p:nvSpPr>
          <p:cNvPr id="122" name="Google Shape;122;p21"/>
          <p:cNvSpPr txBox="1">
            <a:spLocks noGrp="1"/>
          </p:cNvSpPr>
          <p:nvPr>
            <p:ph type="subTitle" idx="1"/>
          </p:nvPr>
        </p:nvSpPr>
        <p:spPr>
          <a:xfrm>
            <a:off x="720000" y="2293450"/>
            <a:ext cx="230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600" dirty="0" smtClean="0">
                <a:latin typeface="+mn-lt"/>
              </a:rPr>
              <a:t>Bối cảnh &amp; Mục tiêu</a:t>
            </a:r>
            <a:endParaRPr sz="1600" dirty="0">
              <a:latin typeface="+mn-lt"/>
            </a:endParaRPr>
          </a:p>
        </p:txBody>
      </p:sp>
      <p:sp>
        <p:nvSpPr>
          <p:cNvPr id="123" name="Google Shape;123;p21"/>
          <p:cNvSpPr txBox="1">
            <a:spLocks noGrp="1"/>
          </p:cNvSpPr>
          <p:nvPr>
            <p:ph type="subTitle" idx="8"/>
          </p:nvPr>
        </p:nvSpPr>
        <p:spPr>
          <a:xfrm>
            <a:off x="3419275" y="2293450"/>
            <a:ext cx="257082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dirty="0" smtClean="0">
                <a:latin typeface="+mn-lt"/>
              </a:rPr>
              <a:t>Phương pháp tiếp cận</a:t>
            </a:r>
            <a:endParaRPr sz="1600" dirty="0">
              <a:latin typeface="+mn-lt"/>
            </a:endParaRPr>
          </a:p>
        </p:txBody>
      </p:sp>
      <p:sp>
        <p:nvSpPr>
          <p:cNvPr id="124" name="Google Shape;124;p21"/>
          <p:cNvSpPr txBox="1">
            <a:spLocks noGrp="1"/>
          </p:cNvSpPr>
          <p:nvPr>
            <p:ph type="subTitle" idx="9"/>
          </p:nvPr>
        </p:nvSpPr>
        <p:spPr>
          <a:xfrm>
            <a:off x="6118550" y="2293450"/>
            <a:ext cx="230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dirty="0" smtClean="0">
                <a:latin typeface="+mn-lt"/>
              </a:rPr>
              <a:t>Kết quả</a:t>
            </a:r>
            <a:endParaRPr sz="1600" dirty="0">
              <a:latin typeface="+mn-lt"/>
            </a:endParaRPr>
          </a:p>
        </p:txBody>
      </p:sp>
      <p:sp>
        <p:nvSpPr>
          <p:cNvPr id="125" name="Google Shape;125;p21"/>
          <p:cNvSpPr txBox="1">
            <a:spLocks noGrp="1"/>
          </p:cNvSpPr>
          <p:nvPr>
            <p:ph type="subTitle" idx="13"/>
          </p:nvPr>
        </p:nvSpPr>
        <p:spPr>
          <a:xfrm>
            <a:off x="720000" y="3726825"/>
            <a:ext cx="23814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dirty="0" smtClean="0">
                <a:latin typeface="+mn-lt"/>
              </a:rPr>
              <a:t>Insights</a:t>
            </a:r>
            <a:endParaRPr sz="1600" dirty="0">
              <a:latin typeface="+mn-lt"/>
            </a:endParaRPr>
          </a:p>
        </p:txBody>
      </p:sp>
      <p:sp>
        <p:nvSpPr>
          <p:cNvPr id="126" name="Google Shape;126;p21"/>
          <p:cNvSpPr txBox="1">
            <a:spLocks noGrp="1"/>
          </p:cNvSpPr>
          <p:nvPr>
            <p:ph type="subTitle" idx="14"/>
          </p:nvPr>
        </p:nvSpPr>
        <p:spPr>
          <a:xfrm>
            <a:off x="3419275" y="3726825"/>
            <a:ext cx="230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dirty="0" smtClean="0">
                <a:latin typeface="+mn-lt"/>
              </a:rPr>
              <a:t>Kết luận</a:t>
            </a:r>
            <a:endParaRPr sz="1600" dirty="0">
              <a:latin typeface="+mn-lt"/>
            </a:endParaRPr>
          </a:p>
        </p:txBody>
      </p:sp>
      <p:cxnSp>
        <p:nvCxnSpPr>
          <p:cNvPr id="128" name="Google Shape;128;p21"/>
          <p:cNvCxnSpPr/>
          <p:nvPr/>
        </p:nvCxnSpPr>
        <p:spPr>
          <a:xfrm>
            <a:off x="821254" y="3560313"/>
            <a:ext cx="1205700" cy="0"/>
          </a:xfrm>
          <a:prstGeom prst="straightConnector1">
            <a:avLst/>
          </a:prstGeom>
          <a:noFill/>
          <a:ln w="9525" cap="flat" cmpd="sng">
            <a:solidFill>
              <a:schemeClr val="dk1"/>
            </a:solidFill>
            <a:prstDash val="solid"/>
            <a:round/>
            <a:headEnd type="none" w="med" len="med"/>
            <a:tailEnd type="none" w="med" len="med"/>
          </a:ln>
        </p:spPr>
      </p:cxnSp>
      <p:cxnSp>
        <p:nvCxnSpPr>
          <p:cNvPr id="129" name="Google Shape;129;p21"/>
          <p:cNvCxnSpPr/>
          <p:nvPr/>
        </p:nvCxnSpPr>
        <p:spPr>
          <a:xfrm>
            <a:off x="3503733" y="3560313"/>
            <a:ext cx="1205700" cy="0"/>
          </a:xfrm>
          <a:prstGeom prst="straightConnector1">
            <a:avLst/>
          </a:prstGeom>
          <a:noFill/>
          <a:ln w="9525" cap="flat" cmpd="sng">
            <a:solidFill>
              <a:schemeClr val="dk1"/>
            </a:solidFill>
            <a:prstDash val="solid"/>
            <a:round/>
            <a:headEnd type="none" w="med" len="med"/>
            <a:tailEnd type="none" w="med" len="med"/>
          </a:ln>
        </p:spPr>
      </p:cxnSp>
      <p:cxnSp>
        <p:nvCxnSpPr>
          <p:cNvPr id="131" name="Google Shape;131;p21"/>
          <p:cNvCxnSpPr/>
          <p:nvPr/>
        </p:nvCxnSpPr>
        <p:spPr>
          <a:xfrm>
            <a:off x="821254" y="2116088"/>
            <a:ext cx="1205700" cy="0"/>
          </a:xfrm>
          <a:prstGeom prst="straightConnector1">
            <a:avLst/>
          </a:prstGeom>
          <a:noFill/>
          <a:ln w="9525" cap="flat" cmpd="sng">
            <a:solidFill>
              <a:schemeClr val="dk1"/>
            </a:solidFill>
            <a:prstDash val="solid"/>
            <a:round/>
            <a:headEnd type="none" w="med" len="med"/>
            <a:tailEnd type="none" w="med" len="med"/>
          </a:ln>
        </p:spPr>
      </p:cxnSp>
      <p:cxnSp>
        <p:nvCxnSpPr>
          <p:cNvPr id="132" name="Google Shape;132;p21"/>
          <p:cNvCxnSpPr/>
          <p:nvPr/>
        </p:nvCxnSpPr>
        <p:spPr>
          <a:xfrm>
            <a:off x="3503733" y="2116088"/>
            <a:ext cx="1205700" cy="0"/>
          </a:xfrm>
          <a:prstGeom prst="straightConnector1">
            <a:avLst/>
          </a:prstGeom>
          <a:noFill/>
          <a:ln w="9525" cap="flat" cmpd="sng">
            <a:solidFill>
              <a:schemeClr val="dk1"/>
            </a:solidFill>
            <a:prstDash val="solid"/>
            <a:round/>
            <a:headEnd type="none" w="med" len="med"/>
            <a:tailEnd type="none" w="med" len="med"/>
          </a:ln>
        </p:spPr>
      </p:cxnSp>
      <p:cxnSp>
        <p:nvCxnSpPr>
          <p:cNvPr id="133" name="Google Shape;133;p21"/>
          <p:cNvCxnSpPr/>
          <p:nvPr/>
        </p:nvCxnSpPr>
        <p:spPr>
          <a:xfrm>
            <a:off x="6143983" y="2116088"/>
            <a:ext cx="1205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58A439-74CA-EFA1-996E-2542FEC1C246}"/>
              </a:ext>
            </a:extLst>
          </p:cNvPr>
          <p:cNvSpPr>
            <a:spLocks noGrp="1"/>
          </p:cNvSpPr>
          <p:nvPr>
            <p:ph type="title"/>
          </p:nvPr>
        </p:nvSpPr>
        <p:spPr>
          <a:xfrm>
            <a:off x="1575545" y="1115878"/>
            <a:ext cx="6576000" cy="3019142"/>
          </a:xfrm>
        </p:spPr>
        <p:txBody>
          <a:bodyPr/>
          <a:lstStyle/>
          <a:p>
            <a:r>
              <a:rPr lang="en-US" sz="5400" dirty="0" smtClean="0">
                <a:latin typeface="+mn-lt"/>
                <a:ea typeface="Segoe UI Black" panose="020B0A02040204020203" pitchFamily="34" charset="0"/>
                <a:cs typeface="Arial" panose="020B0604020202020204" pitchFamily="34" charset="0"/>
              </a:rPr>
              <a:t>BỐI CẢNH</a:t>
            </a:r>
            <a:br>
              <a:rPr lang="en-US" sz="5400" dirty="0" smtClean="0">
                <a:latin typeface="+mn-lt"/>
                <a:ea typeface="Segoe UI Black" panose="020B0A02040204020203" pitchFamily="34" charset="0"/>
                <a:cs typeface="Arial" panose="020B0604020202020204" pitchFamily="34" charset="0"/>
              </a:rPr>
            </a:br>
            <a:r>
              <a:rPr lang="en-US" sz="5400" dirty="0" smtClean="0">
                <a:latin typeface="+mn-lt"/>
                <a:ea typeface="Segoe UI Black" panose="020B0A02040204020203" pitchFamily="34" charset="0"/>
                <a:cs typeface="Arial" panose="020B0604020202020204" pitchFamily="34" charset="0"/>
              </a:rPr>
              <a:t>VÀ</a:t>
            </a:r>
            <a:br>
              <a:rPr lang="en-US" sz="5400" dirty="0" smtClean="0">
                <a:latin typeface="+mn-lt"/>
                <a:ea typeface="Segoe UI Black" panose="020B0A02040204020203" pitchFamily="34" charset="0"/>
                <a:cs typeface="Arial" panose="020B0604020202020204" pitchFamily="34" charset="0"/>
              </a:rPr>
            </a:br>
            <a:r>
              <a:rPr lang="en-US" sz="5400" dirty="0" smtClean="0">
                <a:latin typeface="+mn-lt"/>
                <a:ea typeface="Segoe UI Black" panose="020B0A02040204020203" pitchFamily="34" charset="0"/>
                <a:cs typeface="Arial" panose="020B0604020202020204" pitchFamily="34" charset="0"/>
              </a:rPr>
              <a:t>MỤC </a:t>
            </a:r>
            <a:r>
              <a:rPr lang="en-US" sz="5400" dirty="0">
                <a:latin typeface="+mn-lt"/>
                <a:ea typeface="Segoe UI Black" panose="020B0A02040204020203" pitchFamily="34" charset="0"/>
                <a:cs typeface="Arial" panose="020B0604020202020204" pitchFamily="34" charset="0"/>
              </a:rPr>
              <a:t>TIÊU</a:t>
            </a:r>
          </a:p>
        </p:txBody>
      </p:sp>
    </p:spTree>
    <p:extLst>
      <p:ext uri="{BB962C8B-B14F-4D97-AF65-F5344CB8AC3E}">
        <p14:creationId xmlns="" xmlns:p14="http://schemas.microsoft.com/office/powerpoint/2010/main" val="653474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dirty="0">
                <a:solidFill>
                  <a:schemeClr val="bg2"/>
                </a:solidFill>
                <a:latin typeface="Aptos Display" panose="020B0004020202020204" pitchFamily="34" charset="0"/>
              </a:rPr>
              <a:t>Business Goal 1</a:t>
            </a:r>
          </a:p>
        </p:txBody>
      </p:sp>
      <p:sp>
        <p:nvSpPr>
          <p:cNvPr id="4" name="Picture Placeholder 3"/>
          <p:cNvSpPr>
            <a:spLocks noGrp="1"/>
          </p:cNvSpPr>
          <p:nvPr>
            <p:ph type="pic" idx="4294967295"/>
          </p:nvPr>
        </p:nvSpPr>
        <p:spPr>
          <a:xfrm>
            <a:off x="550623" y="1399087"/>
            <a:ext cx="3407767" cy="3219408"/>
          </a:xfrm>
          <a:noFill/>
          <a:ln>
            <a:noFill/>
          </a:ln>
        </p:spPr>
        <p:txBody>
          <a:bodyPr/>
          <a:lstStyle/>
          <a:p>
            <a:pPr marL="152400" indent="0">
              <a:buNone/>
            </a:pPr>
            <a:r>
              <a:rPr sz="2400" dirty="0">
                <a:latin typeface="+mn-lt"/>
              </a:rPr>
              <a:t>Trong </a:t>
            </a:r>
            <a:r>
              <a:rPr sz="2400" dirty="0" err="1">
                <a:latin typeface="+mn-lt"/>
              </a:rPr>
              <a:t>vòng</a:t>
            </a:r>
            <a:r>
              <a:rPr sz="2400" dirty="0">
                <a:latin typeface="+mn-lt"/>
              </a:rPr>
              <a:t> 2 </a:t>
            </a:r>
            <a:r>
              <a:rPr sz="2400" dirty="0" err="1">
                <a:latin typeface="+mn-lt"/>
              </a:rPr>
              <a:t>tuần</a:t>
            </a:r>
            <a:r>
              <a:rPr sz="2400" dirty="0">
                <a:latin typeface="+mn-lt"/>
              </a:rPr>
              <a:t>, </a:t>
            </a:r>
            <a:r>
              <a:rPr sz="2400" dirty="0" err="1">
                <a:latin typeface="+mn-lt"/>
              </a:rPr>
              <a:t>xây</a:t>
            </a:r>
            <a:r>
              <a:rPr sz="2400" dirty="0">
                <a:latin typeface="+mn-lt"/>
              </a:rPr>
              <a:t> </a:t>
            </a:r>
            <a:r>
              <a:rPr sz="2400" dirty="0" err="1">
                <a:latin typeface="+mn-lt"/>
              </a:rPr>
              <a:t>dựng</a:t>
            </a:r>
            <a:r>
              <a:rPr sz="2400" dirty="0">
                <a:latin typeface="+mn-lt"/>
              </a:rPr>
              <a:t> </a:t>
            </a:r>
            <a:r>
              <a:rPr sz="2400" dirty="0" err="1">
                <a:latin typeface="+mn-lt"/>
              </a:rPr>
              <a:t>báo</a:t>
            </a:r>
            <a:r>
              <a:rPr sz="2400" dirty="0">
                <a:latin typeface="+mn-lt"/>
              </a:rPr>
              <a:t> </a:t>
            </a:r>
            <a:r>
              <a:rPr sz="2400" dirty="0" err="1">
                <a:latin typeface="+mn-lt"/>
              </a:rPr>
              <a:t>cáo</a:t>
            </a:r>
            <a:r>
              <a:rPr sz="2400" dirty="0">
                <a:latin typeface="+mn-lt"/>
              </a:rPr>
              <a:t> </a:t>
            </a:r>
            <a:r>
              <a:rPr sz="2400" dirty="0" err="1">
                <a:latin typeface="+mn-lt"/>
              </a:rPr>
              <a:t>phân</a:t>
            </a:r>
            <a:r>
              <a:rPr sz="2400" dirty="0">
                <a:latin typeface="+mn-lt"/>
              </a:rPr>
              <a:t> </a:t>
            </a:r>
            <a:r>
              <a:rPr sz="2400" dirty="0" err="1">
                <a:latin typeface="+mn-lt"/>
              </a:rPr>
              <a:t>tích</a:t>
            </a:r>
            <a:r>
              <a:rPr sz="2400" dirty="0">
                <a:latin typeface="+mn-lt"/>
              </a:rPr>
              <a:t> </a:t>
            </a:r>
            <a:r>
              <a:rPr sz="2400" dirty="0" err="1">
                <a:latin typeface="+mn-lt"/>
              </a:rPr>
              <a:t>chuỗi</a:t>
            </a:r>
            <a:r>
              <a:rPr sz="2400" dirty="0">
                <a:latin typeface="+mn-lt"/>
              </a:rPr>
              <a:t> </a:t>
            </a:r>
            <a:r>
              <a:rPr sz="2400" dirty="0" err="1">
                <a:latin typeface="+mn-lt"/>
              </a:rPr>
              <a:t>thời</a:t>
            </a:r>
            <a:r>
              <a:rPr sz="2400" dirty="0">
                <a:latin typeface="+mn-lt"/>
              </a:rPr>
              <a:t> </a:t>
            </a:r>
            <a:r>
              <a:rPr sz="2400" dirty="0" err="1">
                <a:latin typeface="+mn-lt"/>
              </a:rPr>
              <a:t>gian</a:t>
            </a:r>
            <a:r>
              <a:rPr sz="2400" dirty="0">
                <a:latin typeface="+mn-lt"/>
              </a:rPr>
              <a:t> </a:t>
            </a:r>
            <a:r>
              <a:rPr sz="2400" dirty="0" err="1">
                <a:latin typeface="+mn-lt"/>
              </a:rPr>
              <a:t>doanh</a:t>
            </a:r>
            <a:r>
              <a:rPr sz="2400" dirty="0">
                <a:latin typeface="+mn-lt"/>
              </a:rPr>
              <a:t> </a:t>
            </a:r>
            <a:r>
              <a:rPr sz="2400" dirty="0" err="1">
                <a:latin typeface="+mn-lt"/>
              </a:rPr>
              <a:t>thu</a:t>
            </a:r>
            <a:r>
              <a:rPr sz="2400" dirty="0">
                <a:latin typeface="+mn-lt"/>
              </a:rPr>
              <a:t> </a:t>
            </a:r>
            <a:r>
              <a:rPr sz="2400" dirty="0" err="1">
                <a:latin typeface="+mn-lt"/>
              </a:rPr>
              <a:t>theo</a:t>
            </a:r>
            <a:r>
              <a:rPr sz="2400" dirty="0">
                <a:latin typeface="+mn-lt"/>
              </a:rPr>
              <a:t> </a:t>
            </a:r>
            <a:r>
              <a:rPr sz="2400" dirty="0" err="1">
                <a:latin typeface="+mn-lt"/>
              </a:rPr>
              <a:t>ngày</a:t>
            </a:r>
            <a:r>
              <a:rPr sz="2400" dirty="0">
                <a:latin typeface="+mn-lt"/>
              </a:rPr>
              <a:t> – </a:t>
            </a:r>
            <a:r>
              <a:rPr sz="2400" dirty="0" err="1">
                <a:latin typeface="+mn-lt"/>
              </a:rPr>
              <a:t>tuần</a:t>
            </a:r>
            <a:r>
              <a:rPr sz="2400" dirty="0">
                <a:latin typeface="+mn-lt"/>
              </a:rPr>
              <a:t> – </a:t>
            </a:r>
            <a:r>
              <a:rPr sz="2400" dirty="0" err="1">
                <a:latin typeface="+mn-lt"/>
              </a:rPr>
              <a:t>tháng</a:t>
            </a:r>
            <a:r>
              <a:rPr sz="2400" dirty="0">
                <a:latin typeface="+mn-lt"/>
              </a:rPr>
              <a:t> </a:t>
            </a:r>
            <a:endParaRPr lang="en-US" sz="2400" dirty="0">
              <a:latin typeface="+mn-lt"/>
            </a:endParaRPr>
          </a:p>
          <a:p>
            <a:pPr marL="152400" indent="0">
              <a:buNone/>
            </a:pPr>
            <a:r>
              <a:rPr lang="en-US" sz="2400" dirty="0">
                <a:latin typeface="+mn-lt"/>
                <a:sym typeface="Wingdings" panose="05000000000000000000" pitchFamily="2" charset="2"/>
              </a:rPr>
              <a:t></a:t>
            </a:r>
            <a:r>
              <a:rPr lang="en-US" sz="2400" dirty="0">
                <a:latin typeface="+mn-lt"/>
              </a:rPr>
              <a:t> </a:t>
            </a:r>
            <a:r>
              <a:rPr sz="2400" dirty="0" err="1">
                <a:latin typeface="+mn-lt"/>
              </a:rPr>
              <a:t>xác</a:t>
            </a:r>
            <a:r>
              <a:rPr sz="2400" dirty="0">
                <a:latin typeface="+mn-lt"/>
              </a:rPr>
              <a:t> </a:t>
            </a:r>
            <a:r>
              <a:rPr sz="2400" dirty="0" err="1">
                <a:latin typeface="+mn-lt"/>
              </a:rPr>
              <a:t>định</a:t>
            </a:r>
            <a:r>
              <a:rPr sz="2400" dirty="0">
                <a:latin typeface="+mn-lt"/>
              </a:rPr>
              <a:t> xu </a:t>
            </a:r>
            <a:r>
              <a:rPr sz="2400" dirty="0" err="1">
                <a:latin typeface="+mn-lt"/>
              </a:rPr>
              <a:t>hướng</a:t>
            </a:r>
            <a:r>
              <a:rPr sz="2400" dirty="0">
                <a:latin typeface="+mn-lt"/>
              </a:rPr>
              <a:t> </a:t>
            </a:r>
            <a:r>
              <a:rPr sz="2400" dirty="0" err="1">
                <a:latin typeface="+mn-lt"/>
              </a:rPr>
              <a:t>nền</a:t>
            </a:r>
            <a:r>
              <a:rPr sz="2400" dirty="0">
                <a:latin typeface="+mn-lt"/>
              </a:rPr>
              <a:t>, </a:t>
            </a:r>
            <a:r>
              <a:rPr sz="2400" dirty="0" err="1">
                <a:latin typeface="+mn-lt"/>
              </a:rPr>
              <a:t>mùa</a:t>
            </a:r>
            <a:r>
              <a:rPr sz="2400" dirty="0">
                <a:latin typeface="+mn-lt"/>
              </a:rPr>
              <a:t> </a:t>
            </a:r>
            <a:r>
              <a:rPr sz="2400" dirty="0" err="1">
                <a:latin typeface="+mn-lt"/>
              </a:rPr>
              <a:t>vụ</a:t>
            </a:r>
            <a:r>
              <a:rPr sz="2400" dirty="0">
                <a:latin typeface="+mn-lt"/>
              </a:rPr>
              <a:t> </a:t>
            </a:r>
            <a:r>
              <a:rPr sz="2400" dirty="0" err="1">
                <a:latin typeface="+mn-lt"/>
              </a:rPr>
              <a:t>và</a:t>
            </a:r>
            <a:r>
              <a:rPr sz="2400" dirty="0">
                <a:latin typeface="+mn-lt"/>
              </a:rPr>
              <a:t> </a:t>
            </a:r>
            <a:r>
              <a:rPr sz="2400" dirty="0" err="1">
                <a:latin typeface="+mn-lt"/>
              </a:rPr>
              <a:t>biến</a:t>
            </a:r>
            <a:r>
              <a:rPr sz="2400" dirty="0">
                <a:latin typeface="+mn-lt"/>
              </a:rPr>
              <a:t> </a:t>
            </a:r>
            <a:r>
              <a:rPr sz="2400" dirty="0" err="1">
                <a:latin typeface="+mn-lt"/>
              </a:rPr>
              <a:t>động</a:t>
            </a:r>
            <a:r>
              <a:rPr sz="2400" dirty="0">
                <a:latin typeface="+mn-lt"/>
              </a:rPr>
              <a:t> </a:t>
            </a:r>
            <a:r>
              <a:rPr sz="2400" dirty="0" err="1">
                <a:latin typeface="+mn-lt"/>
              </a:rPr>
              <a:t>ngắn</a:t>
            </a:r>
            <a:r>
              <a:rPr sz="2400" dirty="0">
                <a:latin typeface="+mn-lt"/>
              </a:rPr>
              <a:t> </a:t>
            </a:r>
            <a:r>
              <a:rPr sz="2400" dirty="0" err="1">
                <a:latin typeface="+mn-lt"/>
              </a:rPr>
              <a:t>hạn</a:t>
            </a:r>
            <a:r>
              <a:rPr sz="2400" dirty="0">
                <a:latin typeface="+mn-lt"/>
              </a:rPr>
              <a:t>. </a:t>
            </a:r>
            <a:endParaRPr lang="en-US" sz="2400" dirty="0">
              <a:latin typeface="+mn-lt"/>
            </a:endParaRPr>
          </a:p>
        </p:txBody>
      </p:sp>
      <p:sp>
        <p:nvSpPr>
          <p:cNvPr id="10" name="TextBox 9">
            <a:extLst>
              <a:ext uri="{FF2B5EF4-FFF2-40B4-BE49-F238E27FC236}">
                <a16:creationId xmlns="" xmlns:a16="http://schemas.microsoft.com/office/drawing/2014/main" id="{58AF09A5-8F1D-7E06-C826-912B9C4E1293}"/>
              </a:ext>
            </a:extLst>
          </p:cNvPr>
          <p:cNvSpPr txBox="1"/>
          <p:nvPr/>
        </p:nvSpPr>
        <p:spPr>
          <a:xfrm>
            <a:off x="4247147" y="1399087"/>
            <a:ext cx="4176853" cy="2677656"/>
          </a:xfrm>
          <a:prstGeom prst="rect">
            <a:avLst/>
          </a:prstGeom>
          <a:noFill/>
        </p:spPr>
        <p:txBody>
          <a:bodyPr wrap="square">
            <a:spAutoFit/>
          </a:bodyPr>
          <a:lstStyle/>
          <a:p>
            <a:pPr marL="152400" indent="0">
              <a:buNone/>
            </a:pPr>
            <a:r>
              <a:rPr lang="vi-VN" sz="2400" dirty="0">
                <a:latin typeface="+mn-lt"/>
              </a:rPr>
              <a:t>Mục tiêu</a:t>
            </a:r>
            <a:r>
              <a:rPr lang="en-US" sz="2400" dirty="0">
                <a:latin typeface="+mn-lt"/>
              </a:rPr>
              <a:t>:</a:t>
            </a:r>
          </a:p>
          <a:p>
            <a:pPr marL="152400" indent="0">
              <a:buNone/>
            </a:pPr>
            <a:r>
              <a:rPr lang="vi-VN" sz="2400" dirty="0">
                <a:latin typeface="+mn-lt"/>
                <a:sym typeface="Wingdings" panose="05000000000000000000" pitchFamily="2" charset="2"/>
              </a:rPr>
              <a:t></a:t>
            </a:r>
            <a:r>
              <a:rPr lang="en-US" sz="2400" dirty="0">
                <a:latin typeface="+mn-lt"/>
                <a:sym typeface="Wingdings" panose="05000000000000000000" pitchFamily="2" charset="2"/>
              </a:rPr>
              <a:t> </a:t>
            </a:r>
            <a:r>
              <a:rPr lang="vi-VN" sz="2400" dirty="0">
                <a:latin typeface="+mn-lt"/>
              </a:rPr>
              <a:t>hỗ trợ nhà quản lý phân biệt tăng trưởng thực sự và biến động ngẫu nhiên</a:t>
            </a:r>
            <a:endParaRPr lang="en-US" sz="2400" dirty="0">
              <a:latin typeface="+mn-lt"/>
            </a:endParaRPr>
          </a:p>
          <a:p>
            <a:pPr marL="152400" indent="0">
              <a:buNone/>
            </a:pPr>
            <a:r>
              <a:rPr lang="vi-VN" sz="2400" dirty="0">
                <a:latin typeface="+mn-lt"/>
                <a:sym typeface="Wingdings" panose="05000000000000000000" pitchFamily="2" charset="2"/>
              </a:rPr>
              <a:t></a:t>
            </a:r>
            <a:r>
              <a:rPr lang="vi-VN" sz="2400" dirty="0">
                <a:latin typeface="+mn-lt"/>
              </a:rPr>
              <a:t> làm cơ sở cho điều chỉnh chiến lược kinh doanh trong năm hiện tại.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r>
              <a:rPr sz="4400" dirty="0" err="1">
                <a:latin typeface="Aptos Display" panose="020B0004020202020204" pitchFamily="34" charset="0"/>
              </a:rPr>
              <a:t>Mục</a:t>
            </a:r>
            <a:r>
              <a:rPr sz="4400" dirty="0">
                <a:latin typeface="Aptos Display" panose="020B0004020202020204" pitchFamily="34" charset="0"/>
              </a:rPr>
              <a:t> </a:t>
            </a:r>
            <a:r>
              <a:rPr sz="4400" dirty="0" err="1">
                <a:latin typeface="Aptos Display" panose="020B0004020202020204" pitchFamily="34" charset="0"/>
              </a:rPr>
              <a:t>tiêu</a:t>
            </a:r>
            <a:r>
              <a:rPr sz="4400" dirty="0">
                <a:latin typeface="Aptos Display" panose="020B0004020202020204" pitchFamily="34" charset="0"/>
              </a:rPr>
              <a:t> </a:t>
            </a: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endParaRPr sz="4400" dirty="0">
              <a:latin typeface="Aptos Display" panose="020B0004020202020204" pitchFamily="34" charset="0"/>
            </a:endParaRPr>
          </a:p>
        </p:txBody>
      </p:sp>
      <p:sp>
        <p:nvSpPr>
          <p:cNvPr id="4" name="Picture Placeholder 3"/>
          <p:cNvSpPr>
            <a:spLocks noGrp="1"/>
          </p:cNvSpPr>
          <p:nvPr>
            <p:ph type="pic" idx="4294967295"/>
          </p:nvPr>
        </p:nvSpPr>
        <p:spPr>
          <a:xfrm>
            <a:off x="537501" y="1540211"/>
            <a:ext cx="8068998" cy="2165515"/>
          </a:xfrm>
          <a:noFill/>
          <a:ln>
            <a:noFill/>
          </a:ln>
        </p:spPr>
        <p:txBody>
          <a:bodyPr/>
          <a:lstStyle/>
          <a:p>
            <a:pPr marL="152400" indent="0">
              <a:buNone/>
            </a:pPr>
            <a:r>
              <a:rPr sz="2500" dirty="0" err="1">
                <a:latin typeface="+mn-lt"/>
              </a:rPr>
              <a:t>Phân</a:t>
            </a:r>
            <a:r>
              <a:rPr sz="2500" dirty="0">
                <a:latin typeface="+mn-lt"/>
              </a:rPr>
              <a:t> </a:t>
            </a:r>
            <a:r>
              <a:rPr sz="2500" dirty="0" err="1">
                <a:latin typeface="+mn-lt"/>
              </a:rPr>
              <a:t>tích</a:t>
            </a:r>
            <a:r>
              <a:rPr sz="2500" dirty="0">
                <a:latin typeface="+mn-lt"/>
              </a:rPr>
              <a:t> </a:t>
            </a:r>
            <a:r>
              <a:rPr sz="2500" dirty="0" err="1">
                <a:latin typeface="+mn-lt"/>
              </a:rPr>
              <a:t>và</a:t>
            </a:r>
            <a:r>
              <a:rPr sz="2500" dirty="0">
                <a:latin typeface="+mn-lt"/>
              </a:rPr>
              <a:t> </a:t>
            </a:r>
            <a:r>
              <a:rPr sz="2500" dirty="0" err="1">
                <a:latin typeface="+mn-lt"/>
              </a:rPr>
              <a:t>làm</a:t>
            </a:r>
            <a:r>
              <a:rPr sz="2500" dirty="0">
                <a:latin typeface="+mn-lt"/>
              </a:rPr>
              <a:t> </a:t>
            </a:r>
            <a:r>
              <a:rPr sz="2500" dirty="0" err="1">
                <a:latin typeface="+mn-lt"/>
              </a:rPr>
              <a:t>rõ</a:t>
            </a:r>
            <a:r>
              <a:rPr sz="2500" dirty="0">
                <a:latin typeface="+mn-lt"/>
              </a:rPr>
              <a:t> xu </a:t>
            </a:r>
            <a:r>
              <a:rPr sz="2500" dirty="0" err="1">
                <a:latin typeface="+mn-lt"/>
              </a:rPr>
              <a:t>hướng</a:t>
            </a:r>
            <a:r>
              <a:rPr sz="2500" dirty="0">
                <a:latin typeface="+mn-lt"/>
              </a:rPr>
              <a:t> </a:t>
            </a:r>
            <a:r>
              <a:rPr sz="2500" dirty="0" err="1">
                <a:latin typeface="+mn-lt"/>
              </a:rPr>
              <a:t>biến</a:t>
            </a:r>
            <a:r>
              <a:rPr sz="2500" dirty="0">
                <a:latin typeface="+mn-lt"/>
              </a:rPr>
              <a:t> </a:t>
            </a:r>
            <a:r>
              <a:rPr sz="2500" dirty="0" err="1">
                <a:latin typeface="+mn-lt"/>
              </a:rPr>
              <a:t>động</a:t>
            </a:r>
            <a:r>
              <a:rPr sz="2500" dirty="0">
                <a:latin typeface="+mn-lt"/>
              </a:rPr>
              <a:t> </a:t>
            </a:r>
            <a:r>
              <a:rPr sz="2500" dirty="0" err="1">
                <a:latin typeface="+mn-lt"/>
              </a:rPr>
              <a:t>doanh</a:t>
            </a:r>
            <a:r>
              <a:rPr sz="2500" dirty="0">
                <a:latin typeface="+mn-lt"/>
              </a:rPr>
              <a:t> </a:t>
            </a:r>
            <a:r>
              <a:rPr sz="2500" dirty="0" err="1">
                <a:latin typeface="+mn-lt"/>
              </a:rPr>
              <a:t>thu</a:t>
            </a:r>
            <a:r>
              <a:rPr sz="2500" dirty="0">
                <a:latin typeface="+mn-lt"/>
              </a:rPr>
              <a:t> </a:t>
            </a:r>
            <a:r>
              <a:rPr sz="2500" dirty="0" err="1">
                <a:latin typeface="+mn-lt"/>
              </a:rPr>
              <a:t>theo</a:t>
            </a:r>
            <a:r>
              <a:rPr sz="2500" dirty="0">
                <a:latin typeface="+mn-lt"/>
              </a:rPr>
              <a:t> </a:t>
            </a:r>
            <a:r>
              <a:rPr sz="2500" dirty="0" err="1">
                <a:latin typeface="+mn-lt"/>
              </a:rPr>
              <a:t>thời</a:t>
            </a:r>
            <a:r>
              <a:rPr sz="2500" dirty="0">
                <a:latin typeface="+mn-lt"/>
              </a:rPr>
              <a:t> </a:t>
            </a:r>
            <a:r>
              <a:rPr sz="2500" dirty="0" err="1">
                <a:latin typeface="+mn-lt"/>
              </a:rPr>
              <a:t>gian</a:t>
            </a:r>
            <a:r>
              <a:rPr sz="2500" dirty="0">
                <a:latin typeface="+mn-lt"/>
              </a:rPr>
              <a:t> </a:t>
            </a:r>
            <a:r>
              <a:rPr sz="2500" dirty="0" err="1">
                <a:latin typeface="+mn-lt"/>
              </a:rPr>
              <a:t>trong</a:t>
            </a:r>
            <a:r>
              <a:rPr sz="2500" dirty="0">
                <a:latin typeface="+mn-lt"/>
              </a:rPr>
              <a:t> </a:t>
            </a:r>
            <a:r>
              <a:rPr sz="2500" dirty="0" err="1">
                <a:latin typeface="+mn-lt"/>
              </a:rPr>
              <a:t>năm</a:t>
            </a:r>
            <a:r>
              <a:rPr sz="2500" dirty="0">
                <a:latin typeface="+mn-lt"/>
              </a:rPr>
              <a:t> </a:t>
            </a:r>
            <a:r>
              <a:rPr sz="2500" dirty="0" err="1">
                <a:latin typeface="+mn-lt"/>
              </a:rPr>
              <a:t>hiện</a:t>
            </a:r>
            <a:r>
              <a:rPr sz="2500" dirty="0">
                <a:latin typeface="+mn-lt"/>
              </a:rPr>
              <a:t> </a:t>
            </a:r>
            <a:r>
              <a:rPr sz="2500" dirty="0" err="1">
                <a:latin typeface="+mn-lt"/>
              </a:rPr>
              <a:t>tại</a:t>
            </a:r>
            <a:endParaRPr lang="en-US" sz="2500" dirty="0">
              <a:latin typeface="+mn-lt"/>
            </a:endParaRPr>
          </a:p>
          <a:p>
            <a:pPr marL="152400" indent="0">
              <a:buNone/>
            </a:pPr>
            <a:r>
              <a:rPr lang="en-US" sz="2500" dirty="0">
                <a:latin typeface="+mn-lt"/>
                <a:sym typeface="Wingdings" panose="05000000000000000000" pitchFamily="2" charset="2"/>
              </a:rPr>
              <a:t></a:t>
            </a:r>
            <a:r>
              <a:rPr sz="2500" dirty="0">
                <a:latin typeface="+mn-lt"/>
              </a:rPr>
              <a:t> </a:t>
            </a:r>
            <a:r>
              <a:rPr sz="2500" dirty="0" err="1">
                <a:latin typeface="+mn-lt"/>
              </a:rPr>
              <a:t>giúp</a:t>
            </a:r>
            <a:r>
              <a:rPr sz="2500" dirty="0">
                <a:latin typeface="+mn-lt"/>
              </a:rPr>
              <a:t> </a:t>
            </a:r>
            <a:r>
              <a:rPr sz="2500" dirty="0" err="1">
                <a:latin typeface="+mn-lt"/>
              </a:rPr>
              <a:t>doanh</a:t>
            </a:r>
            <a:r>
              <a:rPr sz="2500" dirty="0">
                <a:latin typeface="+mn-lt"/>
              </a:rPr>
              <a:t> </a:t>
            </a:r>
            <a:r>
              <a:rPr sz="2500" dirty="0" err="1">
                <a:latin typeface="+mn-lt"/>
              </a:rPr>
              <a:t>nghiệp</a:t>
            </a:r>
            <a:r>
              <a:rPr sz="2500" dirty="0">
                <a:latin typeface="+mn-lt"/>
              </a:rPr>
              <a:t> </a:t>
            </a:r>
            <a:r>
              <a:rPr sz="2500" dirty="0" err="1">
                <a:latin typeface="+mn-lt"/>
              </a:rPr>
              <a:t>nhận</a:t>
            </a:r>
            <a:r>
              <a:rPr sz="2500" dirty="0">
                <a:latin typeface="+mn-lt"/>
              </a:rPr>
              <a:t> </a:t>
            </a:r>
            <a:r>
              <a:rPr sz="2500" dirty="0" err="1">
                <a:latin typeface="+mn-lt"/>
              </a:rPr>
              <a:t>diện</a:t>
            </a:r>
            <a:r>
              <a:rPr sz="2500" dirty="0">
                <a:latin typeface="+mn-lt"/>
              </a:rPr>
              <a:t> </a:t>
            </a:r>
            <a:r>
              <a:rPr sz="2500" dirty="0" err="1">
                <a:latin typeface="+mn-lt"/>
              </a:rPr>
              <a:t>giai</a:t>
            </a:r>
            <a:r>
              <a:rPr sz="2500" dirty="0">
                <a:latin typeface="+mn-lt"/>
              </a:rPr>
              <a:t> </a:t>
            </a:r>
            <a:r>
              <a:rPr sz="2500" dirty="0" err="1">
                <a:latin typeface="+mn-lt"/>
              </a:rPr>
              <a:t>đoạn</a:t>
            </a:r>
            <a:r>
              <a:rPr sz="2500" dirty="0">
                <a:latin typeface="+mn-lt"/>
              </a:rPr>
              <a:t> </a:t>
            </a:r>
            <a:r>
              <a:rPr sz="2500" dirty="0" err="1">
                <a:latin typeface="+mn-lt"/>
              </a:rPr>
              <a:t>tăng</a:t>
            </a:r>
            <a:r>
              <a:rPr sz="2500" dirty="0">
                <a:latin typeface="+mn-lt"/>
              </a:rPr>
              <a:t> </a:t>
            </a:r>
            <a:r>
              <a:rPr sz="2500" dirty="0" err="1">
                <a:latin typeface="+mn-lt"/>
              </a:rPr>
              <a:t>trưởng</a:t>
            </a:r>
            <a:r>
              <a:rPr sz="2500" dirty="0">
                <a:latin typeface="+mn-lt"/>
              </a:rPr>
              <a:t>, </a:t>
            </a:r>
            <a:r>
              <a:rPr sz="2500" dirty="0" err="1">
                <a:latin typeface="+mn-lt"/>
              </a:rPr>
              <a:t>suy</a:t>
            </a:r>
            <a:r>
              <a:rPr sz="2500" dirty="0">
                <a:latin typeface="+mn-lt"/>
              </a:rPr>
              <a:t> </a:t>
            </a:r>
            <a:r>
              <a:rPr sz="2500" dirty="0" err="1">
                <a:latin typeface="+mn-lt"/>
              </a:rPr>
              <a:t>giảm</a:t>
            </a:r>
            <a:r>
              <a:rPr sz="2500" dirty="0">
                <a:latin typeface="+mn-lt"/>
              </a:rPr>
              <a:t> </a:t>
            </a:r>
            <a:r>
              <a:rPr sz="2500" dirty="0" err="1">
                <a:latin typeface="+mn-lt"/>
              </a:rPr>
              <a:t>và</a:t>
            </a:r>
            <a:r>
              <a:rPr sz="2500" dirty="0">
                <a:latin typeface="+mn-lt"/>
              </a:rPr>
              <a:t> </a:t>
            </a:r>
            <a:r>
              <a:rPr sz="2500" dirty="0" err="1">
                <a:latin typeface="+mn-lt"/>
              </a:rPr>
              <a:t>thời</a:t>
            </a:r>
            <a:r>
              <a:rPr sz="2500" dirty="0">
                <a:latin typeface="+mn-lt"/>
              </a:rPr>
              <a:t> </a:t>
            </a:r>
            <a:r>
              <a:rPr sz="2500" dirty="0" err="1">
                <a:latin typeface="+mn-lt"/>
              </a:rPr>
              <a:t>điểm</a:t>
            </a:r>
            <a:r>
              <a:rPr sz="2500" dirty="0">
                <a:latin typeface="+mn-lt"/>
              </a:rPr>
              <a:t> </a:t>
            </a:r>
            <a:r>
              <a:rPr sz="2500" dirty="0" err="1">
                <a:latin typeface="+mn-lt"/>
              </a:rPr>
              <a:t>cần</a:t>
            </a:r>
            <a:r>
              <a:rPr sz="2500" dirty="0">
                <a:latin typeface="+mn-lt"/>
              </a:rPr>
              <a:t> can </a:t>
            </a:r>
            <a:r>
              <a:rPr sz="2500" dirty="0" err="1">
                <a:latin typeface="+mn-lt"/>
              </a:rPr>
              <a:t>thiệp</a:t>
            </a:r>
            <a:r>
              <a:rPr sz="2500" dirty="0">
                <a:latin typeface="+mn-lt"/>
              </a:rPr>
              <a:t> </a:t>
            </a:r>
            <a:r>
              <a:rPr sz="2500" dirty="0" err="1">
                <a:latin typeface="+mn-lt"/>
              </a:rPr>
              <a:t>chiến</a:t>
            </a:r>
            <a:r>
              <a:rPr sz="2500" dirty="0">
                <a:latin typeface="+mn-lt"/>
              </a:rPr>
              <a:t> </a:t>
            </a:r>
            <a:r>
              <a:rPr sz="2500" dirty="0" err="1">
                <a:latin typeface="+mn-lt"/>
              </a:rPr>
              <a:t>lược</a:t>
            </a:r>
            <a:r>
              <a:rPr sz="2500" dirty="0">
                <a:latin typeface="+mn-lt"/>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539500"/>
            <a:ext cx="7704000" cy="729902"/>
          </a:xfrm>
          <a:noFill/>
          <a:ln>
            <a:noFill/>
          </a:ln>
        </p:spPr>
        <p:txBody>
          <a:bodyPr spcFirstLastPara="1" wrap="square" lIns="91425" tIns="91425" rIns="91425" bIns="91425" anchor="t" anchorCtr="0">
            <a:noAutofit/>
          </a:bodyPr>
          <a:lstStyle/>
          <a:p>
            <a:r>
              <a:rPr sz="4400" dirty="0" err="1">
                <a:latin typeface="Aptos Display" panose="020B0004020202020204" pitchFamily="34" charset="0"/>
              </a:rPr>
              <a:t>Bài</a:t>
            </a:r>
            <a:r>
              <a:rPr sz="4400" dirty="0">
                <a:latin typeface="Aptos Display" panose="020B0004020202020204" pitchFamily="34" charset="0"/>
              </a:rPr>
              <a:t> </a:t>
            </a:r>
            <a:r>
              <a:rPr sz="4400" dirty="0" err="1">
                <a:latin typeface="Aptos Display" panose="020B0004020202020204" pitchFamily="34" charset="0"/>
              </a:rPr>
              <a:t>toán</a:t>
            </a:r>
            <a:r>
              <a:rPr sz="4400" dirty="0">
                <a:latin typeface="Aptos Display" panose="020B0004020202020204" pitchFamily="34" charset="0"/>
              </a:rPr>
              <a:t> </a:t>
            </a:r>
            <a:r>
              <a:rPr sz="4400" dirty="0" err="1">
                <a:latin typeface="Aptos Display" panose="020B0004020202020204" pitchFamily="34" charset="0"/>
              </a:rPr>
              <a:t>nghiệp</a:t>
            </a:r>
            <a:r>
              <a:rPr sz="4400" dirty="0">
                <a:latin typeface="Aptos Display" panose="020B0004020202020204" pitchFamily="34" charset="0"/>
              </a:rPr>
              <a:t> </a:t>
            </a:r>
            <a:r>
              <a:rPr sz="4400" dirty="0" err="1">
                <a:latin typeface="Aptos Display" panose="020B0004020202020204" pitchFamily="34" charset="0"/>
              </a:rPr>
              <a:t>vụ</a:t>
            </a:r>
            <a:endParaRPr sz="4400" dirty="0">
              <a:latin typeface="Aptos Display" panose="020B0004020202020204" pitchFamily="34" charset="0"/>
            </a:endParaRPr>
          </a:p>
        </p:txBody>
      </p:sp>
      <p:sp>
        <p:nvSpPr>
          <p:cNvPr id="4" name="Picture Placeholder 3"/>
          <p:cNvSpPr>
            <a:spLocks noGrp="1"/>
          </p:cNvSpPr>
          <p:nvPr>
            <p:ph type="pic" idx="4294967295"/>
          </p:nvPr>
        </p:nvSpPr>
        <p:spPr>
          <a:xfrm>
            <a:off x="687726" y="1811020"/>
            <a:ext cx="7768547" cy="2180067"/>
          </a:xfrm>
          <a:noFill/>
          <a:ln>
            <a:noFill/>
          </a:ln>
        </p:spPr>
        <p:txBody>
          <a:bodyPr/>
          <a:lstStyle/>
          <a:p>
            <a:pPr marL="152400" indent="0">
              <a:buNone/>
            </a:pPr>
            <a:r>
              <a:rPr sz="2500" dirty="0">
                <a:latin typeface="+mn-lt"/>
              </a:rPr>
              <a:t>Doanh </a:t>
            </a:r>
            <a:r>
              <a:rPr sz="2500" dirty="0" err="1">
                <a:latin typeface="+mn-lt"/>
              </a:rPr>
              <a:t>thu</a:t>
            </a:r>
            <a:r>
              <a:rPr sz="2500" dirty="0">
                <a:latin typeface="+mn-lt"/>
              </a:rPr>
              <a:t> </a:t>
            </a:r>
            <a:r>
              <a:rPr sz="2500" dirty="0" err="1">
                <a:latin typeface="+mn-lt"/>
              </a:rPr>
              <a:t>biến</a:t>
            </a:r>
            <a:r>
              <a:rPr sz="2500" dirty="0">
                <a:latin typeface="+mn-lt"/>
              </a:rPr>
              <a:t> </a:t>
            </a:r>
            <a:r>
              <a:rPr sz="2500" dirty="0" err="1">
                <a:latin typeface="+mn-lt"/>
              </a:rPr>
              <a:t>động</a:t>
            </a:r>
            <a:r>
              <a:rPr sz="2500" dirty="0">
                <a:latin typeface="+mn-lt"/>
              </a:rPr>
              <a:t> </a:t>
            </a:r>
            <a:r>
              <a:rPr sz="2500" dirty="0" err="1">
                <a:latin typeface="+mn-lt"/>
              </a:rPr>
              <a:t>mạnh</a:t>
            </a:r>
            <a:r>
              <a:rPr sz="2500" dirty="0">
                <a:latin typeface="+mn-lt"/>
              </a:rPr>
              <a:t> </a:t>
            </a:r>
            <a:r>
              <a:rPr sz="2500" dirty="0" err="1">
                <a:latin typeface="+mn-lt"/>
              </a:rPr>
              <a:t>theo</a:t>
            </a:r>
            <a:r>
              <a:rPr sz="2500" dirty="0">
                <a:latin typeface="+mn-lt"/>
              </a:rPr>
              <a:t> </a:t>
            </a:r>
            <a:r>
              <a:rPr sz="2500" dirty="0" err="1">
                <a:latin typeface="+mn-lt"/>
              </a:rPr>
              <a:t>ngày</a:t>
            </a:r>
            <a:r>
              <a:rPr sz="2500" dirty="0">
                <a:latin typeface="+mn-lt"/>
              </a:rPr>
              <a:t> </a:t>
            </a:r>
            <a:r>
              <a:rPr sz="2500" dirty="0" err="1">
                <a:latin typeface="+mn-lt"/>
              </a:rPr>
              <a:t>và</a:t>
            </a:r>
            <a:r>
              <a:rPr sz="2500" dirty="0">
                <a:latin typeface="+mn-lt"/>
              </a:rPr>
              <a:t> </a:t>
            </a:r>
            <a:r>
              <a:rPr sz="2500" dirty="0" err="1">
                <a:latin typeface="+mn-lt"/>
              </a:rPr>
              <a:t>tuần</a:t>
            </a:r>
            <a:r>
              <a:rPr sz="2500" dirty="0">
                <a:latin typeface="+mn-lt"/>
              </a:rPr>
              <a:t> </a:t>
            </a:r>
            <a:endParaRPr lang="en-US" sz="2500" dirty="0">
              <a:latin typeface="+mn-lt"/>
            </a:endParaRPr>
          </a:p>
          <a:p>
            <a:pPr marL="152400" indent="0">
              <a:buNone/>
            </a:pPr>
            <a:r>
              <a:rPr lang="en-US" sz="2500" dirty="0">
                <a:latin typeface="+mn-lt"/>
                <a:sym typeface="Wingdings" panose="05000000000000000000" pitchFamily="2" charset="2"/>
              </a:rPr>
              <a:t></a:t>
            </a:r>
            <a:r>
              <a:rPr lang="en-US" sz="2500" dirty="0">
                <a:latin typeface="+mn-lt"/>
              </a:rPr>
              <a:t> </a:t>
            </a:r>
            <a:r>
              <a:rPr sz="2500" dirty="0" err="1">
                <a:latin typeface="+mn-lt"/>
              </a:rPr>
              <a:t>nhà</a:t>
            </a:r>
            <a:r>
              <a:rPr sz="2500" dirty="0">
                <a:latin typeface="+mn-lt"/>
              </a:rPr>
              <a:t> </a:t>
            </a:r>
            <a:r>
              <a:rPr sz="2500" dirty="0" err="1">
                <a:latin typeface="+mn-lt"/>
              </a:rPr>
              <a:t>quản</a:t>
            </a:r>
            <a:r>
              <a:rPr sz="2500" dirty="0">
                <a:latin typeface="+mn-lt"/>
              </a:rPr>
              <a:t> </a:t>
            </a:r>
            <a:r>
              <a:rPr sz="2500" dirty="0" err="1">
                <a:latin typeface="+mn-lt"/>
              </a:rPr>
              <a:t>lý</a:t>
            </a:r>
            <a:r>
              <a:rPr sz="2500" dirty="0">
                <a:latin typeface="+mn-lt"/>
              </a:rPr>
              <a:t> </a:t>
            </a:r>
            <a:r>
              <a:rPr sz="2500" dirty="0" err="1">
                <a:latin typeface="+mn-lt"/>
              </a:rPr>
              <a:t>khó</a:t>
            </a:r>
            <a:r>
              <a:rPr sz="2500" dirty="0">
                <a:latin typeface="+mn-lt"/>
              </a:rPr>
              <a:t> </a:t>
            </a:r>
            <a:r>
              <a:rPr sz="2500" dirty="0" err="1">
                <a:latin typeface="+mn-lt"/>
              </a:rPr>
              <a:t>phân</a:t>
            </a:r>
            <a:r>
              <a:rPr sz="2500" dirty="0">
                <a:latin typeface="+mn-lt"/>
              </a:rPr>
              <a:t> </a:t>
            </a:r>
            <a:r>
              <a:rPr sz="2500" dirty="0" err="1">
                <a:latin typeface="+mn-lt"/>
              </a:rPr>
              <a:t>biệt</a:t>
            </a:r>
            <a:r>
              <a:rPr sz="2500" dirty="0">
                <a:latin typeface="+mn-lt"/>
              </a:rPr>
              <a:t> xu </a:t>
            </a:r>
            <a:r>
              <a:rPr sz="2500" dirty="0" err="1">
                <a:latin typeface="+mn-lt"/>
              </a:rPr>
              <a:t>hướng</a:t>
            </a:r>
            <a:r>
              <a:rPr sz="2500" dirty="0">
                <a:latin typeface="+mn-lt"/>
              </a:rPr>
              <a:t> </a:t>
            </a:r>
            <a:r>
              <a:rPr sz="2500" dirty="0" err="1">
                <a:latin typeface="+mn-lt"/>
              </a:rPr>
              <a:t>thực</a:t>
            </a:r>
            <a:r>
              <a:rPr sz="2500" dirty="0">
                <a:latin typeface="+mn-lt"/>
              </a:rPr>
              <a:t> </a:t>
            </a:r>
            <a:r>
              <a:rPr sz="2500" dirty="0" err="1">
                <a:latin typeface="+mn-lt"/>
              </a:rPr>
              <a:t>sự</a:t>
            </a:r>
            <a:r>
              <a:rPr sz="2500" dirty="0">
                <a:latin typeface="+mn-lt"/>
              </a:rPr>
              <a:t> </a:t>
            </a:r>
            <a:r>
              <a:rPr sz="2500" dirty="0" err="1">
                <a:latin typeface="+mn-lt"/>
              </a:rPr>
              <a:t>với</a:t>
            </a:r>
            <a:r>
              <a:rPr sz="2500" dirty="0">
                <a:latin typeface="+mn-lt"/>
              </a:rPr>
              <a:t> dao </a:t>
            </a:r>
            <a:r>
              <a:rPr sz="2500" dirty="0" err="1">
                <a:latin typeface="+mn-lt"/>
              </a:rPr>
              <a:t>động</a:t>
            </a:r>
            <a:r>
              <a:rPr sz="2500" dirty="0">
                <a:latin typeface="+mn-lt"/>
              </a:rPr>
              <a:t> </a:t>
            </a:r>
            <a:r>
              <a:rPr sz="2500" dirty="0" err="1">
                <a:latin typeface="+mn-lt"/>
              </a:rPr>
              <a:t>ngắn</a:t>
            </a:r>
            <a:r>
              <a:rPr sz="2500" dirty="0">
                <a:latin typeface="+mn-lt"/>
              </a:rPr>
              <a:t> </a:t>
            </a:r>
            <a:r>
              <a:rPr sz="2500" dirty="0" err="1">
                <a:latin typeface="+mn-lt"/>
              </a:rPr>
              <a:t>hạn</a:t>
            </a:r>
            <a:endParaRPr lang="en-US" sz="2500" dirty="0">
              <a:latin typeface="+mn-lt"/>
            </a:endParaRPr>
          </a:p>
          <a:p>
            <a:pPr marL="152400" indent="0">
              <a:buNone/>
            </a:pPr>
            <a:r>
              <a:rPr lang="en-US" sz="2500" dirty="0">
                <a:latin typeface="+mn-lt"/>
                <a:sym typeface="Wingdings" panose="05000000000000000000" pitchFamily="2" charset="2"/>
              </a:rPr>
              <a:t></a:t>
            </a:r>
            <a:r>
              <a:rPr sz="2500" dirty="0">
                <a:latin typeface="+mn-lt"/>
              </a:rPr>
              <a:t> </a:t>
            </a:r>
            <a:r>
              <a:rPr sz="2500" dirty="0" err="1">
                <a:latin typeface="+mn-lt"/>
              </a:rPr>
              <a:t>ảnh</a:t>
            </a:r>
            <a:r>
              <a:rPr sz="2500" dirty="0">
                <a:latin typeface="+mn-lt"/>
              </a:rPr>
              <a:t> </a:t>
            </a:r>
            <a:r>
              <a:rPr sz="2500" dirty="0" err="1">
                <a:latin typeface="+mn-lt"/>
              </a:rPr>
              <a:t>hưởng</a:t>
            </a:r>
            <a:r>
              <a:rPr sz="2500" dirty="0">
                <a:latin typeface="+mn-lt"/>
              </a:rPr>
              <a:t> </a:t>
            </a:r>
            <a:r>
              <a:rPr sz="2500" dirty="0" err="1">
                <a:latin typeface="+mn-lt"/>
              </a:rPr>
              <a:t>đến</a:t>
            </a:r>
            <a:r>
              <a:rPr sz="2500" dirty="0">
                <a:latin typeface="+mn-lt"/>
              </a:rPr>
              <a:t> </a:t>
            </a:r>
            <a:r>
              <a:rPr sz="2500" dirty="0" err="1">
                <a:latin typeface="+mn-lt"/>
              </a:rPr>
              <a:t>quyết</a:t>
            </a:r>
            <a:r>
              <a:rPr sz="2500" dirty="0">
                <a:latin typeface="+mn-lt"/>
              </a:rPr>
              <a:t> </a:t>
            </a:r>
            <a:r>
              <a:rPr sz="2500" dirty="0" err="1">
                <a:latin typeface="+mn-lt"/>
              </a:rPr>
              <a:t>định</a:t>
            </a:r>
            <a:r>
              <a:rPr sz="2500" dirty="0">
                <a:latin typeface="+mn-lt"/>
              </a:rPr>
              <a:t> </a:t>
            </a:r>
            <a:r>
              <a:rPr sz="2500" dirty="0" err="1">
                <a:latin typeface="+mn-lt"/>
              </a:rPr>
              <a:t>giá</a:t>
            </a:r>
            <a:r>
              <a:rPr sz="2500" dirty="0">
                <a:latin typeface="+mn-lt"/>
              </a:rPr>
              <a:t>, </a:t>
            </a:r>
            <a:r>
              <a:rPr sz="2500" dirty="0" err="1">
                <a:latin typeface="+mn-lt"/>
              </a:rPr>
              <a:t>chương</a:t>
            </a:r>
            <a:r>
              <a:rPr sz="2500" dirty="0">
                <a:latin typeface="+mn-lt"/>
              </a:rPr>
              <a:t> </a:t>
            </a:r>
            <a:r>
              <a:rPr sz="2500" dirty="0" err="1">
                <a:latin typeface="+mn-lt"/>
              </a:rPr>
              <a:t>trình</a:t>
            </a:r>
            <a:r>
              <a:rPr sz="2500" dirty="0">
                <a:latin typeface="+mn-lt"/>
              </a:rPr>
              <a:t> </a:t>
            </a:r>
            <a:r>
              <a:rPr sz="2500" dirty="0" err="1">
                <a:latin typeface="+mn-lt"/>
              </a:rPr>
              <a:t>bán</a:t>
            </a:r>
            <a:r>
              <a:rPr sz="2500" dirty="0">
                <a:latin typeface="+mn-lt"/>
              </a:rPr>
              <a:t> </a:t>
            </a:r>
            <a:r>
              <a:rPr sz="2500" dirty="0" err="1">
                <a:latin typeface="+mn-lt"/>
              </a:rPr>
              <a:t>hàng</a:t>
            </a:r>
            <a:r>
              <a:rPr sz="2500" dirty="0">
                <a:latin typeface="+mn-lt"/>
              </a:rPr>
              <a:t> </a:t>
            </a:r>
            <a:r>
              <a:rPr sz="2500" dirty="0" err="1">
                <a:latin typeface="+mn-lt"/>
              </a:rPr>
              <a:t>và</a:t>
            </a:r>
            <a:r>
              <a:rPr sz="2500" dirty="0">
                <a:latin typeface="+mn-lt"/>
              </a:rPr>
              <a:t> </a:t>
            </a:r>
            <a:r>
              <a:rPr sz="2500" dirty="0" err="1">
                <a:latin typeface="+mn-lt"/>
              </a:rPr>
              <a:t>phân</a:t>
            </a:r>
            <a:r>
              <a:rPr sz="2500" dirty="0">
                <a:latin typeface="+mn-lt"/>
              </a:rPr>
              <a:t> </a:t>
            </a:r>
            <a:r>
              <a:rPr sz="2500" dirty="0" err="1">
                <a:latin typeface="+mn-lt"/>
              </a:rPr>
              <a:t>bổ</a:t>
            </a:r>
            <a:r>
              <a:rPr sz="2500" dirty="0">
                <a:latin typeface="+mn-lt"/>
              </a:rPr>
              <a:t> </a:t>
            </a:r>
            <a:r>
              <a:rPr sz="2500" dirty="0" err="1">
                <a:latin typeface="+mn-lt"/>
              </a:rPr>
              <a:t>nguồn</a:t>
            </a:r>
            <a:r>
              <a:rPr sz="2500" dirty="0">
                <a:latin typeface="+mn-lt"/>
              </a:rPr>
              <a:t> </a:t>
            </a:r>
            <a:r>
              <a:rPr sz="2500" dirty="0" err="1">
                <a:latin typeface="+mn-lt"/>
              </a:rPr>
              <a:t>lực</a:t>
            </a:r>
            <a:r>
              <a:rPr sz="2500" dirty="0">
                <a:latin typeface="+mn-lt"/>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r>
              <a:rPr sz="4400" dirty="0" err="1">
                <a:latin typeface="Aptos Display" panose="020B0004020202020204" pitchFamily="34" charset="0"/>
              </a:rPr>
              <a:t>Câu</a:t>
            </a:r>
            <a:r>
              <a:rPr sz="4400" dirty="0">
                <a:latin typeface="Aptos Display" panose="020B0004020202020204" pitchFamily="34" charset="0"/>
              </a:rPr>
              <a:t> </a:t>
            </a:r>
            <a:r>
              <a:rPr sz="4400" dirty="0" err="1">
                <a:latin typeface="Aptos Display" panose="020B0004020202020204" pitchFamily="34" charset="0"/>
              </a:rPr>
              <a:t>chuyện</a:t>
            </a:r>
            <a:r>
              <a:rPr sz="4400" dirty="0">
                <a:latin typeface="Aptos Display" panose="020B0004020202020204" pitchFamily="34" charset="0"/>
              </a:rPr>
              <a:t> </a:t>
            </a:r>
            <a:r>
              <a:rPr sz="4400" dirty="0" err="1">
                <a:latin typeface="Aptos Display" panose="020B0004020202020204" pitchFamily="34" charset="0"/>
              </a:rPr>
              <a:t>dữ</a:t>
            </a:r>
            <a:r>
              <a:rPr sz="4400" dirty="0">
                <a:latin typeface="Aptos Display" panose="020B0004020202020204" pitchFamily="34" charset="0"/>
              </a:rPr>
              <a:t> </a:t>
            </a:r>
            <a:r>
              <a:rPr sz="4400" dirty="0" err="1">
                <a:latin typeface="Aptos Display" panose="020B0004020202020204" pitchFamily="34" charset="0"/>
              </a:rPr>
              <a:t>liệu</a:t>
            </a:r>
            <a:endParaRPr sz="4400" dirty="0">
              <a:latin typeface="Aptos Display" panose="020B0004020202020204" pitchFamily="34" charset="0"/>
            </a:endParaRPr>
          </a:p>
        </p:txBody>
      </p:sp>
      <p:sp>
        <p:nvSpPr>
          <p:cNvPr id="4" name="Picture Placeholder 3"/>
          <p:cNvSpPr>
            <a:spLocks noGrp="1"/>
          </p:cNvSpPr>
          <p:nvPr>
            <p:ph type="pic" idx="4294967295"/>
          </p:nvPr>
        </p:nvSpPr>
        <p:spPr>
          <a:xfrm>
            <a:off x="625642" y="1493252"/>
            <a:ext cx="7704001" cy="2156995"/>
          </a:xfrm>
          <a:noFill/>
          <a:ln>
            <a:noFill/>
          </a:ln>
        </p:spPr>
        <p:txBody>
          <a:bodyPr/>
          <a:lstStyle/>
          <a:p>
            <a:pPr marL="152400" indent="0">
              <a:buNone/>
            </a:pPr>
            <a:r>
              <a:rPr sz="2400" dirty="0">
                <a:latin typeface="Century" panose="02040604050505020304" pitchFamily="18" charset="0"/>
              </a:rPr>
              <a:t>Doanh </a:t>
            </a:r>
            <a:r>
              <a:rPr sz="2400" dirty="0" err="1">
                <a:latin typeface="Century" panose="02040604050505020304" pitchFamily="18" charset="0"/>
              </a:rPr>
              <a:t>thu</a:t>
            </a:r>
            <a:r>
              <a:rPr sz="2400" dirty="0">
                <a:latin typeface="Century" panose="02040604050505020304" pitchFamily="18" charset="0"/>
              </a:rPr>
              <a:t> </a:t>
            </a:r>
            <a:r>
              <a:rPr sz="2400" dirty="0" err="1">
                <a:latin typeface="Century" panose="02040604050505020304" pitchFamily="18" charset="0"/>
              </a:rPr>
              <a:t>tuần</a:t>
            </a:r>
            <a:r>
              <a:rPr sz="2400" dirty="0">
                <a:latin typeface="Century" panose="02040604050505020304" pitchFamily="18" charset="0"/>
              </a:rPr>
              <a:t> </a:t>
            </a:r>
            <a:r>
              <a:rPr sz="2400" dirty="0" err="1">
                <a:latin typeface="Century" panose="02040604050505020304" pitchFamily="18" charset="0"/>
              </a:rPr>
              <a:t>này</a:t>
            </a:r>
            <a:r>
              <a:rPr sz="2400" dirty="0">
                <a:latin typeface="Century" panose="02040604050505020304" pitchFamily="18" charset="0"/>
              </a:rPr>
              <a:t> </a:t>
            </a:r>
            <a:r>
              <a:rPr sz="2400" dirty="0" err="1">
                <a:latin typeface="Century" panose="02040604050505020304" pitchFamily="18" charset="0"/>
              </a:rPr>
              <a:t>tăng</a:t>
            </a:r>
            <a:r>
              <a:rPr sz="2400" dirty="0">
                <a:latin typeface="Century" panose="02040604050505020304" pitchFamily="18" charset="0"/>
              </a:rPr>
              <a:t> </a:t>
            </a:r>
            <a:r>
              <a:rPr sz="2400" dirty="0" err="1">
                <a:latin typeface="Century" panose="02040604050505020304" pitchFamily="18" charset="0"/>
              </a:rPr>
              <a:t>mạnh</a:t>
            </a:r>
            <a:r>
              <a:rPr sz="2400" dirty="0">
                <a:latin typeface="Century" panose="02040604050505020304" pitchFamily="18" charset="0"/>
              </a:rPr>
              <a:t> so </a:t>
            </a:r>
            <a:r>
              <a:rPr sz="2400" dirty="0" err="1">
                <a:latin typeface="Century" panose="02040604050505020304" pitchFamily="18" charset="0"/>
              </a:rPr>
              <a:t>với</a:t>
            </a:r>
            <a:r>
              <a:rPr sz="2400" dirty="0">
                <a:latin typeface="Century" panose="02040604050505020304" pitchFamily="18" charset="0"/>
              </a:rPr>
              <a:t> </a:t>
            </a:r>
            <a:r>
              <a:rPr sz="2400" dirty="0" err="1">
                <a:latin typeface="Century" panose="02040604050505020304" pitchFamily="18" charset="0"/>
              </a:rPr>
              <a:t>tuần</a:t>
            </a:r>
            <a:r>
              <a:rPr sz="2400" dirty="0">
                <a:latin typeface="Century" panose="02040604050505020304" pitchFamily="18" charset="0"/>
              </a:rPr>
              <a:t> </a:t>
            </a:r>
            <a:r>
              <a:rPr sz="2400" dirty="0" err="1">
                <a:latin typeface="Century" panose="02040604050505020304" pitchFamily="18" charset="0"/>
              </a:rPr>
              <a:t>trước</a:t>
            </a:r>
            <a:r>
              <a:rPr sz="2400" dirty="0">
                <a:latin typeface="Century" panose="02040604050505020304" pitchFamily="18" charset="0"/>
              </a:rPr>
              <a:t>. </a:t>
            </a:r>
            <a:endParaRPr lang="en-US" sz="2400" dirty="0">
              <a:latin typeface="Century" panose="02040604050505020304" pitchFamily="18" charset="0"/>
            </a:endParaRPr>
          </a:p>
          <a:p>
            <a:pPr marL="152400" indent="0">
              <a:buNone/>
            </a:pPr>
            <a:r>
              <a:rPr lang="en-US" sz="2400" dirty="0">
                <a:latin typeface="Century" panose="02040604050505020304" pitchFamily="18" charset="0"/>
                <a:sym typeface="Wingdings" panose="05000000000000000000" pitchFamily="2" charset="2"/>
              </a:rPr>
              <a:t>  </a:t>
            </a:r>
            <a:r>
              <a:rPr sz="2400" dirty="0">
                <a:latin typeface="Century" panose="02040604050505020304" pitchFamily="18" charset="0"/>
              </a:rPr>
              <a:t>Xu </a:t>
            </a:r>
            <a:r>
              <a:rPr sz="2400" dirty="0" err="1">
                <a:latin typeface="Century" panose="02040604050505020304" pitchFamily="18" charset="0"/>
              </a:rPr>
              <a:t>hướng</a:t>
            </a:r>
            <a:r>
              <a:rPr sz="2400" dirty="0">
                <a:latin typeface="Century" panose="02040604050505020304" pitchFamily="18" charset="0"/>
              </a:rPr>
              <a:t> </a:t>
            </a:r>
            <a:r>
              <a:rPr sz="2400" dirty="0" err="1">
                <a:latin typeface="Century" panose="02040604050505020304" pitchFamily="18" charset="0"/>
              </a:rPr>
              <a:t>này</a:t>
            </a:r>
            <a:r>
              <a:rPr sz="2400" dirty="0">
                <a:latin typeface="Century" panose="02040604050505020304" pitchFamily="18" charset="0"/>
              </a:rPr>
              <a:t> </a:t>
            </a:r>
            <a:r>
              <a:rPr sz="2400" dirty="0" err="1">
                <a:latin typeface="Century" panose="02040604050505020304" pitchFamily="18" charset="0"/>
              </a:rPr>
              <a:t>có</a:t>
            </a:r>
            <a:r>
              <a:rPr sz="2400" dirty="0">
                <a:latin typeface="Century" panose="02040604050505020304" pitchFamily="18" charset="0"/>
              </a:rPr>
              <a:t> </a:t>
            </a:r>
            <a:r>
              <a:rPr sz="2400" dirty="0" err="1">
                <a:latin typeface="Century" panose="02040604050505020304" pitchFamily="18" charset="0"/>
              </a:rPr>
              <a:t>lặp</a:t>
            </a:r>
            <a:r>
              <a:rPr sz="2400" dirty="0">
                <a:latin typeface="Century" panose="02040604050505020304" pitchFamily="18" charset="0"/>
              </a:rPr>
              <a:t> </a:t>
            </a:r>
            <a:r>
              <a:rPr sz="2400" dirty="0" err="1">
                <a:latin typeface="Century" panose="02040604050505020304" pitchFamily="18" charset="0"/>
              </a:rPr>
              <a:t>lại</a:t>
            </a:r>
            <a:r>
              <a:rPr sz="2400" dirty="0">
                <a:latin typeface="Century" panose="02040604050505020304" pitchFamily="18" charset="0"/>
              </a:rPr>
              <a:t> hay </a:t>
            </a:r>
            <a:r>
              <a:rPr sz="2400" dirty="0" err="1">
                <a:latin typeface="Century" panose="02040604050505020304" pitchFamily="18" charset="0"/>
              </a:rPr>
              <a:t>chỉ</a:t>
            </a:r>
            <a:r>
              <a:rPr sz="2400" dirty="0">
                <a:latin typeface="Century" panose="02040604050505020304" pitchFamily="18" charset="0"/>
              </a:rPr>
              <a:t> </a:t>
            </a:r>
            <a:r>
              <a:rPr sz="2400" dirty="0" err="1">
                <a:latin typeface="Century" panose="02040604050505020304" pitchFamily="18" charset="0"/>
              </a:rPr>
              <a:t>là</a:t>
            </a:r>
            <a:r>
              <a:rPr sz="2400" dirty="0">
                <a:latin typeface="Century" panose="02040604050505020304" pitchFamily="18" charset="0"/>
              </a:rPr>
              <a:t> </a:t>
            </a:r>
            <a:r>
              <a:rPr sz="2400" dirty="0" err="1">
                <a:latin typeface="Century" panose="02040604050505020304" pitchFamily="18" charset="0"/>
              </a:rPr>
              <a:t>biến</a:t>
            </a:r>
            <a:r>
              <a:rPr sz="2400" dirty="0">
                <a:latin typeface="Century" panose="02040604050505020304" pitchFamily="18" charset="0"/>
              </a:rPr>
              <a:t> </a:t>
            </a:r>
            <a:r>
              <a:rPr sz="2400" dirty="0" err="1">
                <a:latin typeface="Century" panose="02040604050505020304" pitchFamily="18" charset="0"/>
              </a:rPr>
              <a:t>động</a:t>
            </a:r>
            <a:r>
              <a:rPr sz="2400" dirty="0">
                <a:latin typeface="Century" panose="02040604050505020304" pitchFamily="18" charset="0"/>
              </a:rPr>
              <a:t> </a:t>
            </a:r>
            <a:r>
              <a:rPr sz="2400" dirty="0" err="1">
                <a:latin typeface="Century" panose="02040604050505020304" pitchFamily="18" charset="0"/>
              </a:rPr>
              <a:t>ngẫu</a:t>
            </a:r>
            <a:r>
              <a:rPr sz="2400" dirty="0">
                <a:latin typeface="Century" panose="02040604050505020304" pitchFamily="18" charset="0"/>
              </a:rPr>
              <a:t> </a:t>
            </a:r>
            <a:r>
              <a:rPr sz="2400" dirty="0" err="1">
                <a:latin typeface="Century" panose="02040604050505020304" pitchFamily="18" charset="0"/>
              </a:rPr>
              <a:t>nhiên</a:t>
            </a:r>
            <a:r>
              <a:rPr sz="2400" dirty="0">
                <a:latin typeface="Century" panose="02040604050505020304" pitchFamily="18" charset="0"/>
              </a:rPr>
              <a:t>? </a:t>
            </a:r>
            <a:endParaRPr lang="en-US" sz="2400" dirty="0">
              <a:latin typeface="Century" panose="02040604050505020304" pitchFamily="18" charset="0"/>
            </a:endParaRPr>
          </a:p>
          <a:p>
            <a:pPr marL="152400" indent="0">
              <a:buNone/>
            </a:pPr>
            <a:r>
              <a:rPr lang="en-US" sz="2400" dirty="0">
                <a:latin typeface="Century" panose="02040604050505020304" pitchFamily="18" charset="0"/>
                <a:sym typeface="Wingdings" panose="05000000000000000000" pitchFamily="2" charset="2"/>
              </a:rPr>
              <a:t>  </a:t>
            </a:r>
            <a:r>
              <a:rPr sz="2400" dirty="0" err="1">
                <a:latin typeface="Century" panose="02040604050505020304" pitchFamily="18" charset="0"/>
              </a:rPr>
              <a:t>Đây</a:t>
            </a:r>
            <a:r>
              <a:rPr sz="2400" dirty="0">
                <a:latin typeface="Century" panose="02040604050505020304" pitchFamily="18" charset="0"/>
              </a:rPr>
              <a:t> </a:t>
            </a:r>
            <a:r>
              <a:rPr sz="2400" dirty="0" err="1">
                <a:latin typeface="Century" panose="02040604050505020304" pitchFamily="18" charset="0"/>
              </a:rPr>
              <a:t>là</a:t>
            </a:r>
            <a:r>
              <a:rPr sz="2400" dirty="0">
                <a:latin typeface="Century" panose="02040604050505020304" pitchFamily="18" charset="0"/>
              </a:rPr>
              <a:t> </a:t>
            </a:r>
            <a:r>
              <a:rPr sz="2400" dirty="0" err="1">
                <a:latin typeface="Century" panose="02040604050505020304" pitchFamily="18" charset="0"/>
              </a:rPr>
              <a:t>tín</a:t>
            </a:r>
            <a:r>
              <a:rPr sz="2400" dirty="0">
                <a:latin typeface="Century" panose="02040604050505020304" pitchFamily="18" charset="0"/>
              </a:rPr>
              <a:t> </a:t>
            </a:r>
            <a:r>
              <a:rPr sz="2400" dirty="0" err="1">
                <a:latin typeface="Century" panose="02040604050505020304" pitchFamily="18" charset="0"/>
              </a:rPr>
              <a:t>hiệu</a:t>
            </a:r>
            <a:r>
              <a:rPr sz="2400" dirty="0">
                <a:latin typeface="Century" panose="02040604050505020304" pitchFamily="18" charset="0"/>
              </a:rPr>
              <a:t> </a:t>
            </a:r>
            <a:r>
              <a:rPr sz="2400" dirty="0" err="1">
                <a:latin typeface="Century" panose="02040604050505020304" pitchFamily="18" charset="0"/>
              </a:rPr>
              <a:t>tăng</a:t>
            </a:r>
            <a:r>
              <a:rPr sz="2400" dirty="0">
                <a:latin typeface="Century" panose="02040604050505020304" pitchFamily="18" charset="0"/>
              </a:rPr>
              <a:t> </a:t>
            </a:r>
            <a:r>
              <a:rPr sz="2400" dirty="0" err="1">
                <a:latin typeface="Century" panose="02040604050505020304" pitchFamily="18" charset="0"/>
              </a:rPr>
              <a:t>trưởng</a:t>
            </a:r>
            <a:r>
              <a:rPr sz="2400" dirty="0">
                <a:latin typeface="Century" panose="02040604050505020304" pitchFamily="18" charset="0"/>
              </a:rPr>
              <a:t> </a:t>
            </a:r>
            <a:r>
              <a:rPr sz="2400" dirty="0" err="1">
                <a:latin typeface="Century" panose="02040604050505020304" pitchFamily="18" charset="0"/>
              </a:rPr>
              <a:t>mới</a:t>
            </a:r>
            <a:r>
              <a:rPr sz="2400" dirty="0">
                <a:latin typeface="Century" panose="02040604050505020304" pitchFamily="18" charset="0"/>
              </a:rPr>
              <a:t> hay </a:t>
            </a:r>
            <a:r>
              <a:rPr sz="2500" dirty="0" err="1">
                <a:latin typeface="Century" panose="02040604050505020304" pitchFamily="18" charset="0"/>
              </a:rPr>
              <a:t>hiệu</a:t>
            </a:r>
            <a:r>
              <a:rPr sz="2400" dirty="0">
                <a:latin typeface="Century" panose="02040604050505020304" pitchFamily="18" charset="0"/>
              </a:rPr>
              <a:t> </a:t>
            </a:r>
            <a:r>
              <a:rPr sz="2400" dirty="0" err="1">
                <a:latin typeface="Century" panose="02040604050505020304" pitchFamily="18" charset="0"/>
              </a:rPr>
              <a:t>ứng</a:t>
            </a:r>
            <a:r>
              <a:rPr sz="2400" dirty="0">
                <a:latin typeface="Century" panose="02040604050505020304" pitchFamily="18" charset="0"/>
              </a:rPr>
              <a:t> </a:t>
            </a:r>
            <a:r>
              <a:rPr sz="2400" dirty="0" err="1">
                <a:latin typeface="Century" panose="02040604050505020304" pitchFamily="18" charset="0"/>
              </a:rPr>
              <a:t>ngắn</a:t>
            </a:r>
            <a:r>
              <a:rPr sz="2400" dirty="0">
                <a:latin typeface="Century" panose="02040604050505020304" pitchFamily="18" charset="0"/>
              </a:rPr>
              <a:t> </a:t>
            </a:r>
            <a:r>
              <a:rPr sz="2400" dirty="0" err="1">
                <a:latin typeface="Century" panose="02040604050505020304" pitchFamily="18" charset="0"/>
              </a:rPr>
              <a:t>hạn</a:t>
            </a:r>
            <a:r>
              <a:rPr sz="2400" dirty="0">
                <a:latin typeface="Century" panose="02040604050505020304"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10482" y="527718"/>
            <a:ext cx="7702550" cy="573088"/>
          </a:xfrm>
        </p:spPr>
        <p:txBody>
          <a:bodyPr/>
          <a:lstStyle/>
          <a:p>
            <a:r>
              <a:rPr sz="4400" dirty="0">
                <a:latin typeface="Aptos Display" panose="020B0004020202020204" pitchFamily="34" charset="0"/>
              </a:rPr>
              <a:t>SMART – Specific &amp; Measurable</a:t>
            </a:r>
          </a:p>
        </p:txBody>
      </p:sp>
      <p:sp>
        <p:nvSpPr>
          <p:cNvPr id="4" name="Picture Placeholder 3"/>
          <p:cNvSpPr>
            <a:spLocks noGrp="1"/>
          </p:cNvSpPr>
          <p:nvPr>
            <p:ph type="pic" idx="4294967295"/>
          </p:nvPr>
        </p:nvSpPr>
        <p:spPr>
          <a:xfrm>
            <a:off x="429670" y="2046349"/>
            <a:ext cx="7567863" cy="2227513"/>
          </a:xfrm>
          <a:noFill/>
          <a:ln>
            <a:noFill/>
          </a:ln>
        </p:spPr>
        <p:txBody>
          <a:bodyPr/>
          <a:lstStyle/>
          <a:p>
            <a:pPr marL="152400" indent="0">
              <a:buNone/>
            </a:pPr>
            <a:r>
              <a:rPr lang="en-US" sz="2400" dirty="0">
                <a:latin typeface="Century" panose="02040604050505020304" pitchFamily="18" charset="0"/>
                <a:sym typeface="Wingdings" panose="05000000000000000000" pitchFamily="2" charset="2"/>
              </a:rPr>
              <a:t> </a:t>
            </a:r>
            <a:r>
              <a:rPr sz="2400" dirty="0" err="1">
                <a:latin typeface="Century" panose="02040604050505020304" pitchFamily="18" charset="0"/>
              </a:rPr>
              <a:t>Xác</a:t>
            </a:r>
            <a:r>
              <a:rPr sz="2400" dirty="0">
                <a:latin typeface="Century" panose="02040604050505020304" pitchFamily="18" charset="0"/>
              </a:rPr>
              <a:t> </a:t>
            </a:r>
            <a:r>
              <a:rPr sz="2400" dirty="0" err="1">
                <a:latin typeface="Century" panose="02040604050505020304" pitchFamily="18" charset="0"/>
              </a:rPr>
              <a:t>định</a:t>
            </a:r>
            <a:r>
              <a:rPr sz="2400" dirty="0">
                <a:latin typeface="Century" panose="02040604050505020304" pitchFamily="18" charset="0"/>
              </a:rPr>
              <a:t> trend, seasonality </a:t>
            </a:r>
            <a:r>
              <a:rPr sz="2400" dirty="0" err="1">
                <a:latin typeface="Century" panose="02040604050505020304" pitchFamily="18" charset="0"/>
              </a:rPr>
              <a:t>và</a:t>
            </a:r>
            <a:r>
              <a:rPr sz="2400" dirty="0">
                <a:latin typeface="Century" panose="02040604050505020304" pitchFamily="18" charset="0"/>
              </a:rPr>
              <a:t> dao </a:t>
            </a:r>
            <a:r>
              <a:rPr sz="2400" dirty="0" err="1">
                <a:latin typeface="Century" panose="02040604050505020304" pitchFamily="18" charset="0"/>
              </a:rPr>
              <a:t>động</a:t>
            </a:r>
            <a:r>
              <a:rPr sz="2400" dirty="0">
                <a:latin typeface="Century" panose="02040604050505020304" pitchFamily="18" charset="0"/>
              </a:rPr>
              <a:t> </a:t>
            </a:r>
            <a:r>
              <a:rPr sz="2400" dirty="0" err="1">
                <a:latin typeface="Century" panose="02040604050505020304" pitchFamily="18" charset="0"/>
              </a:rPr>
              <a:t>ngắn</a:t>
            </a:r>
            <a:r>
              <a:rPr sz="2400" dirty="0">
                <a:latin typeface="Century" panose="02040604050505020304" pitchFamily="18" charset="0"/>
              </a:rPr>
              <a:t> </a:t>
            </a:r>
            <a:r>
              <a:rPr sz="2400" dirty="0" err="1">
                <a:latin typeface="Century" panose="02040604050505020304" pitchFamily="18" charset="0"/>
              </a:rPr>
              <a:t>hạn</a:t>
            </a:r>
            <a:r>
              <a:rPr sz="2400" dirty="0">
                <a:latin typeface="Century" panose="02040604050505020304" pitchFamily="18" charset="0"/>
              </a:rPr>
              <a:t> </a:t>
            </a:r>
            <a:r>
              <a:rPr sz="2400" dirty="0" err="1">
                <a:latin typeface="Century" panose="02040604050505020304" pitchFamily="18" charset="0"/>
              </a:rPr>
              <a:t>của</a:t>
            </a:r>
            <a:r>
              <a:rPr sz="2400" dirty="0">
                <a:latin typeface="Century" panose="02040604050505020304" pitchFamily="18" charset="0"/>
              </a:rPr>
              <a:t> </a:t>
            </a:r>
            <a:r>
              <a:rPr sz="2400" dirty="0" err="1">
                <a:latin typeface="Century" panose="02040604050505020304" pitchFamily="18" charset="0"/>
              </a:rPr>
              <a:t>doanh</a:t>
            </a:r>
            <a:r>
              <a:rPr sz="2400" dirty="0">
                <a:latin typeface="Century" panose="02040604050505020304" pitchFamily="18" charset="0"/>
              </a:rPr>
              <a:t> </a:t>
            </a:r>
            <a:r>
              <a:rPr sz="2400" dirty="0" err="1">
                <a:latin typeface="Century" panose="02040604050505020304" pitchFamily="18" charset="0"/>
              </a:rPr>
              <a:t>thu</a:t>
            </a:r>
            <a:r>
              <a:rPr sz="2400" dirty="0">
                <a:latin typeface="Century" panose="02040604050505020304" pitchFamily="18" charset="0"/>
              </a:rPr>
              <a:t>. </a:t>
            </a:r>
            <a:endParaRPr lang="en-US" sz="2400" dirty="0">
              <a:latin typeface="Century" panose="02040604050505020304" pitchFamily="18" charset="0"/>
            </a:endParaRPr>
          </a:p>
          <a:p>
            <a:pPr marL="152400" indent="0">
              <a:buNone/>
            </a:pPr>
            <a:r>
              <a:rPr lang="en-US" sz="2400" dirty="0">
                <a:latin typeface="Century" panose="02040604050505020304" pitchFamily="18" charset="0"/>
                <a:sym typeface="Wingdings" panose="05000000000000000000" pitchFamily="2" charset="2"/>
              </a:rPr>
              <a:t> </a:t>
            </a:r>
            <a:r>
              <a:rPr sz="2400" dirty="0" err="1">
                <a:latin typeface="Century" panose="02040604050505020304" pitchFamily="18" charset="0"/>
              </a:rPr>
              <a:t>Đánh</a:t>
            </a:r>
            <a:r>
              <a:rPr sz="2400" dirty="0">
                <a:latin typeface="Century" panose="02040604050505020304" pitchFamily="18" charset="0"/>
              </a:rPr>
              <a:t> </a:t>
            </a:r>
            <a:r>
              <a:rPr sz="2400" dirty="0" err="1">
                <a:latin typeface="Century" panose="02040604050505020304" pitchFamily="18" charset="0"/>
              </a:rPr>
              <a:t>giá</a:t>
            </a:r>
            <a:r>
              <a:rPr sz="2400" dirty="0">
                <a:latin typeface="Century" panose="02040604050505020304" pitchFamily="18" charset="0"/>
              </a:rPr>
              <a:t> </a:t>
            </a:r>
            <a:r>
              <a:rPr sz="2400" dirty="0" err="1">
                <a:latin typeface="Century" panose="02040604050505020304" pitchFamily="18" charset="0"/>
              </a:rPr>
              <a:t>bằng</a:t>
            </a:r>
            <a:r>
              <a:rPr sz="2400" dirty="0">
                <a:latin typeface="Century" panose="02040604050505020304" pitchFamily="18" charset="0"/>
              </a:rPr>
              <a:t> </a:t>
            </a:r>
            <a:r>
              <a:rPr sz="2400" dirty="0" err="1">
                <a:latin typeface="Century" panose="02040604050505020304" pitchFamily="18" charset="0"/>
              </a:rPr>
              <a:t>tăng</a:t>
            </a:r>
            <a:r>
              <a:rPr sz="2400" dirty="0">
                <a:latin typeface="Century" panose="02040604050505020304" pitchFamily="18" charset="0"/>
              </a:rPr>
              <a:t> </a:t>
            </a:r>
            <a:r>
              <a:rPr sz="2400" dirty="0" err="1">
                <a:latin typeface="Century" panose="02040604050505020304" pitchFamily="18" charset="0"/>
              </a:rPr>
              <a:t>trưởng</a:t>
            </a:r>
            <a:r>
              <a:rPr sz="2400" dirty="0">
                <a:latin typeface="Century" panose="02040604050505020304" pitchFamily="18" charset="0"/>
              </a:rPr>
              <a:t> </a:t>
            </a:r>
            <a:r>
              <a:rPr sz="2400" dirty="0" err="1">
                <a:latin typeface="Century" panose="02040604050505020304" pitchFamily="18" charset="0"/>
              </a:rPr>
              <a:t>tuần</a:t>
            </a:r>
            <a:r>
              <a:rPr sz="2400" dirty="0">
                <a:latin typeface="Century" panose="02040604050505020304" pitchFamily="18" charset="0"/>
              </a:rPr>
              <a:t>, </a:t>
            </a:r>
            <a:r>
              <a:rPr sz="2400" dirty="0" err="1">
                <a:latin typeface="Century" panose="02040604050505020304" pitchFamily="18" charset="0"/>
              </a:rPr>
              <a:t>tháng</a:t>
            </a:r>
            <a:r>
              <a:rPr sz="2400" dirty="0">
                <a:latin typeface="Century" panose="02040604050505020304" pitchFamily="18" charset="0"/>
              </a:rPr>
              <a:t>, rolling statistics </a:t>
            </a:r>
            <a:r>
              <a:rPr sz="2400" dirty="0" err="1">
                <a:latin typeface="Century" panose="02040604050505020304" pitchFamily="18" charset="0"/>
              </a:rPr>
              <a:t>và</a:t>
            </a:r>
            <a:r>
              <a:rPr sz="2400" dirty="0">
                <a:latin typeface="Century" panose="02040604050505020304" pitchFamily="18" charset="0"/>
              </a:rPr>
              <a:t> </a:t>
            </a:r>
            <a:r>
              <a:rPr sz="2400" dirty="0" err="1">
                <a:latin typeface="Century" panose="02040604050505020304" pitchFamily="18" charset="0"/>
              </a:rPr>
              <a:t>kết</a:t>
            </a:r>
            <a:r>
              <a:rPr sz="2400" dirty="0">
                <a:latin typeface="Century" panose="02040604050505020304" pitchFamily="18" charset="0"/>
              </a:rPr>
              <a:t> </a:t>
            </a:r>
            <a:r>
              <a:rPr sz="2400" dirty="0" err="1">
                <a:latin typeface="Century" panose="02040604050505020304" pitchFamily="18" charset="0"/>
              </a:rPr>
              <a:t>quả</a:t>
            </a:r>
            <a:r>
              <a:rPr sz="2400" dirty="0">
                <a:latin typeface="Century" panose="02040604050505020304" pitchFamily="18" charset="0"/>
              </a:rPr>
              <a:t> </a:t>
            </a:r>
            <a:r>
              <a:rPr sz="2400" dirty="0" err="1">
                <a:latin typeface="Century" panose="02040604050505020304" pitchFamily="18" charset="0"/>
              </a:rPr>
              <a:t>phân</a:t>
            </a:r>
            <a:r>
              <a:rPr sz="2400" dirty="0">
                <a:latin typeface="Century" panose="02040604050505020304" pitchFamily="18" charset="0"/>
              </a:rPr>
              <a:t> </a:t>
            </a:r>
            <a:r>
              <a:rPr sz="2400" dirty="0" err="1">
                <a:latin typeface="Century" panose="02040604050505020304" pitchFamily="18" charset="0"/>
              </a:rPr>
              <a:t>rã</a:t>
            </a:r>
            <a:r>
              <a:rPr sz="2400" dirty="0">
                <a:latin typeface="Century" panose="02040604050505020304" pitchFamily="18" charset="0"/>
              </a:rPr>
              <a:t> </a:t>
            </a:r>
            <a:r>
              <a:rPr sz="2400" dirty="0" err="1">
                <a:latin typeface="Century" panose="02040604050505020304" pitchFamily="18" charset="0"/>
              </a:rPr>
              <a:t>chuỗi</a:t>
            </a:r>
            <a:r>
              <a:rPr sz="2400" dirty="0">
                <a:latin typeface="Century" panose="02040604050505020304" pitchFamily="18" charset="0"/>
              </a:rPr>
              <a:t> </a:t>
            </a:r>
            <a:r>
              <a:rPr sz="2400" dirty="0" err="1">
                <a:latin typeface="Century" panose="02040604050505020304" pitchFamily="18" charset="0"/>
              </a:rPr>
              <a:t>thời</a:t>
            </a:r>
            <a:r>
              <a:rPr sz="2400" dirty="0">
                <a:latin typeface="Century" panose="02040604050505020304" pitchFamily="18" charset="0"/>
              </a:rPr>
              <a:t> </a:t>
            </a:r>
            <a:r>
              <a:rPr sz="2400" dirty="0" err="1">
                <a:latin typeface="Century" panose="02040604050505020304" pitchFamily="18" charset="0"/>
              </a:rPr>
              <a:t>gian</a:t>
            </a:r>
            <a:r>
              <a:rPr sz="2400" dirty="0">
                <a:latin typeface="Century" panose="02040604050505020304" pitchFamily="18" charset="0"/>
              </a:rPr>
              <a:t> </a:t>
            </a:r>
            <a:r>
              <a:rPr sz="2400" dirty="0" err="1">
                <a:latin typeface="Century" panose="02040604050505020304" pitchFamily="18" charset="0"/>
              </a:rPr>
              <a:t>để</a:t>
            </a:r>
            <a:r>
              <a:rPr sz="2400" dirty="0">
                <a:latin typeface="Century" panose="02040604050505020304" pitchFamily="18" charset="0"/>
              </a:rPr>
              <a:t> </a:t>
            </a:r>
            <a:r>
              <a:rPr sz="2400" dirty="0" err="1">
                <a:latin typeface="Century" panose="02040604050505020304" pitchFamily="18" charset="0"/>
              </a:rPr>
              <a:t>phân</a:t>
            </a:r>
            <a:r>
              <a:rPr sz="2400" dirty="0">
                <a:latin typeface="Century" panose="02040604050505020304" pitchFamily="18" charset="0"/>
              </a:rPr>
              <a:t> </a:t>
            </a:r>
            <a:r>
              <a:rPr sz="2400" dirty="0" err="1">
                <a:latin typeface="Century" panose="02040604050505020304" pitchFamily="18" charset="0"/>
              </a:rPr>
              <a:t>loại</a:t>
            </a:r>
            <a:r>
              <a:rPr sz="2400" dirty="0">
                <a:latin typeface="Century" panose="02040604050505020304" pitchFamily="18" charset="0"/>
              </a:rPr>
              <a:t> </a:t>
            </a:r>
            <a:r>
              <a:rPr sz="2400" dirty="0" err="1">
                <a:latin typeface="Century" panose="02040604050505020304" pitchFamily="18" charset="0"/>
              </a:rPr>
              <a:t>các</a:t>
            </a:r>
            <a:r>
              <a:rPr sz="2400" dirty="0">
                <a:latin typeface="Century" panose="02040604050505020304" pitchFamily="18" charset="0"/>
              </a:rPr>
              <a:t> </a:t>
            </a:r>
            <a:r>
              <a:rPr sz="2400" dirty="0" err="1">
                <a:latin typeface="Century" panose="02040604050505020304" pitchFamily="18" charset="0"/>
              </a:rPr>
              <a:t>giai</a:t>
            </a:r>
            <a:r>
              <a:rPr sz="2400" dirty="0">
                <a:latin typeface="Century" panose="02040604050505020304" pitchFamily="18" charset="0"/>
              </a:rPr>
              <a:t> </a:t>
            </a:r>
            <a:r>
              <a:rPr sz="2400" dirty="0" err="1">
                <a:latin typeface="Century" panose="02040604050505020304" pitchFamily="18" charset="0"/>
              </a:rPr>
              <a:t>đoạn</a:t>
            </a:r>
            <a:r>
              <a:rPr sz="2400" dirty="0">
                <a:latin typeface="Century" panose="02040604050505020304" pitchFamily="18" charset="0"/>
              </a:rPr>
              <a:t> </a:t>
            </a:r>
            <a:r>
              <a:rPr sz="2400" dirty="0" err="1">
                <a:latin typeface="Century" panose="02040604050505020304" pitchFamily="18" charset="0"/>
              </a:rPr>
              <a:t>biến</a:t>
            </a:r>
            <a:r>
              <a:rPr sz="2400" dirty="0">
                <a:latin typeface="Century" panose="02040604050505020304" pitchFamily="18" charset="0"/>
              </a:rPr>
              <a:t> </a:t>
            </a:r>
            <a:r>
              <a:rPr sz="2400" dirty="0" err="1">
                <a:latin typeface="Century" panose="02040604050505020304" pitchFamily="18" charset="0"/>
              </a:rPr>
              <a:t>động</a:t>
            </a:r>
            <a:r>
              <a:rPr sz="2400" dirty="0">
                <a:latin typeface="Century" panose="020406040505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12823" y="331957"/>
            <a:ext cx="7892714" cy="786982"/>
          </a:xfrm>
        </p:spPr>
        <p:txBody>
          <a:bodyPr/>
          <a:lstStyle/>
          <a:p>
            <a:r>
              <a:rPr sz="4400" dirty="0">
                <a:latin typeface="Aptos Display" panose="020B0004020202020204" pitchFamily="34" charset="0"/>
              </a:rPr>
              <a:t>SMART – Achievable &amp; Relevant</a:t>
            </a:r>
          </a:p>
        </p:txBody>
      </p:sp>
      <p:sp>
        <p:nvSpPr>
          <p:cNvPr id="4" name="Picture Placeholder 3"/>
          <p:cNvSpPr>
            <a:spLocks noGrp="1"/>
          </p:cNvSpPr>
          <p:nvPr>
            <p:ph type="pic" idx="4294967295"/>
          </p:nvPr>
        </p:nvSpPr>
        <p:spPr>
          <a:xfrm>
            <a:off x="168443" y="1306513"/>
            <a:ext cx="7591925" cy="2976729"/>
          </a:xfrm>
          <a:noFill/>
          <a:ln>
            <a:noFill/>
          </a:ln>
        </p:spPr>
        <p:txBody>
          <a:bodyPr/>
          <a:lstStyle/>
          <a:p>
            <a:pPr marL="152400" indent="0">
              <a:buNone/>
            </a:pPr>
            <a:r>
              <a:rPr sz="2500" dirty="0" err="1">
                <a:latin typeface="Century" panose="02040604050505020304" pitchFamily="18" charset="0"/>
              </a:rPr>
              <a:t>Phân</a:t>
            </a:r>
            <a:r>
              <a:rPr sz="2500" dirty="0">
                <a:latin typeface="Century" panose="02040604050505020304" pitchFamily="18" charset="0"/>
              </a:rPr>
              <a:t> </a:t>
            </a:r>
            <a:r>
              <a:rPr sz="2500" dirty="0" err="1">
                <a:latin typeface="Century" panose="02040604050505020304" pitchFamily="18" charset="0"/>
              </a:rPr>
              <a:t>tích</a:t>
            </a:r>
            <a:r>
              <a:rPr sz="2500" dirty="0">
                <a:latin typeface="Century" panose="02040604050505020304" pitchFamily="18" charset="0"/>
              </a:rPr>
              <a:t> </a:t>
            </a:r>
            <a:r>
              <a:rPr sz="2500" dirty="0" err="1">
                <a:latin typeface="Century" panose="02040604050505020304" pitchFamily="18" charset="0"/>
              </a:rPr>
              <a:t>khả</a:t>
            </a:r>
            <a:r>
              <a:rPr sz="2500" dirty="0">
                <a:latin typeface="Century" panose="02040604050505020304" pitchFamily="18" charset="0"/>
              </a:rPr>
              <a:t> </a:t>
            </a:r>
            <a:r>
              <a:rPr sz="2500" dirty="0" err="1">
                <a:latin typeface="Century" panose="02040604050505020304" pitchFamily="18" charset="0"/>
              </a:rPr>
              <a:t>thi</a:t>
            </a:r>
            <a:r>
              <a:rPr sz="2500" dirty="0">
                <a:latin typeface="Century" panose="02040604050505020304" pitchFamily="18" charset="0"/>
              </a:rPr>
              <a:t> </a:t>
            </a:r>
            <a:r>
              <a:rPr sz="2500" dirty="0" err="1">
                <a:latin typeface="Century" panose="02040604050505020304" pitchFamily="18" charset="0"/>
              </a:rPr>
              <a:t>nhờ</a:t>
            </a:r>
            <a:r>
              <a:rPr sz="2500" dirty="0">
                <a:latin typeface="Century" panose="02040604050505020304" pitchFamily="18" charset="0"/>
              </a:rPr>
              <a:t> </a:t>
            </a:r>
            <a:r>
              <a:rPr sz="2500" dirty="0" err="1">
                <a:latin typeface="Century" panose="02040604050505020304" pitchFamily="18" charset="0"/>
              </a:rPr>
              <a:t>dữ</a:t>
            </a:r>
            <a:r>
              <a:rPr sz="2500" dirty="0">
                <a:latin typeface="Century" panose="02040604050505020304" pitchFamily="18" charset="0"/>
              </a:rPr>
              <a:t> </a:t>
            </a:r>
            <a:r>
              <a:rPr sz="2500" dirty="0" err="1">
                <a:latin typeface="Century" panose="02040604050505020304" pitchFamily="18" charset="0"/>
              </a:rPr>
              <a:t>liệu</a:t>
            </a:r>
            <a:r>
              <a:rPr sz="2500" dirty="0">
                <a:latin typeface="Century" panose="02040604050505020304" pitchFamily="18" charset="0"/>
              </a:rPr>
              <a:t> 12 </a:t>
            </a:r>
            <a:r>
              <a:rPr sz="2500" dirty="0" err="1">
                <a:latin typeface="Century" panose="02040604050505020304" pitchFamily="18" charset="0"/>
              </a:rPr>
              <a:t>tháng</a:t>
            </a:r>
            <a:r>
              <a:rPr sz="2500" dirty="0">
                <a:latin typeface="Century" panose="02040604050505020304" pitchFamily="18" charset="0"/>
              </a:rPr>
              <a:t> chi </a:t>
            </a:r>
            <a:r>
              <a:rPr sz="2500" dirty="0" err="1">
                <a:latin typeface="Century" panose="02040604050505020304" pitchFamily="18" charset="0"/>
              </a:rPr>
              <a:t>tiết</a:t>
            </a:r>
            <a:r>
              <a:rPr sz="2500" dirty="0">
                <a:latin typeface="Century" panose="02040604050505020304" pitchFamily="18" charset="0"/>
              </a:rPr>
              <a:t> </a:t>
            </a:r>
            <a:r>
              <a:rPr sz="2500" dirty="0" err="1">
                <a:latin typeface="Century" panose="02040604050505020304" pitchFamily="18" charset="0"/>
              </a:rPr>
              <a:t>theo</a:t>
            </a:r>
            <a:r>
              <a:rPr sz="2500" dirty="0">
                <a:latin typeface="Century" panose="02040604050505020304" pitchFamily="18" charset="0"/>
              </a:rPr>
              <a:t> </a:t>
            </a:r>
            <a:r>
              <a:rPr sz="2500" dirty="0" err="1">
                <a:latin typeface="Century" panose="02040604050505020304" pitchFamily="18" charset="0"/>
              </a:rPr>
              <a:t>ngày</a:t>
            </a:r>
            <a:r>
              <a:rPr sz="2500" dirty="0">
                <a:latin typeface="Century" panose="02040604050505020304" pitchFamily="18" charset="0"/>
              </a:rPr>
              <a:t>. </a:t>
            </a:r>
            <a:endParaRPr lang="en-US" sz="2500" dirty="0">
              <a:latin typeface="Century" panose="02040604050505020304" pitchFamily="18" charset="0"/>
            </a:endParaRPr>
          </a:p>
          <a:p>
            <a:pPr marL="152400" indent="0">
              <a:buNone/>
            </a:pPr>
            <a:r>
              <a:rPr sz="2500" dirty="0" err="1">
                <a:latin typeface="Century" panose="02040604050505020304" pitchFamily="18" charset="0"/>
              </a:rPr>
              <a:t>Sử</a:t>
            </a:r>
            <a:r>
              <a:rPr sz="2500" dirty="0">
                <a:latin typeface="Century" panose="02040604050505020304" pitchFamily="18" charset="0"/>
              </a:rPr>
              <a:t> </a:t>
            </a:r>
            <a:r>
              <a:rPr sz="2500" dirty="0" err="1">
                <a:latin typeface="Century" panose="02040604050505020304" pitchFamily="18" charset="0"/>
              </a:rPr>
              <a:t>dụng</a:t>
            </a:r>
            <a:r>
              <a:rPr sz="2500" dirty="0">
                <a:latin typeface="Century" panose="02040604050505020304" pitchFamily="18" charset="0"/>
              </a:rPr>
              <a:t> moving average, </a:t>
            </a:r>
            <a:r>
              <a:rPr sz="2500" dirty="0" err="1">
                <a:latin typeface="Century" panose="02040604050505020304" pitchFamily="18" charset="0"/>
              </a:rPr>
              <a:t>thống</a:t>
            </a:r>
            <a:r>
              <a:rPr sz="2500" dirty="0">
                <a:latin typeface="Century" panose="02040604050505020304" pitchFamily="18" charset="0"/>
              </a:rPr>
              <a:t> </a:t>
            </a:r>
            <a:r>
              <a:rPr sz="2500" dirty="0" err="1">
                <a:latin typeface="Century" panose="02040604050505020304" pitchFamily="18" charset="0"/>
              </a:rPr>
              <a:t>kê</a:t>
            </a:r>
            <a:r>
              <a:rPr sz="2500" dirty="0">
                <a:latin typeface="Century" panose="02040604050505020304" pitchFamily="18" charset="0"/>
              </a:rPr>
              <a:t> </a:t>
            </a:r>
            <a:r>
              <a:rPr sz="2500" dirty="0" err="1">
                <a:latin typeface="Century" panose="02040604050505020304" pitchFamily="18" charset="0"/>
              </a:rPr>
              <a:t>trượt</a:t>
            </a:r>
            <a:r>
              <a:rPr sz="2500" dirty="0">
                <a:latin typeface="Century" panose="02040604050505020304" pitchFamily="18" charset="0"/>
              </a:rPr>
              <a:t> </a:t>
            </a:r>
            <a:r>
              <a:rPr sz="2500" dirty="0" err="1">
                <a:latin typeface="Century" panose="02040604050505020304" pitchFamily="18" charset="0"/>
              </a:rPr>
              <a:t>và</a:t>
            </a:r>
            <a:r>
              <a:rPr sz="2500" dirty="0">
                <a:latin typeface="Century" panose="02040604050505020304" pitchFamily="18" charset="0"/>
              </a:rPr>
              <a:t> </a:t>
            </a:r>
            <a:r>
              <a:rPr sz="2500" dirty="0" err="1">
                <a:latin typeface="Century" panose="02040604050505020304" pitchFamily="18" charset="0"/>
              </a:rPr>
              <a:t>phân</a:t>
            </a:r>
            <a:r>
              <a:rPr sz="2500" dirty="0">
                <a:latin typeface="Century" panose="02040604050505020304" pitchFamily="18" charset="0"/>
              </a:rPr>
              <a:t> </a:t>
            </a:r>
            <a:r>
              <a:rPr sz="2500" dirty="0" err="1">
                <a:latin typeface="Century" panose="02040604050505020304" pitchFamily="18" charset="0"/>
              </a:rPr>
              <a:t>rã</a:t>
            </a:r>
            <a:r>
              <a:rPr sz="2500" dirty="0">
                <a:latin typeface="Century" panose="02040604050505020304" pitchFamily="18" charset="0"/>
              </a:rPr>
              <a:t> </a:t>
            </a:r>
            <a:r>
              <a:rPr sz="2500" dirty="0" err="1">
                <a:latin typeface="Century" panose="02040604050505020304" pitchFamily="18" charset="0"/>
              </a:rPr>
              <a:t>chuỗi</a:t>
            </a:r>
            <a:r>
              <a:rPr sz="2500" dirty="0">
                <a:latin typeface="Century" panose="02040604050505020304" pitchFamily="18" charset="0"/>
              </a:rPr>
              <a:t> </a:t>
            </a:r>
            <a:r>
              <a:rPr sz="2500" dirty="0" err="1">
                <a:latin typeface="Century" panose="02040604050505020304" pitchFamily="18" charset="0"/>
              </a:rPr>
              <a:t>thời</a:t>
            </a:r>
            <a:r>
              <a:rPr sz="2500" dirty="0">
                <a:latin typeface="Century" panose="02040604050505020304" pitchFamily="18" charset="0"/>
              </a:rPr>
              <a:t> </a:t>
            </a:r>
            <a:r>
              <a:rPr sz="2500" dirty="0" err="1">
                <a:latin typeface="Century" panose="02040604050505020304" pitchFamily="18" charset="0"/>
              </a:rPr>
              <a:t>gian</a:t>
            </a:r>
            <a:r>
              <a:rPr sz="2500" dirty="0">
                <a:latin typeface="Century" panose="02040604050505020304" pitchFamily="18" charset="0"/>
              </a:rPr>
              <a:t>. </a:t>
            </a:r>
            <a:endParaRPr lang="en-US" sz="2500" dirty="0">
              <a:latin typeface="Century" panose="02040604050505020304" pitchFamily="18" charset="0"/>
            </a:endParaRPr>
          </a:p>
          <a:p>
            <a:pPr marL="152400" indent="0">
              <a:buNone/>
            </a:pPr>
            <a:r>
              <a:rPr sz="2500" dirty="0" err="1">
                <a:latin typeface="Century" panose="02040604050505020304" pitchFamily="18" charset="0"/>
              </a:rPr>
              <a:t>Kết</a:t>
            </a:r>
            <a:r>
              <a:rPr sz="2500" dirty="0">
                <a:latin typeface="Century" panose="02040604050505020304" pitchFamily="18" charset="0"/>
              </a:rPr>
              <a:t> </a:t>
            </a:r>
            <a:r>
              <a:rPr sz="2500" dirty="0" err="1">
                <a:latin typeface="Century" panose="02040604050505020304" pitchFamily="18" charset="0"/>
              </a:rPr>
              <a:t>quả</a:t>
            </a:r>
            <a:r>
              <a:rPr sz="2500" dirty="0">
                <a:latin typeface="Century" panose="02040604050505020304" pitchFamily="18" charset="0"/>
              </a:rPr>
              <a:t> </a:t>
            </a:r>
            <a:r>
              <a:rPr sz="2500" dirty="0" err="1">
                <a:latin typeface="Century" panose="02040604050505020304" pitchFamily="18" charset="0"/>
              </a:rPr>
              <a:t>giúp</a:t>
            </a:r>
            <a:r>
              <a:rPr sz="2500" dirty="0">
                <a:latin typeface="Century" panose="02040604050505020304" pitchFamily="18" charset="0"/>
              </a:rPr>
              <a:t> </a:t>
            </a:r>
            <a:r>
              <a:rPr sz="2500" dirty="0" err="1">
                <a:latin typeface="Century" panose="02040604050505020304" pitchFamily="18" charset="0"/>
              </a:rPr>
              <a:t>tránh</a:t>
            </a:r>
            <a:r>
              <a:rPr sz="2500" dirty="0">
                <a:latin typeface="Century" panose="02040604050505020304" pitchFamily="18" charset="0"/>
              </a:rPr>
              <a:t> </a:t>
            </a:r>
            <a:r>
              <a:rPr sz="2500" dirty="0" err="1">
                <a:latin typeface="Century" panose="02040604050505020304" pitchFamily="18" charset="0"/>
              </a:rPr>
              <a:t>quyết</a:t>
            </a:r>
            <a:r>
              <a:rPr sz="2500" dirty="0">
                <a:latin typeface="Century" panose="02040604050505020304" pitchFamily="18" charset="0"/>
              </a:rPr>
              <a:t> </a:t>
            </a:r>
            <a:r>
              <a:rPr sz="2500" dirty="0" err="1">
                <a:latin typeface="Century" panose="02040604050505020304" pitchFamily="18" charset="0"/>
              </a:rPr>
              <a:t>định</a:t>
            </a:r>
            <a:r>
              <a:rPr sz="2500" dirty="0">
                <a:latin typeface="Century" panose="02040604050505020304" pitchFamily="18" charset="0"/>
              </a:rPr>
              <a:t> </a:t>
            </a:r>
            <a:r>
              <a:rPr sz="2500" dirty="0" err="1">
                <a:latin typeface="Century" panose="02040604050505020304" pitchFamily="18" charset="0"/>
              </a:rPr>
              <a:t>dựa</a:t>
            </a:r>
            <a:r>
              <a:rPr sz="2500" dirty="0">
                <a:latin typeface="Century" panose="02040604050505020304" pitchFamily="18" charset="0"/>
              </a:rPr>
              <a:t> </a:t>
            </a:r>
            <a:r>
              <a:rPr sz="2500" dirty="0" err="1">
                <a:latin typeface="Century" panose="02040604050505020304" pitchFamily="18" charset="0"/>
              </a:rPr>
              <a:t>trên</a:t>
            </a:r>
            <a:r>
              <a:rPr sz="2500" dirty="0">
                <a:latin typeface="Century" panose="02040604050505020304" pitchFamily="18" charset="0"/>
              </a:rPr>
              <a:t> </a:t>
            </a:r>
            <a:r>
              <a:rPr sz="2500" dirty="0" err="1">
                <a:latin typeface="Century" panose="02040604050505020304" pitchFamily="18" charset="0"/>
              </a:rPr>
              <a:t>biến</a:t>
            </a:r>
            <a:r>
              <a:rPr sz="2500" dirty="0">
                <a:latin typeface="Century" panose="02040604050505020304" pitchFamily="18" charset="0"/>
              </a:rPr>
              <a:t> </a:t>
            </a:r>
            <a:r>
              <a:rPr sz="2500" dirty="0" err="1">
                <a:latin typeface="Century" panose="02040604050505020304" pitchFamily="18" charset="0"/>
              </a:rPr>
              <a:t>động</a:t>
            </a:r>
            <a:r>
              <a:rPr sz="2500" dirty="0">
                <a:latin typeface="Century" panose="02040604050505020304" pitchFamily="18" charset="0"/>
              </a:rPr>
              <a:t> </a:t>
            </a:r>
            <a:r>
              <a:rPr sz="2500" dirty="0" err="1">
                <a:latin typeface="Century" panose="02040604050505020304" pitchFamily="18" charset="0"/>
              </a:rPr>
              <a:t>ngẫu</a:t>
            </a:r>
            <a:r>
              <a:rPr sz="2500" dirty="0">
                <a:latin typeface="Century" panose="02040604050505020304" pitchFamily="18" charset="0"/>
              </a:rPr>
              <a:t> </a:t>
            </a:r>
            <a:r>
              <a:rPr sz="2500" dirty="0" err="1">
                <a:latin typeface="Century" panose="02040604050505020304" pitchFamily="18" charset="0"/>
              </a:rPr>
              <a:t>nhiên</a:t>
            </a:r>
            <a:r>
              <a:rPr sz="2500" dirty="0">
                <a:latin typeface="Century" panose="02040604050505020304" pitchFamily="18" charset="0"/>
              </a:rPr>
              <a:t>, </a:t>
            </a:r>
            <a:r>
              <a:rPr sz="2500" dirty="0" err="1">
                <a:latin typeface="Century" panose="02040604050505020304" pitchFamily="18" charset="0"/>
              </a:rPr>
              <a:t>tối</a:t>
            </a:r>
            <a:r>
              <a:rPr sz="2500" dirty="0">
                <a:latin typeface="Century" panose="02040604050505020304" pitchFamily="18" charset="0"/>
              </a:rPr>
              <a:t> </a:t>
            </a:r>
            <a:r>
              <a:rPr sz="2500" dirty="0" err="1">
                <a:latin typeface="Century" panose="02040604050505020304" pitchFamily="18" charset="0"/>
              </a:rPr>
              <a:t>ưu</a:t>
            </a:r>
            <a:r>
              <a:rPr sz="2500" dirty="0">
                <a:latin typeface="Century" panose="02040604050505020304" pitchFamily="18" charset="0"/>
              </a:rPr>
              <a:t> </a:t>
            </a:r>
            <a:r>
              <a:rPr sz="2500" dirty="0" err="1">
                <a:latin typeface="Century" panose="02040604050505020304" pitchFamily="18" charset="0"/>
              </a:rPr>
              <a:t>điều</a:t>
            </a:r>
            <a:r>
              <a:rPr sz="2500" dirty="0">
                <a:latin typeface="Century" panose="02040604050505020304" pitchFamily="18" charset="0"/>
              </a:rPr>
              <a:t> </a:t>
            </a:r>
            <a:r>
              <a:rPr sz="2500" dirty="0" err="1">
                <a:latin typeface="Century" panose="02040604050505020304" pitchFamily="18" charset="0"/>
              </a:rPr>
              <a:t>chỉnh</a:t>
            </a:r>
            <a:r>
              <a:rPr sz="2500" dirty="0">
                <a:latin typeface="Century" panose="02040604050505020304" pitchFamily="18" charset="0"/>
              </a:rPr>
              <a:t> </a:t>
            </a:r>
            <a:r>
              <a:rPr sz="2500" dirty="0" err="1">
                <a:latin typeface="Century" panose="02040604050505020304" pitchFamily="18" charset="0"/>
              </a:rPr>
              <a:t>giá</a:t>
            </a:r>
            <a:r>
              <a:rPr sz="2500" dirty="0">
                <a:latin typeface="Century" panose="02040604050505020304" pitchFamily="18" charset="0"/>
              </a:rPr>
              <a:t> </a:t>
            </a:r>
            <a:r>
              <a:rPr sz="2500" dirty="0" err="1">
                <a:latin typeface="Century" panose="02040604050505020304" pitchFamily="18" charset="0"/>
              </a:rPr>
              <a:t>và</a:t>
            </a:r>
            <a:r>
              <a:rPr sz="2500" dirty="0">
                <a:latin typeface="Century" panose="02040604050505020304" pitchFamily="18" charset="0"/>
              </a:rPr>
              <a:t> </a:t>
            </a:r>
            <a:r>
              <a:rPr sz="2500" dirty="0" err="1">
                <a:latin typeface="Century" panose="02040604050505020304" pitchFamily="18" charset="0"/>
              </a:rPr>
              <a:t>phân</a:t>
            </a:r>
            <a:r>
              <a:rPr sz="2500" dirty="0">
                <a:latin typeface="Century" panose="02040604050505020304" pitchFamily="18" charset="0"/>
              </a:rPr>
              <a:t> </a:t>
            </a:r>
            <a:r>
              <a:rPr sz="2500" dirty="0" err="1">
                <a:latin typeface="Century" panose="02040604050505020304" pitchFamily="18" charset="0"/>
              </a:rPr>
              <a:t>bổ</a:t>
            </a:r>
            <a:r>
              <a:rPr sz="2500" dirty="0">
                <a:latin typeface="Century" panose="02040604050505020304" pitchFamily="18" charset="0"/>
              </a:rPr>
              <a:t> </a:t>
            </a:r>
            <a:r>
              <a:rPr sz="2500" dirty="0" err="1">
                <a:latin typeface="Century" panose="02040604050505020304" pitchFamily="18" charset="0"/>
              </a:rPr>
              <a:t>nguồn</a:t>
            </a:r>
            <a:r>
              <a:rPr sz="2500" dirty="0">
                <a:latin typeface="Century" panose="02040604050505020304" pitchFamily="18" charset="0"/>
              </a:rPr>
              <a:t> </a:t>
            </a:r>
            <a:r>
              <a:rPr sz="2500" dirty="0" err="1">
                <a:latin typeface="Century" panose="02040604050505020304" pitchFamily="18" charset="0"/>
              </a:rPr>
              <a:t>lực</a:t>
            </a:r>
            <a:r>
              <a:rPr sz="2500" dirty="0">
                <a:latin typeface="Century" panose="02040604050505020304"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33486" y="338325"/>
            <a:ext cx="6067314" cy="973117"/>
          </a:xfrm>
        </p:spPr>
        <p:txBody>
          <a:bodyPr/>
          <a:lstStyle/>
          <a:p>
            <a:r>
              <a:rPr sz="4400" dirty="0">
                <a:latin typeface="Aptos Display" panose="020B0004020202020204" pitchFamily="34" charset="0"/>
              </a:rPr>
              <a:t>SMART – Time</a:t>
            </a:r>
            <a:r>
              <a:rPr lang="en-US" sz="4400" dirty="0">
                <a:latin typeface="Aptos Display" panose="020B0004020202020204" pitchFamily="34" charset="0"/>
              </a:rPr>
              <a:t> </a:t>
            </a:r>
            <a:r>
              <a:rPr sz="4400" dirty="0">
                <a:latin typeface="Aptos Display" panose="020B0004020202020204" pitchFamily="34" charset="0"/>
              </a:rPr>
              <a:t>-</a:t>
            </a:r>
            <a:r>
              <a:rPr lang="en-US" sz="4400" dirty="0">
                <a:latin typeface="Aptos Display" panose="020B0004020202020204" pitchFamily="34" charset="0"/>
              </a:rPr>
              <a:t> </a:t>
            </a:r>
            <a:r>
              <a:rPr sz="4400" dirty="0">
                <a:latin typeface="Aptos Display" panose="020B0004020202020204" pitchFamily="34" charset="0"/>
              </a:rPr>
              <a:t>bound</a:t>
            </a:r>
          </a:p>
        </p:txBody>
      </p:sp>
      <p:sp>
        <p:nvSpPr>
          <p:cNvPr id="4" name="Picture Placeholder 3"/>
          <p:cNvSpPr>
            <a:spLocks noGrp="1"/>
          </p:cNvSpPr>
          <p:nvPr>
            <p:ph type="pic" idx="4294967295"/>
          </p:nvPr>
        </p:nvSpPr>
        <p:spPr>
          <a:xfrm>
            <a:off x="134753" y="1398789"/>
            <a:ext cx="8191100" cy="1397822"/>
          </a:xfrm>
        </p:spPr>
        <p:txBody>
          <a:bodyPr/>
          <a:lstStyle/>
          <a:p>
            <a:pPr marL="152400" indent="0">
              <a:buNone/>
            </a:pPr>
            <a:r>
              <a:rPr sz="2500" dirty="0" err="1">
                <a:latin typeface="Century" panose="02040604050505020304" pitchFamily="18" charset="0"/>
              </a:rPr>
              <a:t>Thực</a:t>
            </a:r>
            <a:r>
              <a:rPr sz="2500" dirty="0">
                <a:latin typeface="Century" panose="02040604050505020304" pitchFamily="18" charset="0"/>
              </a:rPr>
              <a:t> </a:t>
            </a:r>
            <a:r>
              <a:rPr sz="2500" dirty="0" err="1">
                <a:latin typeface="Century" panose="02040604050505020304" pitchFamily="18" charset="0"/>
              </a:rPr>
              <a:t>hiện</a:t>
            </a:r>
            <a:r>
              <a:rPr sz="2500" dirty="0">
                <a:latin typeface="Century" panose="02040604050505020304" pitchFamily="18" charset="0"/>
              </a:rPr>
              <a:t> </a:t>
            </a:r>
            <a:r>
              <a:rPr sz="2500" dirty="0" err="1">
                <a:latin typeface="Century" panose="02040604050505020304" pitchFamily="18" charset="0"/>
              </a:rPr>
              <a:t>trong</a:t>
            </a:r>
            <a:r>
              <a:rPr sz="2500" dirty="0">
                <a:latin typeface="Century" panose="02040604050505020304" pitchFamily="18" charset="0"/>
              </a:rPr>
              <a:t> 2 </a:t>
            </a:r>
            <a:r>
              <a:rPr sz="2500" dirty="0" err="1">
                <a:latin typeface="Century" panose="02040604050505020304" pitchFamily="18" charset="0"/>
              </a:rPr>
              <a:t>tuần</a:t>
            </a:r>
            <a:r>
              <a:rPr sz="2500" dirty="0">
                <a:latin typeface="Century" panose="02040604050505020304" pitchFamily="18" charset="0"/>
              </a:rPr>
              <a:t> </a:t>
            </a:r>
            <a:r>
              <a:rPr sz="2500" dirty="0" err="1">
                <a:latin typeface="Century" panose="02040604050505020304" pitchFamily="18" charset="0"/>
              </a:rPr>
              <a:t>với</a:t>
            </a:r>
            <a:r>
              <a:rPr sz="2500" dirty="0">
                <a:latin typeface="Century" panose="02040604050505020304" pitchFamily="18" charset="0"/>
              </a:rPr>
              <a:t> </a:t>
            </a:r>
            <a:r>
              <a:rPr sz="2500" dirty="0" err="1">
                <a:latin typeface="Century" panose="02040604050505020304" pitchFamily="18" charset="0"/>
              </a:rPr>
              <a:t>toàn</a:t>
            </a:r>
            <a:r>
              <a:rPr sz="2500" dirty="0">
                <a:latin typeface="Century" panose="02040604050505020304" pitchFamily="18" charset="0"/>
              </a:rPr>
              <a:t> </a:t>
            </a:r>
            <a:r>
              <a:rPr sz="2500" dirty="0" err="1">
                <a:latin typeface="Century" panose="02040604050505020304" pitchFamily="18" charset="0"/>
              </a:rPr>
              <a:t>bộ</a:t>
            </a:r>
            <a:r>
              <a:rPr sz="2500" dirty="0">
                <a:latin typeface="Century" panose="02040604050505020304" pitchFamily="18" charset="0"/>
              </a:rPr>
              <a:t> </a:t>
            </a:r>
            <a:r>
              <a:rPr sz="2500" dirty="0" err="1">
                <a:latin typeface="Century" panose="02040604050505020304" pitchFamily="18" charset="0"/>
              </a:rPr>
              <a:t>dữ</a:t>
            </a:r>
            <a:r>
              <a:rPr sz="2500" dirty="0">
                <a:latin typeface="Century" panose="02040604050505020304" pitchFamily="18" charset="0"/>
              </a:rPr>
              <a:t> </a:t>
            </a:r>
            <a:r>
              <a:rPr sz="2500" dirty="0" err="1">
                <a:latin typeface="Century" panose="02040604050505020304" pitchFamily="18" charset="0"/>
              </a:rPr>
              <a:t>liệu</a:t>
            </a:r>
            <a:r>
              <a:rPr sz="2500" dirty="0">
                <a:latin typeface="Century" panose="02040604050505020304" pitchFamily="18" charset="0"/>
              </a:rPr>
              <a:t> </a:t>
            </a:r>
            <a:r>
              <a:rPr sz="2500" dirty="0" err="1">
                <a:latin typeface="Century" panose="02040604050505020304" pitchFamily="18" charset="0"/>
              </a:rPr>
              <a:t>doanh</a:t>
            </a:r>
            <a:r>
              <a:rPr sz="2500" dirty="0">
                <a:latin typeface="Century" panose="02040604050505020304" pitchFamily="18" charset="0"/>
              </a:rPr>
              <a:t> </a:t>
            </a:r>
            <a:r>
              <a:rPr sz="2500" dirty="0" err="1">
                <a:latin typeface="Century" panose="02040604050505020304" pitchFamily="18" charset="0"/>
              </a:rPr>
              <a:t>thu</a:t>
            </a:r>
            <a:r>
              <a:rPr sz="2500" dirty="0">
                <a:latin typeface="Century" panose="02040604050505020304" pitchFamily="18" charset="0"/>
              </a:rPr>
              <a:t> 12 </a:t>
            </a:r>
            <a:r>
              <a:rPr sz="2500" dirty="0" err="1">
                <a:latin typeface="Century" panose="02040604050505020304" pitchFamily="18" charset="0"/>
              </a:rPr>
              <a:t>tháng</a:t>
            </a:r>
            <a:r>
              <a:rPr sz="2500" dirty="0">
                <a:latin typeface="Century" panose="02040604050505020304" pitchFamily="18" charset="0"/>
              </a:rPr>
              <a:t>. </a:t>
            </a:r>
            <a:r>
              <a:rPr sz="2500" dirty="0" err="1">
                <a:latin typeface="Century" panose="02040604050505020304" pitchFamily="18" charset="0"/>
              </a:rPr>
              <a:t>Kết</a:t>
            </a:r>
            <a:r>
              <a:rPr sz="2500" dirty="0">
                <a:latin typeface="Century" panose="02040604050505020304" pitchFamily="18" charset="0"/>
              </a:rPr>
              <a:t> </a:t>
            </a:r>
            <a:r>
              <a:rPr sz="2500" dirty="0" err="1">
                <a:latin typeface="Century" panose="02040604050505020304" pitchFamily="18" charset="0"/>
              </a:rPr>
              <a:t>quả</a:t>
            </a:r>
            <a:r>
              <a:rPr sz="2500" dirty="0">
                <a:latin typeface="Century" panose="02040604050505020304" pitchFamily="18" charset="0"/>
              </a:rPr>
              <a:t> </a:t>
            </a:r>
            <a:r>
              <a:rPr sz="2500" dirty="0" err="1">
                <a:latin typeface="Century" panose="02040604050505020304" pitchFamily="18" charset="0"/>
              </a:rPr>
              <a:t>được</a:t>
            </a:r>
            <a:r>
              <a:rPr sz="2500" dirty="0">
                <a:latin typeface="Century" panose="02040604050505020304" pitchFamily="18" charset="0"/>
              </a:rPr>
              <a:t> </a:t>
            </a:r>
            <a:r>
              <a:rPr sz="2500" dirty="0" err="1">
                <a:latin typeface="Century" panose="02040604050505020304" pitchFamily="18" charset="0"/>
              </a:rPr>
              <a:t>tổng</a:t>
            </a:r>
            <a:r>
              <a:rPr sz="2500" dirty="0">
                <a:latin typeface="Century" panose="02040604050505020304" pitchFamily="18" charset="0"/>
              </a:rPr>
              <a:t> </a:t>
            </a:r>
            <a:r>
              <a:rPr sz="2500" dirty="0" err="1">
                <a:latin typeface="Century" panose="02040604050505020304" pitchFamily="18" charset="0"/>
              </a:rPr>
              <a:t>hợp</a:t>
            </a:r>
            <a:r>
              <a:rPr sz="2500" dirty="0">
                <a:latin typeface="Century" panose="02040604050505020304" pitchFamily="18" charset="0"/>
              </a:rPr>
              <a:t> </a:t>
            </a:r>
            <a:r>
              <a:rPr sz="2500" dirty="0" err="1">
                <a:latin typeface="Century" panose="02040604050505020304" pitchFamily="18" charset="0"/>
              </a:rPr>
              <a:t>thành</a:t>
            </a:r>
            <a:r>
              <a:rPr sz="2500" dirty="0">
                <a:latin typeface="Century" panose="02040604050505020304" pitchFamily="18" charset="0"/>
              </a:rPr>
              <a:t> </a:t>
            </a:r>
            <a:r>
              <a:rPr sz="2500" dirty="0" err="1">
                <a:latin typeface="Century" panose="02040604050505020304" pitchFamily="18" charset="0"/>
              </a:rPr>
              <a:t>báo</a:t>
            </a:r>
            <a:r>
              <a:rPr sz="2500" dirty="0">
                <a:latin typeface="Century" panose="02040604050505020304" pitchFamily="18" charset="0"/>
              </a:rPr>
              <a:t> </a:t>
            </a:r>
            <a:r>
              <a:rPr sz="2500" dirty="0" err="1">
                <a:latin typeface="Century" panose="02040604050505020304" pitchFamily="18" charset="0"/>
              </a:rPr>
              <a:t>cáo</a:t>
            </a:r>
            <a:r>
              <a:rPr sz="2500" dirty="0">
                <a:latin typeface="Century" panose="02040604050505020304" pitchFamily="18" charset="0"/>
              </a:rPr>
              <a:t> </a:t>
            </a:r>
            <a:r>
              <a:rPr sz="2500" dirty="0" err="1">
                <a:latin typeface="Century" panose="02040604050505020304" pitchFamily="18" charset="0"/>
              </a:rPr>
              <a:t>hoàn</a:t>
            </a:r>
            <a:r>
              <a:rPr sz="2500" dirty="0">
                <a:latin typeface="Century" panose="02040604050505020304" pitchFamily="18" charset="0"/>
              </a:rPr>
              <a:t> </a:t>
            </a:r>
            <a:r>
              <a:rPr sz="2500" dirty="0" err="1">
                <a:latin typeface="Century" panose="02040604050505020304" pitchFamily="18" charset="0"/>
              </a:rPr>
              <a:t>chỉnh</a:t>
            </a:r>
            <a:r>
              <a:rPr sz="2500" dirty="0">
                <a:latin typeface="Century" panose="02040604050505020304" pitchFamily="18" charset="0"/>
              </a:rPr>
              <a:t> </a:t>
            </a:r>
            <a:r>
              <a:rPr sz="2500" dirty="0" err="1">
                <a:latin typeface="Century" panose="02040604050505020304" pitchFamily="18" charset="0"/>
              </a:rPr>
              <a:t>và</a:t>
            </a:r>
            <a:r>
              <a:rPr sz="2500" dirty="0">
                <a:latin typeface="Century" panose="02040604050505020304" pitchFamily="18" charset="0"/>
              </a:rPr>
              <a:t> </a:t>
            </a:r>
            <a:r>
              <a:rPr sz="2500" dirty="0" err="1">
                <a:latin typeface="Century" panose="02040604050505020304" pitchFamily="18" charset="0"/>
              </a:rPr>
              <a:t>có</a:t>
            </a:r>
            <a:r>
              <a:rPr sz="2500" dirty="0">
                <a:latin typeface="Century" panose="02040604050505020304" pitchFamily="18" charset="0"/>
              </a:rPr>
              <a:t> </a:t>
            </a:r>
            <a:r>
              <a:rPr sz="2500" dirty="0" err="1">
                <a:latin typeface="Century" panose="02040604050505020304" pitchFamily="18" charset="0"/>
              </a:rPr>
              <a:t>thể</a:t>
            </a:r>
            <a:r>
              <a:rPr sz="2500" dirty="0">
                <a:latin typeface="Century" panose="02040604050505020304" pitchFamily="18" charset="0"/>
              </a:rPr>
              <a:t> </a:t>
            </a:r>
            <a:r>
              <a:rPr sz="2500" dirty="0" err="1">
                <a:latin typeface="Century" panose="02040604050505020304" pitchFamily="18" charset="0"/>
              </a:rPr>
              <a:t>tái</a:t>
            </a:r>
            <a:r>
              <a:rPr sz="2500" dirty="0">
                <a:latin typeface="Century" panose="02040604050505020304" pitchFamily="18" charset="0"/>
              </a:rPr>
              <a:t> </a:t>
            </a:r>
            <a:r>
              <a:rPr sz="2500" dirty="0" err="1">
                <a:latin typeface="Century" panose="02040604050505020304" pitchFamily="18" charset="0"/>
              </a:rPr>
              <a:t>sử</a:t>
            </a:r>
            <a:r>
              <a:rPr sz="2500" dirty="0">
                <a:latin typeface="Century" panose="02040604050505020304" pitchFamily="18" charset="0"/>
              </a:rPr>
              <a:t> </a:t>
            </a:r>
            <a:r>
              <a:rPr sz="2500" dirty="0" err="1">
                <a:latin typeface="Century" panose="02040604050505020304" pitchFamily="18" charset="0"/>
              </a:rPr>
              <a:t>dụng</a:t>
            </a:r>
            <a:r>
              <a:rPr sz="2500" dirty="0">
                <a:latin typeface="Century" panose="02040604050505020304" pitchFamily="18" charset="0"/>
              </a:rPr>
              <a:t> </a:t>
            </a:r>
            <a:r>
              <a:rPr sz="2500" dirty="0" err="1">
                <a:latin typeface="Century" panose="02040604050505020304" pitchFamily="18" charset="0"/>
              </a:rPr>
              <a:t>cho</a:t>
            </a:r>
            <a:r>
              <a:rPr sz="2500" dirty="0">
                <a:latin typeface="Century" panose="02040604050505020304" pitchFamily="18" charset="0"/>
              </a:rPr>
              <a:t> </a:t>
            </a:r>
            <a:r>
              <a:rPr sz="2500" dirty="0" err="1">
                <a:latin typeface="Century" panose="02040604050505020304" pitchFamily="18" charset="0"/>
              </a:rPr>
              <a:t>theo</a:t>
            </a:r>
            <a:r>
              <a:rPr sz="2500" dirty="0">
                <a:latin typeface="Century" panose="02040604050505020304" pitchFamily="18" charset="0"/>
              </a:rPr>
              <a:t> </a:t>
            </a:r>
            <a:r>
              <a:rPr sz="2500" dirty="0" err="1">
                <a:latin typeface="Century" panose="02040604050505020304" pitchFamily="18" charset="0"/>
              </a:rPr>
              <a:t>dõi</a:t>
            </a:r>
            <a:r>
              <a:rPr sz="2500" dirty="0">
                <a:latin typeface="Century" panose="02040604050505020304" pitchFamily="18" charset="0"/>
              </a:rPr>
              <a:t> </a:t>
            </a:r>
            <a:r>
              <a:rPr sz="2500" dirty="0" err="1">
                <a:latin typeface="Century" panose="02040604050505020304" pitchFamily="18" charset="0"/>
              </a:rPr>
              <a:t>định</a:t>
            </a:r>
            <a:r>
              <a:rPr sz="2500" dirty="0">
                <a:latin typeface="Century" panose="02040604050505020304" pitchFamily="18" charset="0"/>
              </a:rPr>
              <a:t> </a:t>
            </a:r>
            <a:r>
              <a:rPr sz="2500" dirty="0" err="1">
                <a:latin typeface="Century" panose="02040604050505020304" pitchFamily="18" charset="0"/>
              </a:rPr>
              <a:t>kỳ</a:t>
            </a:r>
            <a:r>
              <a:rPr sz="2500" dirty="0">
                <a:latin typeface="Century" panose="02040604050505020304" pitchFamily="18"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dirty="0">
                <a:solidFill>
                  <a:schemeClr val="bg2"/>
                </a:solidFill>
                <a:latin typeface="Aptos Display" panose="020B0004020202020204" pitchFamily="34" charset="0"/>
              </a:rPr>
              <a:t>Business Goal </a:t>
            </a:r>
            <a:r>
              <a:rPr lang="en-US" sz="4400" dirty="0" smtClean="0">
                <a:solidFill>
                  <a:schemeClr val="bg2"/>
                </a:solidFill>
                <a:latin typeface="Aptos Display" panose="020B0004020202020204" pitchFamily="34" charset="0"/>
              </a:rPr>
              <a:t>2</a:t>
            </a:r>
            <a:endParaRPr sz="4400" dirty="0">
              <a:solidFill>
                <a:schemeClr val="bg2"/>
              </a:solidFill>
              <a:latin typeface="Aptos Display" panose="020B0004020202020204" pitchFamily="34" charset="0"/>
            </a:endParaRPr>
          </a:p>
        </p:txBody>
      </p:sp>
      <p:sp>
        <p:nvSpPr>
          <p:cNvPr id="4" name="Picture Placeholder 3"/>
          <p:cNvSpPr>
            <a:spLocks noGrp="1"/>
          </p:cNvSpPr>
          <p:nvPr>
            <p:ph type="pic" idx="4294967295"/>
          </p:nvPr>
        </p:nvSpPr>
        <p:spPr>
          <a:xfrm>
            <a:off x="550623" y="1399087"/>
            <a:ext cx="3407767" cy="3642144"/>
          </a:xfrm>
          <a:noFill/>
          <a:ln>
            <a:noFill/>
          </a:ln>
        </p:spPr>
        <p:txBody>
          <a:bodyPr/>
          <a:lstStyle/>
          <a:p>
            <a:pPr marL="152400" indent="0">
              <a:buNone/>
            </a:pPr>
            <a:r>
              <a:rPr lang="vi-VN" sz="2400" dirty="0" smtClean="0">
                <a:latin typeface="+mn-lt"/>
              </a:rPr>
              <a:t>Nâng cao hiệu quả kinh doanh bằng cách xác định và tập trung vào các nhóm khách hàng, dựa trên phân tích xu hướng và đặc điểm từng nhóm khách hàng</a:t>
            </a:r>
            <a:r>
              <a:rPr lang="en-US" sz="2400" dirty="0" smtClean="0">
                <a:latin typeface="+mn-lt"/>
              </a:rPr>
              <a:t>.</a:t>
            </a:r>
            <a:endParaRPr lang="en-US" sz="2400" dirty="0">
              <a:latin typeface="+mn-lt"/>
            </a:endParaRPr>
          </a:p>
        </p:txBody>
      </p:sp>
      <p:sp>
        <p:nvSpPr>
          <p:cNvPr id="10" name="TextBox 9">
            <a:extLst>
              <a:ext uri="{FF2B5EF4-FFF2-40B4-BE49-F238E27FC236}">
                <a16:creationId xmlns="" xmlns:a16="http://schemas.microsoft.com/office/drawing/2014/main" id="{58AF09A5-8F1D-7E06-C826-912B9C4E1293}"/>
              </a:ext>
            </a:extLst>
          </p:cNvPr>
          <p:cNvSpPr txBox="1"/>
          <p:nvPr/>
        </p:nvSpPr>
        <p:spPr>
          <a:xfrm>
            <a:off x="4247147" y="1399087"/>
            <a:ext cx="4176853" cy="3046988"/>
          </a:xfrm>
          <a:prstGeom prst="rect">
            <a:avLst/>
          </a:prstGeom>
          <a:noFill/>
        </p:spPr>
        <p:txBody>
          <a:bodyPr wrap="square">
            <a:spAutoFit/>
          </a:bodyPr>
          <a:lstStyle/>
          <a:p>
            <a:pPr marL="152400" indent="0">
              <a:buNone/>
            </a:pPr>
            <a:r>
              <a:rPr lang="vi-VN" sz="2400" dirty="0">
                <a:latin typeface="+mn-lt"/>
              </a:rPr>
              <a:t>Mục tiêu</a:t>
            </a:r>
            <a:r>
              <a:rPr lang="en-US" sz="2400" dirty="0">
                <a:latin typeface="+mn-lt"/>
              </a:rPr>
              <a:t>:</a:t>
            </a:r>
          </a:p>
          <a:p>
            <a:pPr marL="152400" indent="0">
              <a:buNone/>
            </a:pPr>
            <a:r>
              <a:rPr lang="vi-VN" sz="2400" dirty="0" smtClean="0">
                <a:sym typeface="Wingdings" panose="05000000000000000000" pitchFamily="2" charset="2"/>
              </a:rPr>
              <a:t></a:t>
            </a:r>
            <a:r>
              <a:rPr lang="en-US" sz="2400" dirty="0" smtClean="0">
                <a:sym typeface="Wingdings" panose="05000000000000000000" pitchFamily="2" charset="2"/>
              </a:rPr>
              <a:t> </a:t>
            </a:r>
            <a:r>
              <a:rPr lang="vi-VN" sz="2400" dirty="0" smtClean="0"/>
              <a:t>Phân tích và dự báo doanh thu theo nhóm khách hàng nhằm xác định các phân khúc khách hàng, ổn định và tiềm năng tăng trưởng trong thời gian 30 ngày tiếp theo.</a:t>
            </a:r>
            <a:endParaRPr lang="vi-VN" sz="2400" dirty="0">
              <a:latin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r>
              <a:rPr sz="4400" dirty="0" err="1">
                <a:latin typeface="Aptos Display" panose="020B0004020202020204" pitchFamily="34" charset="0"/>
              </a:rPr>
              <a:t>Mục</a:t>
            </a:r>
            <a:r>
              <a:rPr sz="4400" dirty="0">
                <a:latin typeface="Aptos Display" panose="020B0004020202020204" pitchFamily="34" charset="0"/>
              </a:rPr>
              <a:t> </a:t>
            </a:r>
            <a:r>
              <a:rPr sz="4400" dirty="0" err="1">
                <a:latin typeface="Aptos Display" panose="020B0004020202020204" pitchFamily="34" charset="0"/>
              </a:rPr>
              <a:t>tiêu</a:t>
            </a:r>
            <a:r>
              <a:rPr sz="4400" dirty="0">
                <a:latin typeface="Aptos Display" panose="020B0004020202020204" pitchFamily="34" charset="0"/>
              </a:rPr>
              <a:t> </a:t>
            </a: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endParaRPr sz="4400" dirty="0">
              <a:latin typeface="Aptos Display" panose="020B0004020202020204" pitchFamily="34" charset="0"/>
            </a:endParaRPr>
          </a:p>
        </p:txBody>
      </p:sp>
      <p:sp>
        <p:nvSpPr>
          <p:cNvPr id="5" name="Rectangle 4"/>
          <p:cNvSpPr/>
          <p:nvPr/>
        </p:nvSpPr>
        <p:spPr>
          <a:xfrm>
            <a:off x="751667" y="1614250"/>
            <a:ext cx="7710407" cy="1631216"/>
          </a:xfrm>
          <a:prstGeom prst="rect">
            <a:avLst/>
          </a:prstGeom>
        </p:spPr>
        <p:txBody>
          <a:bodyPr wrap="square">
            <a:spAutoFit/>
          </a:bodyPr>
          <a:lstStyle/>
          <a:p>
            <a:pPr algn="just"/>
            <a:r>
              <a:rPr lang="vi-VN" sz="2500" b="1" i="1" dirty="0" smtClean="0"/>
              <a:t>Phân tích và dự báo doanh thu theo nhóm khách hàng </a:t>
            </a:r>
            <a:r>
              <a:rPr lang="vi-VN" sz="2500" dirty="0" smtClean="0"/>
              <a:t>nhằm xác định các phân khúc khách hàng, ổn định và tiềm năng tăng trưởng trong thời gian 30 ngày tiếp theo.</a:t>
            </a:r>
            <a:endParaRPr lang="en-US" sz="2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539500"/>
            <a:ext cx="7704000" cy="729902"/>
          </a:xfrm>
          <a:noFill/>
          <a:ln>
            <a:noFill/>
          </a:ln>
        </p:spPr>
        <p:txBody>
          <a:bodyPr spcFirstLastPara="1" wrap="square" lIns="91425" tIns="91425" rIns="91425" bIns="91425" anchor="t" anchorCtr="0">
            <a:noAutofit/>
          </a:bodyPr>
          <a:lstStyle/>
          <a:p>
            <a:r>
              <a:rPr sz="4400" dirty="0" err="1">
                <a:latin typeface="Aptos Display" panose="020B0004020202020204" pitchFamily="34" charset="0"/>
              </a:rPr>
              <a:t>Bài</a:t>
            </a:r>
            <a:r>
              <a:rPr sz="4400" dirty="0">
                <a:latin typeface="Aptos Display" panose="020B0004020202020204" pitchFamily="34" charset="0"/>
              </a:rPr>
              <a:t> </a:t>
            </a:r>
            <a:r>
              <a:rPr sz="4400" dirty="0" err="1">
                <a:latin typeface="Aptos Display" panose="020B0004020202020204" pitchFamily="34" charset="0"/>
              </a:rPr>
              <a:t>toán</a:t>
            </a:r>
            <a:r>
              <a:rPr sz="4400" dirty="0">
                <a:latin typeface="Aptos Display" panose="020B0004020202020204" pitchFamily="34" charset="0"/>
              </a:rPr>
              <a:t> </a:t>
            </a:r>
            <a:r>
              <a:rPr sz="4400" dirty="0" err="1">
                <a:latin typeface="Aptos Display" panose="020B0004020202020204" pitchFamily="34" charset="0"/>
              </a:rPr>
              <a:t>nghiệp</a:t>
            </a:r>
            <a:r>
              <a:rPr sz="4400" dirty="0">
                <a:latin typeface="Aptos Display" panose="020B0004020202020204" pitchFamily="34" charset="0"/>
              </a:rPr>
              <a:t> </a:t>
            </a:r>
            <a:r>
              <a:rPr sz="4400" dirty="0" err="1">
                <a:latin typeface="Aptos Display" panose="020B0004020202020204" pitchFamily="34" charset="0"/>
              </a:rPr>
              <a:t>vụ</a:t>
            </a:r>
            <a:endParaRPr sz="4400" dirty="0">
              <a:latin typeface="Aptos Display" panose="020B0004020202020204" pitchFamily="34" charset="0"/>
            </a:endParaRPr>
          </a:p>
        </p:txBody>
      </p:sp>
      <p:sp>
        <p:nvSpPr>
          <p:cNvPr id="5" name="Rectangle 4"/>
          <p:cNvSpPr/>
          <p:nvPr/>
        </p:nvSpPr>
        <p:spPr>
          <a:xfrm>
            <a:off x="720671" y="1484046"/>
            <a:ext cx="7764651" cy="2400657"/>
          </a:xfrm>
          <a:prstGeom prst="rect">
            <a:avLst/>
          </a:prstGeom>
        </p:spPr>
        <p:txBody>
          <a:bodyPr wrap="square">
            <a:spAutoFit/>
          </a:bodyPr>
          <a:lstStyle/>
          <a:p>
            <a:pPr algn="just"/>
            <a:r>
              <a:rPr lang="vi-VN" sz="2500" dirty="0" smtClean="0"/>
              <a:t>Doanh thu được tạo ra từ nhiều nhóm khách hàng khác nhau với mức độ đóng góp và tính ổn định không đồng đều. Việc thiếu thông tin về xu hướng và mùa vụ, khả năng duy trì doanh thu theo từng nhóm khách hàng khiến việc tiếp cận chăm sóc từng nhóm khách hàng trở nên khó khăn hơn.</a:t>
            </a:r>
            <a:endParaRPr lang="en-US" sz="2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r>
              <a:rPr sz="4400" dirty="0" err="1">
                <a:latin typeface="Aptos Display" panose="020B0004020202020204" pitchFamily="34" charset="0"/>
              </a:rPr>
              <a:t>Câu</a:t>
            </a:r>
            <a:r>
              <a:rPr sz="4400" dirty="0">
                <a:latin typeface="Aptos Display" panose="020B0004020202020204" pitchFamily="34" charset="0"/>
              </a:rPr>
              <a:t> </a:t>
            </a:r>
            <a:r>
              <a:rPr sz="4400" dirty="0" err="1">
                <a:latin typeface="Aptos Display" panose="020B0004020202020204" pitchFamily="34" charset="0"/>
              </a:rPr>
              <a:t>chuyện</a:t>
            </a:r>
            <a:r>
              <a:rPr sz="4400" dirty="0">
                <a:latin typeface="Aptos Display" panose="020B0004020202020204" pitchFamily="34" charset="0"/>
              </a:rPr>
              <a:t> </a:t>
            </a:r>
            <a:r>
              <a:rPr sz="4400" dirty="0" err="1">
                <a:latin typeface="Aptos Display" panose="020B0004020202020204" pitchFamily="34" charset="0"/>
              </a:rPr>
              <a:t>dữ</a:t>
            </a:r>
            <a:r>
              <a:rPr sz="4400" dirty="0">
                <a:latin typeface="Aptos Display" panose="020B0004020202020204" pitchFamily="34" charset="0"/>
              </a:rPr>
              <a:t> </a:t>
            </a:r>
            <a:r>
              <a:rPr sz="4400" dirty="0" err="1">
                <a:latin typeface="Aptos Display" panose="020B0004020202020204" pitchFamily="34" charset="0"/>
              </a:rPr>
              <a:t>liệu</a:t>
            </a:r>
            <a:endParaRPr sz="4400" dirty="0">
              <a:latin typeface="Aptos Display" panose="020B0004020202020204" pitchFamily="34" charset="0"/>
            </a:endParaRPr>
          </a:p>
        </p:txBody>
      </p:sp>
      <p:sp>
        <p:nvSpPr>
          <p:cNvPr id="5" name="Rectangle 4"/>
          <p:cNvSpPr/>
          <p:nvPr/>
        </p:nvSpPr>
        <p:spPr>
          <a:xfrm>
            <a:off x="705173" y="1448366"/>
            <a:ext cx="7741403" cy="2862322"/>
          </a:xfrm>
          <a:prstGeom prst="rect">
            <a:avLst/>
          </a:prstGeom>
        </p:spPr>
        <p:txBody>
          <a:bodyPr wrap="square">
            <a:spAutoFit/>
          </a:bodyPr>
          <a:lstStyle/>
          <a:p>
            <a:pPr algn="just"/>
            <a:r>
              <a:rPr lang="vi-VN" sz="2000" dirty="0" smtClean="0"/>
              <a:t>Nghiên cứu này phân chia tập khách hàng theo hai chiều </a:t>
            </a:r>
            <a:r>
              <a:rPr lang="vi-VN" sz="2000" b="1" dirty="0" smtClean="0"/>
              <a:t>Tier (Vàng–Bạc–Đồng)</a:t>
            </a:r>
            <a:r>
              <a:rPr lang="vi-VN" sz="2000" dirty="0" smtClean="0"/>
              <a:t> và </a:t>
            </a:r>
            <a:r>
              <a:rPr lang="vi-VN" sz="2000" b="1" dirty="0" smtClean="0"/>
              <a:t>BuyerType (Sỉ–Lẻ)</a:t>
            </a:r>
            <a:r>
              <a:rPr lang="vi-VN" sz="2000" dirty="0" smtClean="0"/>
              <a:t>, kết hợp phân tích chuỗi thời gian nhằm tách </a:t>
            </a:r>
            <a:r>
              <a:rPr lang="vi-VN" sz="2000" b="1" dirty="0" smtClean="0"/>
              <a:t>xu hướng, mùa vụ và nhiễu</a:t>
            </a:r>
            <a:r>
              <a:rPr lang="vi-VN" sz="2000" dirty="0" smtClean="0"/>
              <a:t>, qua đó làm rõ sự khác biệt về hành vi mua và mức độ đóng góp doanh thu giữa các phân khúc. Kết quả cho thấy </a:t>
            </a:r>
            <a:r>
              <a:rPr lang="vi-VN" sz="2000" b="1" dirty="0" smtClean="0"/>
              <a:t>system customer</a:t>
            </a:r>
            <a:r>
              <a:rPr lang="vi-VN" sz="2000" dirty="0" smtClean="0"/>
              <a:t> vẫn đóng vai trò nền tảng nhưng có dấu hiệu chững lại trong ngắn hạn, trong khi </a:t>
            </a:r>
            <a:r>
              <a:rPr lang="vi-VN" sz="2000" b="1" dirty="0" smtClean="0"/>
              <a:t>walk-in customer</a:t>
            </a:r>
            <a:r>
              <a:rPr lang="vi-VN" sz="2000" dirty="0" smtClean="0"/>
              <a:t> tuy tỷ trọng thấp hơn lại có mức biến động và seasonality cao, trở thành nguồn động lực tăng trưởng ngắn hạn.</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36083" y="183342"/>
            <a:ext cx="6067314" cy="973117"/>
          </a:xfrm>
        </p:spPr>
        <p:txBody>
          <a:bodyPr/>
          <a:lstStyle/>
          <a:p>
            <a:pPr algn="ctr"/>
            <a:r>
              <a:rPr sz="4400" dirty="0">
                <a:latin typeface="Aptos Display" panose="020B0004020202020204" pitchFamily="34" charset="0"/>
              </a:rPr>
              <a:t>SMART </a:t>
            </a:r>
            <a:r>
              <a:rPr lang="en-US" sz="4400" dirty="0" smtClean="0">
                <a:latin typeface="Aptos Display" panose="020B0004020202020204" pitchFamily="34" charset="0"/>
              </a:rPr>
              <a:t>Goals</a:t>
            </a:r>
            <a:endParaRPr sz="4400" dirty="0">
              <a:latin typeface="Aptos Display" panose="020B0004020202020204" pitchFamily="34" charset="0"/>
            </a:endParaRPr>
          </a:p>
        </p:txBody>
      </p:sp>
      <p:sp>
        <p:nvSpPr>
          <p:cNvPr id="5122" name="Rectangle 2"/>
          <p:cNvSpPr>
            <a:spLocks noChangeArrowheads="1"/>
          </p:cNvSpPr>
          <p:nvPr/>
        </p:nvSpPr>
        <p:spPr bwMode="auto">
          <a:xfrm>
            <a:off x="473650" y="1030866"/>
            <a:ext cx="7492479" cy="36933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231775" marR="0" lvl="0" indent="-231775"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sz="1800" b="1" i="0" u="none" strike="noStrike" cap="none" normalizeH="0" baseline="0" dirty="0" smtClean="0">
                <a:ln>
                  <a:noFill/>
                </a:ln>
                <a:solidFill>
                  <a:schemeClr val="tx1"/>
                </a:solidFill>
                <a:effectLst/>
                <a:latin typeface="Arial" charset="0"/>
                <a:cs typeface="Arial" charset="0"/>
              </a:rPr>
              <a:t>Specific:</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Phân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tích</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và</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dự</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báo</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doanh</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thu</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theo</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chuỗi</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thời</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gian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cho</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các</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phân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khúc</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khách</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hàng</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theo</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i="0" u="none" strike="noStrike" cap="none" normalizeH="0" baseline="0" dirty="0" smtClean="0">
                <a:ln>
                  <a:noFill/>
                </a:ln>
                <a:solidFill>
                  <a:schemeClr val="tx1"/>
                </a:solidFill>
                <a:effectLst/>
                <a:latin typeface="Arial" charset="0"/>
                <a:cs typeface="Arial" charset="0"/>
              </a:rPr>
              <a:t>Tier (Gold–Silver–Bronze) </a:t>
            </a:r>
            <a:r>
              <a:rPr kumimoji="0" lang="en-US" sz="1800" i="0" u="none" strike="noStrike" cap="none" normalizeH="0" baseline="0" dirty="0" err="1" smtClean="0">
                <a:ln>
                  <a:noFill/>
                </a:ln>
                <a:solidFill>
                  <a:schemeClr val="tx1"/>
                </a:solidFill>
                <a:effectLst/>
                <a:latin typeface="Arial" charset="0"/>
                <a:cs typeface="Arial" charset="0"/>
              </a:rPr>
              <a:t>và</a:t>
            </a:r>
            <a:r>
              <a:rPr kumimoji="0" lang="en-US" sz="1800" i="0" u="none" strike="noStrike" cap="none" normalizeH="0" baseline="0" dirty="0" smtClean="0">
                <a:ln>
                  <a:noFill/>
                </a:ln>
                <a:solidFill>
                  <a:schemeClr val="tx1"/>
                </a:solidFill>
                <a:effectLst/>
                <a:latin typeface="Arial" charset="0"/>
                <a:cs typeface="Arial" charset="0"/>
              </a:rPr>
              <a:t> </a:t>
            </a:r>
            <a:r>
              <a:rPr kumimoji="0" lang="en-US" sz="1800" i="0" u="none" strike="noStrike" cap="none" normalizeH="0" baseline="0" dirty="0" err="1" smtClean="0">
                <a:ln>
                  <a:noFill/>
                </a:ln>
                <a:solidFill>
                  <a:schemeClr val="tx1"/>
                </a:solidFill>
                <a:effectLst/>
                <a:latin typeface="Arial" charset="0"/>
                <a:cs typeface="Arial" charset="0"/>
              </a:rPr>
              <a:t>BuyerType</a:t>
            </a:r>
            <a:r>
              <a:rPr kumimoji="0" lang="en-US" sz="1800" i="0" u="none" strike="noStrike" cap="none" normalizeH="0" baseline="0" dirty="0" smtClean="0">
                <a:ln>
                  <a:noFill/>
                </a:ln>
                <a:solidFill>
                  <a:schemeClr val="tx1"/>
                </a:solidFill>
                <a:effectLst/>
                <a:latin typeface="Arial" charset="0"/>
                <a:cs typeface="Arial" charset="0"/>
              </a:rPr>
              <a:t> (</a:t>
            </a:r>
            <a:r>
              <a:rPr kumimoji="0" lang="en-US" sz="1800" i="0" u="none" strike="noStrike" cap="none" normalizeH="0" baseline="0" dirty="0" err="1" smtClean="0">
                <a:ln>
                  <a:noFill/>
                </a:ln>
                <a:solidFill>
                  <a:schemeClr val="tx1"/>
                </a:solidFill>
                <a:effectLst/>
                <a:latin typeface="Arial" charset="0"/>
                <a:cs typeface="Arial" charset="0"/>
              </a:rPr>
              <a:t>bán</a:t>
            </a:r>
            <a:r>
              <a:rPr kumimoji="0" lang="en-US" sz="1800" i="0" u="none" strike="noStrike" cap="none" normalizeH="0" baseline="0" dirty="0" smtClean="0">
                <a:ln>
                  <a:noFill/>
                </a:ln>
                <a:solidFill>
                  <a:schemeClr val="tx1"/>
                </a:solidFill>
                <a:effectLst/>
                <a:latin typeface="Arial" charset="0"/>
                <a:cs typeface="Arial" charset="0"/>
              </a:rPr>
              <a:t> </a:t>
            </a:r>
            <a:r>
              <a:rPr kumimoji="0" lang="en-US" sz="1800" i="0" u="none" strike="noStrike" cap="none" normalizeH="0" baseline="0" dirty="0" err="1" smtClean="0">
                <a:ln>
                  <a:noFill/>
                </a:ln>
                <a:solidFill>
                  <a:schemeClr val="tx1"/>
                </a:solidFill>
                <a:effectLst/>
                <a:latin typeface="Arial" charset="0"/>
                <a:cs typeface="Arial" charset="0"/>
              </a:rPr>
              <a:t>sỉ–bán</a:t>
            </a:r>
            <a:r>
              <a:rPr kumimoji="0" lang="en-US" sz="1800" i="0" u="none" strike="noStrike" cap="none" normalizeH="0" baseline="0" dirty="0" smtClean="0">
                <a:ln>
                  <a:noFill/>
                </a:ln>
                <a:solidFill>
                  <a:schemeClr val="tx1"/>
                </a:solidFill>
                <a:effectLst/>
                <a:latin typeface="Arial" charset="0"/>
                <a:cs typeface="Arial" charset="0"/>
              </a:rPr>
              <a:t> </a:t>
            </a:r>
            <a:r>
              <a:rPr kumimoji="0" lang="en-US" sz="1800" i="0" u="none" strike="noStrike" cap="none" normalizeH="0" baseline="0" dirty="0" err="1" smtClean="0">
                <a:ln>
                  <a:noFill/>
                </a:ln>
                <a:solidFill>
                  <a:schemeClr val="tx1"/>
                </a:solidFill>
                <a:effectLst/>
                <a:latin typeface="Arial" charset="0"/>
                <a:cs typeface="Arial" charset="0"/>
              </a:rPr>
              <a:t>lẻ</a:t>
            </a:r>
            <a:r>
              <a:rPr kumimoji="0" lang="en-US" sz="1800" i="0" u="none" strike="noStrike" cap="none" normalizeH="0" baseline="0" dirty="0" smtClean="0">
                <a:ln>
                  <a:noFill/>
                </a:ln>
                <a:solidFill>
                  <a:schemeClr val="tx1"/>
                </a:solidFill>
                <a:effectLst/>
                <a:latin typeface="Arial" charset="0"/>
                <a:cs typeface="Arial" charset="0"/>
              </a:rPr>
              <a:t>).</a:t>
            </a:r>
          </a:p>
          <a:p>
            <a:pPr marL="231775" marR="0" lvl="0" indent="-231775" algn="just"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800" b="1" i="0" u="none" strike="noStrike" cap="none" normalizeH="0" baseline="0" dirty="0" smtClean="0">
                <a:ln>
                  <a:noFill/>
                </a:ln>
                <a:solidFill>
                  <a:schemeClr val="tx1"/>
                </a:solidFill>
                <a:effectLst/>
                <a:latin typeface="Arial" charset="0"/>
                <a:cs typeface="Arial" charset="0"/>
              </a:rPr>
              <a:t>Measurable:</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Đo</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lường</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mức</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tăng</a:t>
            </a:r>
            <a:r>
              <a:rPr kumimoji="0" lang="en-US" sz="1800" b="1" i="0" u="none" strike="noStrike" cap="none" normalizeH="0" baseline="0" dirty="0" smtClean="0">
                <a:ln>
                  <a:noFill/>
                </a:ln>
                <a:solidFill>
                  <a:schemeClr val="tx1"/>
                </a:solidFill>
                <a:effectLst/>
                <a:latin typeface="Arial" charset="0"/>
                <a:cs typeface="Arial" charset="0"/>
              </a:rPr>
              <a:t>/</a:t>
            </a:r>
            <a:r>
              <a:rPr kumimoji="0" lang="en-US" sz="1800" b="1" i="0" u="none" strike="noStrike" cap="none" normalizeH="0" baseline="0" dirty="0" err="1" smtClean="0">
                <a:ln>
                  <a:noFill/>
                </a:ln>
                <a:solidFill>
                  <a:schemeClr val="tx1"/>
                </a:solidFill>
                <a:effectLst/>
                <a:latin typeface="Arial" charset="0"/>
                <a:cs typeface="Arial" charset="0"/>
              </a:rPr>
              <a:t>giảm</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doanh</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thu</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bằng</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cách</a:t>
            </a:r>
            <a:r>
              <a:rPr kumimoji="0" lang="en-US" sz="1800" b="0" i="0" u="none" strike="noStrike" cap="none" normalizeH="0" baseline="0" dirty="0" smtClean="0">
                <a:ln>
                  <a:noFill/>
                </a:ln>
                <a:solidFill>
                  <a:schemeClr val="tx1"/>
                </a:solidFill>
                <a:effectLst/>
                <a:latin typeface="Arial" charset="0"/>
                <a:cs typeface="Arial" charset="0"/>
              </a:rPr>
              <a:t> so </a:t>
            </a:r>
            <a:r>
              <a:rPr kumimoji="0" lang="en-US" sz="1800" b="0" i="0" u="none" strike="noStrike" cap="none" normalizeH="0" baseline="0" dirty="0" err="1" smtClean="0">
                <a:ln>
                  <a:noFill/>
                </a:ln>
                <a:solidFill>
                  <a:schemeClr val="tx1"/>
                </a:solidFill>
                <a:effectLst/>
                <a:latin typeface="Arial" charset="0"/>
                <a:cs typeface="Arial" charset="0"/>
              </a:rPr>
              <a:t>sánh</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doanh</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thu</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trung</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bình</a:t>
            </a:r>
            <a:r>
              <a:rPr kumimoji="0" lang="en-US" sz="1800" b="1" i="0" u="none" strike="noStrike" cap="none" normalizeH="0" baseline="0" dirty="0" smtClean="0">
                <a:ln>
                  <a:noFill/>
                </a:ln>
                <a:solidFill>
                  <a:schemeClr val="tx1"/>
                </a:solidFill>
                <a:effectLst/>
                <a:latin typeface="Arial" charset="0"/>
                <a:cs typeface="Arial" charset="0"/>
              </a:rPr>
              <a:t> 30 </a:t>
            </a:r>
            <a:r>
              <a:rPr kumimoji="0" lang="en-US" sz="1800" b="1" i="0" u="none" strike="noStrike" cap="none" normalizeH="0" baseline="0" dirty="0" err="1" smtClean="0">
                <a:ln>
                  <a:noFill/>
                </a:ln>
                <a:solidFill>
                  <a:schemeClr val="tx1"/>
                </a:solidFill>
                <a:effectLst/>
                <a:latin typeface="Arial" charset="0"/>
                <a:cs typeface="Arial" charset="0"/>
              </a:rPr>
              <a:t>ngày</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gần</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nhất</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và</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smtClean="0">
                <a:ln>
                  <a:noFill/>
                </a:ln>
                <a:solidFill>
                  <a:schemeClr val="tx1"/>
                </a:solidFill>
                <a:effectLst/>
                <a:latin typeface="Arial" charset="0"/>
                <a:cs typeface="Arial" charset="0"/>
              </a:rPr>
              <a:t>30 </a:t>
            </a:r>
            <a:r>
              <a:rPr kumimoji="0" lang="en-US" sz="1800" b="1" i="0" u="none" strike="noStrike" cap="none" normalizeH="0" baseline="0" dirty="0" err="1" smtClean="0">
                <a:ln>
                  <a:noFill/>
                </a:ln>
                <a:solidFill>
                  <a:schemeClr val="tx1"/>
                </a:solidFill>
                <a:effectLst/>
                <a:latin typeface="Arial" charset="0"/>
                <a:cs typeface="Arial" charset="0"/>
              </a:rPr>
              <a:t>ngày</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dự</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báo</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cho</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từng</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phân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khúc</a:t>
            </a:r>
            <a:r>
              <a:rPr kumimoji="0" lang="en-US" sz="1800" b="0" i="0" u="none" strike="noStrike" cap="none" normalizeH="0" baseline="0" dirty="0" smtClean="0">
                <a:ln>
                  <a:noFill/>
                </a:ln>
                <a:solidFill>
                  <a:schemeClr val="tx1"/>
                </a:solidFill>
                <a:effectLst/>
                <a:latin typeface="Arial" charset="0"/>
                <a:cs typeface="Arial" charset="0"/>
              </a:rPr>
              <a:t>.</a:t>
            </a:r>
          </a:p>
          <a:p>
            <a:pPr marL="231775" marR="0" lvl="0" indent="-231775" algn="just"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800" b="1" i="0" u="none" strike="noStrike" cap="none" normalizeH="0" baseline="0" dirty="0" smtClean="0">
                <a:ln>
                  <a:noFill/>
                </a:ln>
                <a:solidFill>
                  <a:schemeClr val="tx1"/>
                </a:solidFill>
                <a:effectLst/>
                <a:latin typeface="Arial" charset="0"/>
                <a:cs typeface="Arial" charset="0"/>
              </a:rPr>
              <a:t>Achievable:</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Sử</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dụng</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smtClean="0">
                <a:ln>
                  <a:noFill/>
                </a:ln>
                <a:solidFill>
                  <a:schemeClr val="tx1"/>
                </a:solidFill>
                <a:effectLst/>
                <a:latin typeface="Arial" charset="0"/>
                <a:cs typeface="Arial" charset="0"/>
              </a:rPr>
              <a:t>STL decomposition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và</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smtClean="0">
                <a:ln>
                  <a:noFill/>
                </a:ln>
                <a:solidFill>
                  <a:schemeClr val="tx1"/>
                </a:solidFill>
                <a:effectLst/>
                <a:latin typeface="Arial" charset="0"/>
                <a:cs typeface="Arial" charset="0"/>
              </a:rPr>
              <a:t>Prophet</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để</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nắm</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bắt</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xu</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hướng</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mùa</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vụ</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theo</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tuần</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và</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biến</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động</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ngẫu</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nhiên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của</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doanh</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thu</a:t>
            </a:r>
            <a:r>
              <a:rPr kumimoji="0" lang="en-US" sz="1800" b="0" i="0" u="none" strike="noStrike" cap="none" normalizeH="0" baseline="0" dirty="0" smtClean="0">
                <a:ln>
                  <a:noFill/>
                </a:ln>
                <a:solidFill>
                  <a:schemeClr val="tx1"/>
                </a:solidFill>
                <a:effectLst/>
                <a:latin typeface="Arial" charset="0"/>
                <a:cs typeface="Arial" charset="0"/>
              </a:rPr>
              <a:t>.</a:t>
            </a:r>
          </a:p>
          <a:p>
            <a:pPr marL="231775" marR="0" lvl="0" indent="-231775" algn="just"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800" b="1" i="0" u="none" strike="noStrike" cap="none" normalizeH="0" baseline="0" dirty="0" smtClean="0">
                <a:ln>
                  <a:noFill/>
                </a:ln>
                <a:solidFill>
                  <a:schemeClr val="tx1"/>
                </a:solidFill>
                <a:effectLst/>
                <a:latin typeface="Arial" charset="0"/>
                <a:cs typeface="Arial" charset="0"/>
              </a:rPr>
              <a:t>Relevant:</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Hỗ</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trợ</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nhận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diện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phân</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khúc</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chững</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lại</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và</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động</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lực</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tăng</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trưởng</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ngắn</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hạn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làm</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cơ</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sở</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cho</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quyết</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định</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kinh</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doanh</a:t>
            </a:r>
            <a:r>
              <a:rPr kumimoji="0" lang="en-US" sz="1800" b="0" i="0" u="none" strike="noStrike" cap="none" normalizeH="0" baseline="0" dirty="0" smtClean="0">
                <a:ln>
                  <a:noFill/>
                </a:ln>
                <a:solidFill>
                  <a:schemeClr val="tx1"/>
                </a:solidFill>
                <a:effectLst/>
                <a:latin typeface="Arial" charset="0"/>
                <a:cs typeface="Arial" charset="0"/>
              </a:rPr>
              <a:t>.</a:t>
            </a:r>
          </a:p>
          <a:p>
            <a:pPr marL="231775" marR="0" lvl="0" indent="-231775" algn="just"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800" b="1" i="0" u="none" strike="noStrike" cap="none" normalizeH="0" baseline="0" dirty="0" smtClean="0">
                <a:ln>
                  <a:noFill/>
                </a:ln>
                <a:solidFill>
                  <a:schemeClr val="tx1"/>
                </a:solidFill>
                <a:effectLst/>
                <a:latin typeface="Arial" charset="0"/>
                <a:cs typeface="Arial" charset="0"/>
              </a:rPr>
              <a:t>Time-bound:</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Dự</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báo</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doanh</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thu</a:t>
            </a:r>
            <a:r>
              <a:rPr kumimoji="0" lang="en-US" sz="1800" b="1" i="0" u="none" strike="noStrike" cap="none" normalizeH="0" baseline="0" dirty="0" smtClean="0">
                <a:ln>
                  <a:noFill/>
                </a:ln>
                <a:solidFill>
                  <a:schemeClr val="tx1"/>
                </a:solidFill>
                <a:effectLst/>
                <a:latin typeface="Arial" charset="0"/>
                <a:cs typeface="Arial" charset="0"/>
              </a:rPr>
              <a:t> 30 </a:t>
            </a:r>
            <a:r>
              <a:rPr kumimoji="0" lang="en-US" sz="1800" b="1" i="0" u="none" strike="noStrike" cap="none" normalizeH="0" baseline="0" dirty="0" err="1" smtClean="0">
                <a:ln>
                  <a:noFill/>
                </a:ln>
                <a:solidFill>
                  <a:schemeClr val="tx1"/>
                </a:solidFill>
                <a:effectLst/>
                <a:latin typeface="Arial" charset="0"/>
                <a:cs typeface="Arial" charset="0"/>
              </a:rPr>
              <a:t>ngày</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tiếp</a:t>
            </a:r>
            <a:r>
              <a:rPr kumimoji="0" lang="en-US" sz="1800" b="1" i="0" u="none" strike="noStrike" cap="none" normalizeH="0" baseline="0" dirty="0" smtClean="0">
                <a:ln>
                  <a:noFill/>
                </a:ln>
                <a:solidFill>
                  <a:schemeClr val="tx1"/>
                </a:solidFill>
                <a:effectLst/>
                <a:latin typeface="Arial" charset="0"/>
                <a:cs typeface="Arial" charset="0"/>
              </a:rPr>
              <a:t> </a:t>
            </a:r>
            <a:r>
              <a:rPr kumimoji="0" lang="en-US" sz="1800" b="1" i="0" u="none" strike="noStrike" cap="none" normalizeH="0" baseline="0" dirty="0" err="1" smtClean="0">
                <a:ln>
                  <a:noFill/>
                </a:ln>
                <a:solidFill>
                  <a:schemeClr val="tx1"/>
                </a:solidFill>
                <a:effectLst/>
                <a:latin typeface="Arial" charset="0"/>
                <a:cs typeface="Arial" charset="0"/>
              </a:rPr>
              <a:t>theo</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phục</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vụ</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hoạch</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định</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chiến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lược</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ngắn</a:t>
            </a: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Arial" charset="0"/>
                <a:cs typeface="Arial" charset="0"/>
              </a:rPr>
              <a:t>hạn</a:t>
            </a:r>
            <a:r>
              <a:rPr kumimoji="0" lang="en-US" sz="1800" b="0" i="0" u="none" strike="noStrike" cap="none" normalizeH="0" baseline="0" dirty="0" smtClean="0">
                <a:ln>
                  <a:noFill/>
                </a:ln>
                <a:solidFill>
                  <a:schemeClr val="tx1"/>
                </a:solidFill>
                <a:effectLst/>
                <a:latin typeface="Arial" charset="0"/>
                <a:cs typeface="Arial"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5BF2F5-22C8-02ED-1379-9EE5ADA05E2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1403A07-032C-2025-4E25-22F106728EE0}"/>
              </a:ext>
            </a:extLst>
          </p:cNvPr>
          <p:cNvSpPr>
            <a:spLocks noGrp="1"/>
          </p:cNvSpPr>
          <p:nvPr>
            <p:ph type="title"/>
          </p:nvPr>
        </p:nvSpPr>
        <p:spPr>
          <a:xfrm>
            <a:off x="1283999" y="1092762"/>
            <a:ext cx="7221645" cy="2957975"/>
          </a:xfrm>
        </p:spPr>
        <p:txBody>
          <a:bodyPr/>
          <a:lstStyle/>
          <a:p>
            <a:r>
              <a:rPr lang="en-US" dirty="0">
                <a:latin typeface="Segoe UI Black" panose="020B0A02040204020203" pitchFamily="34" charset="0"/>
                <a:ea typeface="Segoe UI Black" panose="020B0A02040204020203" pitchFamily="34" charset="0"/>
                <a:cs typeface="Arial" panose="020B0604020202020204" pitchFamily="34" charset="0"/>
              </a:rPr>
              <a:t>2. PHƯƠNG PHÁP TIẾP CẬN </a:t>
            </a:r>
            <a:br>
              <a:rPr lang="en-US" dirty="0">
                <a:latin typeface="Segoe UI Black" panose="020B0A02040204020203" pitchFamily="34" charset="0"/>
                <a:ea typeface="Segoe UI Black" panose="020B0A02040204020203" pitchFamily="34" charset="0"/>
                <a:cs typeface="Arial" panose="020B0604020202020204" pitchFamily="34" charset="0"/>
              </a:rPr>
            </a:br>
            <a:r>
              <a:rPr lang="en-US" dirty="0">
                <a:latin typeface="Segoe UI Black" panose="020B0A02040204020203" pitchFamily="34" charset="0"/>
                <a:ea typeface="Segoe UI Black" panose="020B0A02040204020203" pitchFamily="34" charset="0"/>
                <a:cs typeface="Arial" panose="020B0604020202020204" pitchFamily="34" charset="0"/>
              </a:rPr>
              <a:t>BÀI TOÁN</a:t>
            </a:r>
          </a:p>
        </p:txBody>
      </p:sp>
    </p:spTree>
    <p:extLst>
      <p:ext uri="{BB962C8B-B14F-4D97-AF65-F5344CB8AC3E}">
        <p14:creationId xmlns="" xmlns:p14="http://schemas.microsoft.com/office/powerpoint/2010/main" val="590198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7E9233B1-9341-1220-366F-4E26B032CCA6}"/>
              </a:ext>
            </a:extLst>
          </p:cNvPr>
          <p:cNvSpPr txBox="1">
            <a:spLocks/>
          </p:cNvSpPr>
          <p:nvPr/>
        </p:nvSpPr>
        <p:spPr>
          <a:xfrm>
            <a:off x="720000" y="194268"/>
            <a:ext cx="7704000" cy="685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lgn="ctr">
              <a:buClr>
                <a:schemeClr val="dk1"/>
              </a:buClr>
              <a:buSzPts val="2800"/>
              <a:buFont typeface="Poppins"/>
              <a:buNone/>
              <a:defRPr sz="4400" b="1">
                <a:solidFill>
                  <a:schemeClr val="dk1"/>
                </a:solidFill>
                <a:latin typeface="Aptos Display" panose="020B0004020202020204" pitchFamily="34" charset="0"/>
                <a:ea typeface="Poppins"/>
                <a:cs typeface="Poppins"/>
                <a:sym typeface="Poppins"/>
              </a:defRPr>
            </a:lvl1pPr>
            <a:lvl2pPr>
              <a:buClr>
                <a:schemeClr val="dk1"/>
              </a:buClr>
              <a:buSzPts val="2800"/>
              <a:buFont typeface="Poppins"/>
              <a:buNone/>
              <a:defRPr sz="2800" b="1">
                <a:solidFill>
                  <a:schemeClr val="dk1"/>
                </a:solidFill>
                <a:latin typeface="Poppins"/>
                <a:ea typeface="Poppins"/>
                <a:cs typeface="Poppins"/>
                <a:sym typeface="Poppins"/>
              </a:defRPr>
            </a:lvl2pPr>
            <a:lvl3pPr>
              <a:buClr>
                <a:schemeClr val="dk1"/>
              </a:buClr>
              <a:buSzPts val="2800"/>
              <a:buFont typeface="Poppins"/>
              <a:buNone/>
              <a:defRPr sz="2800" b="1">
                <a:solidFill>
                  <a:schemeClr val="dk1"/>
                </a:solidFill>
                <a:latin typeface="Poppins"/>
                <a:ea typeface="Poppins"/>
                <a:cs typeface="Poppins"/>
                <a:sym typeface="Poppins"/>
              </a:defRPr>
            </a:lvl3pPr>
            <a:lvl4pPr>
              <a:buClr>
                <a:schemeClr val="dk1"/>
              </a:buClr>
              <a:buSzPts val="2800"/>
              <a:buFont typeface="Poppins"/>
              <a:buNone/>
              <a:defRPr sz="2800" b="1">
                <a:solidFill>
                  <a:schemeClr val="dk1"/>
                </a:solidFill>
                <a:latin typeface="Poppins"/>
                <a:ea typeface="Poppins"/>
                <a:cs typeface="Poppins"/>
                <a:sym typeface="Poppins"/>
              </a:defRPr>
            </a:lvl4pPr>
            <a:lvl5pPr>
              <a:buClr>
                <a:schemeClr val="dk1"/>
              </a:buClr>
              <a:buSzPts val="2800"/>
              <a:buFont typeface="Poppins"/>
              <a:buNone/>
              <a:defRPr sz="2800" b="1">
                <a:solidFill>
                  <a:schemeClr val="dk1"/>
                </a:solidFill>
                <a:latin typeface="Poppins"/>
                <a:ea typeface="Poppins"/>
                <a:cs typeface="Poppins"/>
                <a:sym typeface="Poppins"/>
              </a:defRPr>
            </a:lvl5pPr>
            <a:lvl6pPr>
              <a:buClr>
                <a:schemeClr val="dk1"/>
              </a:buClr>
              <a:buSzPts val="2800"/>
              <a:buFont typeface="Poppins"/>
              <a:buNone/>
              <a:defRPr sz="2800" b="1">
                <a:solidFill>
                  <a:schemeClr val="dk1"/>
                </a:solidFill>
                <a:latin typeface="Poppins"/>
                <a:ea typeface="Poppins"/>
                <a:cs typeface="Poppins"/>
                <a:sym typeface="Poppins"/>
              </a:defRPr>
            </a:lvl6pPr>
            <a:lvl7pPr>
              <a:buClr>
                <a:schemeClr val="dk1"/>
              </a:buClr>
              <a:buSzPts val="2800"/>
              <a:buFont typeface="Poppins"/>
              <a:buNone/>
              <a:defRPr sz="2800" b="1">
                <a:solidFill>
                  <a:schemeClr val="dk1"/>
                </a:solidFill>
                <a:latin typeface="Poppins"/>
                <a:ea typeface="Poppins"/>
                <a:cs typeface="Poppins"/>
                <a:sym typeface="Poppins"/>
              </a:defRPr>
            </a:lvl7pPr>
            <a:lvl8pPr>
              <a:buClr>
                <a:schemeClr val="dk1"/>
              </a:buClr>
              <a:buSzPts val="2800"/>
              <a:buFont typeface="Poppins"/>
              <a:buNone/>
              <a:defRPr sz="2800" b="1">
                <a:solidFill>
                  <a:schemeClr val="dk1"/>
                </a:solidFill>
                <a:latin typeface="Poppins"/>
                <a:ea typeface="Poppins"/>
                <a:cs typeface="Poppins"/>
                <a:sym typeface="Poppins"/>
              </a:defRPr>
            </a:lvl8pPr>
            <a:lvl9pPr>
              <a:buClr>
                <a:schemeClr val="dk1"/>
              </a:buClr>
              <a:buSzPts val="2800"/>
              <a:buFont typeface="Poppins"/>
              <a:buNone/>
              <a:defRPr sz="2800" b="1">
                <a:solidFill>
                  <a:schemeClr val="dk1"/>
                </a:solidFill>
                <a:latin typeface="Poppins"/>
                <a:ea typeface="Poppins"/>
                <a:cs typeface="Poppins"/>
                <a:sym typeface="Poppins"/>
              </a:defRPr>
            </a:lvl9pPr>
          </a:lstStyle>
          <a:p>
            <a:r>
              <a:rPr lang="en-US" dirty="0"/>
              <a:t>2.1. MỤC TIÊU</a:t>
            </a:r>
          </a:p>
        </p:txBody>
      </p:sp>
      <p:sp>
        <p:nvSpPr>
          <p:cNvPr id="6" name="Picture Placeholder 3">
            <a:extLst>
              <a:ext uri="{FF2B5EF4-FFF2-40B4-BE49-F238E27FC236}">
                <a16:creationId xmlns="" xmlns:a16="http://schemas.microsoft.com/office/drawing/2014/main" id="{7AEA1411-537E-6B6A-398F-9DDC0E8AE495}"/>
              </a:ext>
            </a:extLst>
          </p:cNvPr>
          <p:cNvSpPr txBox="1">
            <a:spLocks/>
          </p:cNvSpPr>
          <p:nvPr/>
        </p:nvSpPr>
        <p:spPr>
          <a:xfrm>
            <a:off x="495714" y="1053073"/>
            <a:ext cx="7928286" cy="35534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200"/>
              <a:buFont typeface="Didact Gothic"/>
              <a:buNone/>
              <a:defRPr sz="2500">
                <a:solidFill>
                  <a:schemeClr val="dk1"/>
                </a:solidFill>
                <a:latin typeface="Century" panose="02040604050505020304" pitchFamily="18" charset="0"/>
                <a:ea typeface="Didact Gothic"/>
                <a:cs typeface="Didact Gothic"/>
                <a:sym typeface="Didact Gothic"/>
              </a:defRPr>
            </a:lvl1pPr>
            <a:lvl2pPr marL="9144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r>
              <a:rPr lang="en-US" dirty="0"/>
              <a:t>Đ</a:t>
            </a:r>
            <a:r>
              <a:rPr lang="vi-VN" dirty="0"/>
              <a:t>ánh giá tổng quan kết quả bán hàng theo thời gia</a:t>
            </a:r>
            <a:r>
              <a:rPr lang="en-US" dirty="0"/>
              <a:t>n</a:t>
            </a:r>
          </a:p>
          <a:p>
            <a:r>
              <a:rPr lang="en-US" dirty="0"/>
              <a:t>P</a:t>
            </a:r>
            <a:r>
              <a:rPr lang="vi-VN" dirty="0"/>
              <a:t>hân tích cơ cấu doanh thu theo sản phẩm và khách hàng </a:t>
            </a:r>
            <a:r>
              <a:rPr lang="vi-VN" dirty="0">
                <a:sym typeface="Wingdings" panose="05000000000000000000" pitchFamily="2" charset="2"/>
              </a:rPr>
              <a:t></a:t>
            </a:r>
            <a:r>
              <a:rPr lang="vi-VN" dirty="0"/>
              <a:t> nhận diện các xu hướng và rủi ro tiềm ẩn trong hoạt động kinh doanh. </a:t>
            </a:r>
            <a:endParaRPr lang="en-US" dirty="0"/>
          </a:p>
        </p:txBody>
      </p:sp>
    </p:spTree>
    <p:extLst>
      <p:ext uri="{BB962C8B-B14F-4D97-AF65-F5344CB8AC3E}">
        <p14:creationId xmlns="" xmlns:p14="http://schemas.microsoft.com/office/powerpoint/2010/main" val="1310265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298CE65-8D16-4535-E6BD-9BD50C55EA59}"/>
            </a:ext>
          </a:extLst>
        </p:cNvPr>
        <p:cNvGrpSpPr/>
        <p:nvPr/>
      </p:nvGrpSpPr>
      <p:grpSpPr>
        <a:xfrm>
          <a:off x="0" y="0"/>
          <a:ext cx="0" cy="0"/>
          <a:chOff x="0" y="0"/>
          <a:chExt cx="0" cy="0"/>
        </a:xfrm>
      </p:grpSpPr>
      <p:sp>
        <p:nvSpPr>
          <p:cNvPr id="5" name="Title 1">
            <a:extLst>
              <a:ext uri="{FF2B5EF4-FFF2-40B4-BE49-F238E27FC236}">
                <a16:creationId xmlns="" xmlns:a16="http://schemas.microsoft.com/office/drawing/2014/main" id="{19660BB8-5710-5990-0198-DA8808771CE3}"/>
              </a:ext>
            </a:extLst>
          </p:cNvPr>
          <p:cNvSpPr txBox="1">
            <a:spLocks/>
          </p:cNvSpPr>
          <p:nvPr/>
        </p:nvSpPr>
        <p:spPr>
          <a:xfrm>
            <a:off x="720000" y="194268"/>
            <a:ext cx="7704000" cy="685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lgn="ctr">
              <a:buClr>
                <a:schemeClr val="dk1"/>
              </a:buClr>
              <a:buSzPts val="2800"/>
              <a:buFont typeface="Poppins"/>
              <a:buNone/>
              <a:defRPr sz="4400" b="1">
                <a:solidFill>
                  <a:schemeClr val="dk1"/>
                </a:solidFill>
                <a:latin typeface="Aptos Display" panose="020B0004020202020204" pitchFamily="34" charset="0"/>
                <a:ea typeface="Poppins"/>
                <a:cs typeface="Poppins"/>
                <a:sym typeface="Poppins"/>
              </a:defRPr>
            </a:lvl1pPr>
            <a:lvl2pPr>
              <a:buClr>
                <a:schemeClr val="dk1"/>
              </a:buClr>
              <a:buSzPts val="2800"/>
              <a:buFont typeface="Poppins"/>
              <a:buNone/>
              <a:defRPr sz="2800" b="1">
                <a:solidFill>
                  <a:schemeClr val="dk1"/>
                </a:solidFill>
                <a:latin typeface="Poppins"/>
                <a:ea typeface="Poppins"/>
                <a:cs typeface="Poppins"/>
                <a:sym typeface="Poppins"/>
              </a:defRPr>
            </a:lvl2pPr>
            <a:lvl3pPr>
              <a:buClr>
                <a:schemeClr val="dk1"/>
              </a:buClr>
              <a:buSzPts val="2800"/>
              <a:buFont typeface="Poppins"/>
              <a:buNone/>
              <a:defRPr sz="2800" b="1">
                <a:solidFill>
                  <a:schemeClr val="dk1"/>
                </a:solidFill>
                <a:latin typeface="Poppins"/>
                <a:ea typeface="Poppins"/>
                <a:cs typeface="Poppins"/>
                <a:sym typeface="Poppins"/>
              </a:defRPr>
            </a:lvl3pPr>
            <a:lvl4pPr>
              <a:buClr>
                <a:schemeClr val="dk1"/>
              </a:buClr>
              <a:buSzPts val="2800"/>
              <a:buFont typeface="Poppins"/>
              <a:buNone/>
              <a:defRPr sz="2800" b="1">
                <a:solidFill>
                  <a:schemeClr val="dk1"/>
                </a:solidFill>
                <a:latin typeface="Poppins"/>
                <a:ea typeface="Poppins"/>
                <a:cs typeface="Poppins"/>
                <a:sym typeface="Poppins"/>
              </a:defRPr>
            </a:lvl4pPr>
            <a:lvl5pPr>
              <a:buClr>
                <a:schemeClr val="dk1"/>
              </a:buClr>
              <a:buSzPts val="2800"/>
              <a:buFont typeface="Poppins"/>
              <a:buNone/>
              <a:defRPr sz="2800" b="1">
                <a:solidFill>
                  <a:schemeClr val="dk1"/>
                </a:solidFill>
                <a:latin typeface="Poppins"/>
                <a:ea typeface="Poppins"/>
                <a:cs typeface="Poppins"/>
                <a:sym typeface="Poppins"/>
              </a:defRPr>
            </a:lvl5pPr>
            <a:lvl6pPr>
              <a:buClr>
                <a:schemeClr val="dk1"/>
              </a:buClr>
              <a:buSzPts val="2800"/>
              <a:buFont typeface="Poppins"/>
              <a:buNone/>
              <a:defRPr sz="2800" b="1">
                <a:solidFill>
                  <a:schemeClr val="dk1"/>
                </a:solidFill>
                <a:latin typeface="Poppins"/>
                <a:ea typeface="Poppins"/>
                <a:cs typeface="Poppins"/>
                <a:sym typeface="Poppins"/>
              </a:defRPr>
            </a:lvl6pPr>
            <a:lvl7pPr>
              <a:buClr>
                <a:schemeClr val="dk1"/>
              </a:buClr>
              <a:buSzPts val="2800"/>
              <a:buFont typeface="Poppins"/>
              <a:buNone/>
              <a:defRPr sz="2800" b="1">
                <a:solidFill>
                  <a:schemeClr val="dk1"/>
                </a:solidFill>
                <a:latin typeface="Poppins"/>
                <a:ea typeface="Poppins"/>
                <a:cs typeface="Poppins"/>
                <a:sym typeface="Poppins"/>
              </a:defRPr>
            </a:lvl7pPr>
            <a:lvl8pPr>
              <a:buClr>
                <a:schemeClr val="dk1"/>
              </a:buClr>
              <a:buSzPts val="2800"/>
              <a:buFont typeface="Poppins"/>
              <a:buNone/>
              <a:defRPr sz="2800" b="1">
                <a:solidFill>
                  <a:schemeClr val="dk1"/>
                </a:solidFill>
                <a:latin typeface="Poppins"/>
                <a:ea typeface="Poppins"/>
                <a:cs typeface="Poppins"/>
                <a:sym typeface="Poppins"/>
              </a:defRPr>
            </a:lvl8pPr>
            <a:lvl9pPr>
              <a:buClr>
                <a:schemeClr val="dk1"/>
              </a:buClr>
              <a:buSzPts val="2800"/>
              <a:buFont typeface="Poppins"/>
              <a:buNone/>
              <a:defRPr sz="2800" b="1">
                <a:solidFill>
                  <a:schemeClr val="dk1"/>
                </a:solidFill>
                <a:latin typeface="Poppins"/>
                <a:ea typeface="Poppins"/>
                <a:cs typeface="Poppins"/>
                <a:sym typeface="Poppins"/>
              </a:defRPr>
            </a:lvl9pPr>
          </a:lstStyle>
          <a:p>
            <a:r>
              <a:rPr lang="en-US" dirty="0"/>
              <a:t>2.2. PHẠM VI DỮ LIỆU</a:t>
            </a:r>
          </a:p>
        </p:txBody>
      </p:sp>
      <p:sp>
        <p:nvSpPr>
          <p:cNvPr id="6" name="Picture Placeholder 3">
            <a:extLst>
              <a:ext uri="{FF2B5EF4-FFF2-40B4-BE49-F238E27FC236}">
                <a16:creationId xmlns="" xmlns:a16="http://schemas.microsoft.com/office/drawing/2014/main" id="{82BBC3FB-4662-9AA8-A8D8-A1036FDBDE16}"/>
              </a:ext>
            </a:extLst>
          </p:cNvPr>
          <p:cNvSpPr txBox="1">
            <a:spLocks/>
          </p:cNvSpPr>
          <p:nvPr/>
        </p:nvSpPr>
        <p:spPr>
          <a:xfrm>
            <a:off x="495714" y="1053073"/>
            <a:ext cx="7928286" cy="35534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200"/>
              <a:buFont typeface="Didact Gothic"/>
              <a:buNone/>
              <a:defRPr sz="2500">
                <a:solidFill>
                  <a:schemeClr val="dk1"/>
                </a:solidFill>
                <a:latin typeface="Century" panose="02040604050505020304" pitchFamily="18" charset="0"/>
                <a:ea typeface="Didact Gothic"/>
                <a:cs typeface="Didact Gothic"/>
                <a:sym typeface="Didact Gothic"/>
              </a:defRPr>
            </a:lvl1pPr>
            <a:lvl2pPr marL="9144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indent="-304800">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r>
              <a:rPr lang="vi-VN" dirty="0"/>
              <a:t>Dữ liệu bao gồm hơn 540.000 giao dịch bán lẻ phát sinh trong vòng một năm. </a:t>
            </a:r>
            <a:endParaRPr lang="en-US" dirty="0"/>
          </a:p>
          <a:p>
            <a:endParaRPr lang="en-US" dirty="0"/>
          </a:p>
          <a:p>
            <a:r>
              <a:rPr lang="en-US" dirty="0"/>
              <a:t>C</a:t>
            </a:r>
            <a:r>
              <a:rPr lang="vi-VN" dirty="0"/>
              <a:t>ác giao dịch bất thường như đơn hàng bị hủy hoặc giá trị không hợp lệ đã được loại bỏ nhằm đảm bảo tính chính xác và nhất quán của kết quả</a:t>
            </a:r>
          </a:p>
        </p:txBody>
      </p:sp>
    </p:spTree>
    <p:extLst>
      <p:ext uri="{BB962C8B-B14F-4D97-AF65-F5344CB8AC3E}">
        <p14:creationId xmlns="" xmlns:p14="http://schemas.microsoft.com/office/powerpoint/2010/main" val="1932187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298CE65-8D16-4535-E6BD-9BD50C55EA59}"/>
            </a:ext>
          </a:extLst>
        </p:cNvPr>
        <p:cNvGrpSpPr/>
        <p:nvPr/>
      </p:nvGrpSpPr>
      <p:grpSpPr>
        <a:xfrm>
          <a:off x="0" y="0"/>
          <a:ext cx="0" cy="0"/>
          <a:chOff x="0" y="0"/>
          <a:chExt cx="0" cy="0"/>
        </a:xfrm>
      </p:grpSpPr>
      <p:sp>
        <p:nvSpPr>
          <p:cNvPr id="5" name="Title 1">
            <a:extLst>
              <a:ext uri="{FF2B5EF4-FFF2-40B4-BE49-F238E27FC236}">
                <a16:creationId xmlns="" xmlns:a16="http://schemas.microsoft.com/office/drawing/2014/main" id="{19660BB8-5710-5990-0198-DA8808771CE3}"/>
              </a:ext>
            </a:extLst>
          </p:cNvPr>
          <p:cNvSpPr txBox="1">
            <a:spLocks/>
          </p:cNvSpPr>
          <p:nvPr/>
        </p:nvSpPr>
        <p:spPr>
          <a:xfrm>
            <a:off x="720000" y="194268"/>
            <a:ext cx="7704000" cy="6854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lgn="ctr">
              <a:buClr>
                <a:schemeClr val="dk1"/>
              </a:buClr>
              <a:buSzPts val="2800"/>
              <a:buFont typeface="Poppins"/>
              <a:buNone/>
              <a:defRPr sz="4400" b="1">
                <a:solidFill>
                  <a:schemeClr val="dk1"/>
                </a:solidFill>
                <a:latin typeface="Aptos Display" panose="020B0004020202020204" pitchFamily="34" charset="0"/>
                <a:ea typeface="Poppins"/>
                <a:cs typeface="Poppins"/>
                <a:sym typeface="Poppins"/>
              </a:defRPr>
            </a:lvl1pPr>
            <a:lvl2pPr>
              <a:buClr>
                <a:schemeClr val="dk1"/>
              </a:buClr>
              <a:buSzPts val="2800"/>
              <a:buFont typeface="Poppins"/>
              <a:buNone/>
              <a:defRPr sz="2800" b="1">
                <a:solidFill>
                  <a:schemeClr val="dk1"/>
                </a:solidFill>
                <a:latin typeface="Poppins"/>
                <a:ea typeface="Poppins"/>
                <a:cs typeface="Poppins"/>
                <a:sym typeface="Poppins"/>
              </a:defRPr>
            </a:lvl2pPr>
            <a:lvl3pPr>
              <a:buClr>
                <a:schemeClr val="dk1"/>
              </a:buClr>
              <a:buSzPts val="2800"/>
              <a:buFont typeface="Poppins"/>
              <a:buNone/>
              <a:defRPr sz="2800" b="1">
                <a:solidFill>
                  <a:schemeClr val="dk1"/>
                </a:solidFill>
                <a:latin typeface="Poppins"/>
                <a:ea typeface="Poppins"/>
                <a:cs typeface="Poppins"/>
                <a:sym typeface="Poppins"/>
              </a:defRPr>
            </a:lvl3pPr>
            <a:lvl4pPr>
              <a:buClr>
                <a:schemeClr val="dk1"/>
              </a:buClr>
              <a:buSzPts val="2800"/>
              <a:buFont typeface="Poppins"/>
              <a:buNone/>
              <a:defRPr sz="2800" b="1">
                <a:solidFill>
                  <a:schemeClr val="dk1"/>
                </a:solidFill>
                <a:latin typeface="Poppins"/>
                <a:ea typeface="Poppins"/>
                <a:cs typeface="Poppins"/>
                <a:sym typeface="Poppins"/>
              </a:defRPr>
            </a:lvl4pPr>
            <a:lvl5pPr>
              <a:buClr>
                <a:schemeClr val="dk1"/>
              </a:buClr>
              <a:buSzPts val="2800"/>
              <a:buFont typeface="Poppins"/>
              <a:buNone/>
              <a:defRPr sz="2800" b="1">
                <a:solidFill>
                  <a:schemeClr val="dk1"/>
                </a:solidFill>
                <a:latin typeface="Poppins"/>
                <a:ea typeface="Poppins"/>
                <a:cs typeface="Poppins"/>
                <a:sym typeface="Poppins"/>
              </a:defRPr>
            </a:lvl5pPr>
            <a:lvl6pPr>
              <a:buClr>
                <a:schemeClr val="dk1"/>
              </a:buClr>
              <a:buSzPts val="2800"/>
              <a:buFont typeface="Poppins"/>
              <a:buNone/>
              <a:defRPr sz="2800" b="1">
                <a:solidFill>
                  <a:schemeClr val="dk1"/>
                </a:solidFill>
                <a:latin typeface="Poppins"/>
                <a:ea typeface="Poppins"/>
                <a:cs typeface="Poppins"/>
                <a:sym typeface="Poppins"/>
              </a:defRPr>
            </a:lvl6pPr>
            <a:lvl7pPr>
              <a:buClr>
                <a:schemeClr val="dk1"/>
              </a:buClr>
              <a:buSzPts val="2800"/>
              <a:buFont typeface="Poppins"/>
              <a:buNone/>
              <a:defRPr sz="2800" b="1">
                <a:solidFill>
                  <a:schemeClr val="dk1"/>
                </a:solidFill>
                <a:latin typeface="Poppins"/>
                <a:ea typeface="Poppins"/>
                <a:cs typeface="Poppins"/>
                <a:sym typeface="Poppins"/>
              </a:defRPr>
            </a:lvl7pPr>
            <a:lvl8pPr>
              <a:buClr>
                <a:schemeClr val="dk1"/>
              </a:buClr>
              <a:buSzPts val="2800"/>
              <a:buFont typeface="Poppins"/>
              <a:buNone/>
              <a:defRPr sz="2800" b="1">
                <a:solidFill>
                  <a:schemeClr val="dk1"/>
                </a:solidFill>
                <a:latin typeface="Poppins"/>
                <a:ea typeface="Poppins"/>
                <a:cs typeface="Poppins"/>
                <a:sym typeface="Poppins"/>
              </a:defRPr>
            </a:lvl8pPr>
            <a:lvl9pPr>
              <a:buClr>
                <a:schemeClr val="dk1"/>
              </a:buClr>
              <a:buSzPts val="2800"/>
              <a:buFont typeface="Poppins"/>
              <a:buNone/>
              <a:defRPr sz="2800" b="1">
                <a:solidFill>
                  <a:schemeClr val="dk1"/>
                </a:solidFill>
                <a:latin typeface="Poppins"/>
                <a:ea typeface="Poppins"/>
                <a:cs typeface="Poppins"/>
                <a:sym typeface="Poppins"/>
              </a:defRPr>
            </a:lvl9pPr>
          </a:lstStyle>
          <a:p>
            <a:r>
              <a:rPr lang="en-US" dirty="0" smtClean="0"/>
              <a:t>2.3. </a:t>
            </a:r>
            <a:r>
              <a:rPr lang="en-US" dirty="0" err="1" smtClean="0"/>
              <a:t>Quy</a:t>
            </a:r>
            <a:r>
              <a:rPr lang="en-US" dirty="0" smtClean="0"/>
              <a:t> </a:t>
            </a:r>
            <a:r>
              <a:rPr lang="en-US" dirty="0" err="1" smtClean="0"/>
              <a:t>trình</a:t>
            </a:r>
            <a:r>
              <a:rPr lang="en-US" dirty="0" smtClean="0"/>
              <a:t> </a:t>
            </a:r>
            <a:r>
              <a:rPr lang="en-US" dirty="0" err="1" smtClean="0"/>
              <a:t>chung</a:t>
            </a:r>
            <a:endParaRPr lang="en-US" dirty="0"/>
          </a:p>
        </p:txBody>
      </p:sp>
      <p:pic>
        <p:nvPicPr>
          <p:cNvPr id="71682" name="Picture 2"/>
          <p:cNvPicPr>
            <a:picLocks noChangeAspect="1" noChangeArrowheads="1"/>
          </p:cNvPicPr>
          <p:nvPr/>
        </p:nvPicPr>
        <p:blipFill>
          <a:blip r:embed="rId2"/>
          <a:srcRect/>
          <a:stretch>
            <a:fillRect/>
          </a:stretch>
        </p:blipFill>
        <p:spPr bwMode="auto">
          <a:xfrm>
            <a:off x="152400" y="1271588"/>
            <a:ext cx="8216685" cy="2417193"/>
          </a:xfrm>
          <a:prstGeom prst="rect">
            <a:avLst/>
          </a:prstGeom>
          <a:noFill/>
          <a:ln w="9525">
            <a:noFill/>
            <a:miter lim="800000"/>
            <a:headEnd/>
            <a:tailEnd/>
          </a:ln>
        </p:spPr>
      </p:pic>
    </p:spTree>
    <p:extLst>
      <p:ext uri="{BB962C8B-B14F-4D97-AF65-F5344CB8AC3E}">
        <p14:creationId xmlns="" xmlns:p14="http://schemas.microsoft.com/office/powerpoint/2010/main" val="1932187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6BE9AA-C797-5B81-CC29-BB9159E9AF14}"/>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E9B6E5C-283A-7CE8-7F37-AF91893905A7}"/>
              </a:ext>
            </a:extLst>
          </p:cNvPr>
          <p:cNvSpPr>
            <a:spLocks noGrp="1"/>
          </p:cNvSpPr>
          <p:nvPr>
            <p:ph type="title"/>
          </p:nvPr>
        </p:nvSpPr>
        <p:spPr>
          <a:xfrm>
            <a:off x="961177" y="1662106"/>
            <a:ext cx="7221645" cy="1478988"/>
          </a:xfrm>
        </p:spPr>
        <p:txBody>
          <a:bodyPr/>
          <a:lstStyle/>
          <a:p>
            <a:r>
              <a:rPr lang="en-US" dirty="0">
                <a:latin typeface="Segoe UI Black" panose="020B0A02040204020203" pitchFamily="34" charset="0"/>
                <a:ea typeface="Segoe UI Black" panose="020B0A02040204020203" pitchFamily="34" charset="0"/>
                <a:cs typeface="Arial" panose="020B0604020202020204" pitchFamily="34" charset="0"/>
              </a:rPr>
              <a:t>3. KẾT QUẢ</a:t>
            </a:r>
          </a:p>
        </p:txBody>
      </p:sp>
    </p:spTree>
    <p:extLst>
      <p:ext uri="{BB962C8B-B14F-4D97-AF65-F5344CB8AC3E}">
        <p14:creationId xmlns="" xmlns:p14="http://schemas.microsoft.com/office/powerpoint/2010/main" val="2118559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265" y="539500"/>
            <a:ext cx="7285313" cy="572700"/>
          </a:xfrm>
          <a:noFill/>
          <a:ln>
            <a:noFill/>
          </a:ln>
        </p:spPr>
        <p:txBody>
          <a:bodyPr spcFirstLastPara="1" wrap="square" lIns="91425" tIns="91425" rIns="91425" bIns="91425" anchor="t" anchorCtr="0">
            <a:noAutofit/>
          </a:bodyPr>
          <a:lstStyle/>
          <a:p>
            <a:pPr algn="ctr">
              <a:buSzPts val="2800"/>
            </a:pPr>
            <a:r>
              <a:rPr sz="4400" dirty="0">
                <a:latin typeface="Aptos Display" panose="020B0004020202020204" pitchFamily="34" charset="0"/>
              </a:rPr>
              <a:t>3. </a:t>
            </a:r>
            <a:r>
              <a:rPr lang="en-US" sz="4400" dirty="0">
                <a:latin typeface="Aptos Display" panose="020B0004020202020204" pitchFamily="34" charset="0"/>
              </a:rPr>
              <a:t>1.</a:t>
            </a:r>
            <a:r>
              <a:rPr sz="4400" dirty="0">
                <a:latin typeface="Aptos Display" panose="020B0004020202020204" pitchFamily="34" charset="0"/>
              </a:rPr>
              <a:t> </a:t>
            </a:r>
            <a:r>
              <a:rPr sz="4400" dirty="0" err="1">
                <a:latin typeface="Aptos Display" panose="020B0004020202020204" pitchFamily="34" charset="0"/>
              </a:rPr>
              <a:t>Tổng</a:t>
            </a:r>
            <a:r>
              <a:rPr sz="4400" dirty="0">
                <a:latin typeface="Aptos Display" panose="020B0004020202020204" pitchFamily="34" charset="0"/>
              </a:rPr>
              <a:t> </a:t>
            </a:r>
            <a:r>
              <a:rPr sz="4400" dirty="0" err="1">
                <a:latin typeface="Aptos Display" panose="020B0004020202020204" pitchFamily="34" charset="0"/>
              </a:rPr>
              <a:t>quan</a:t>
            </a:r>
            <a:r>
              <a:rPr sz="4400" dirty="0">
                <a:latin typeface="Aptos Display" panose="020B0004020202020204" pitchFamily="34" charset="0"/>
              </a:rPr>
              <a:t> </a:t>
            </a:r>
            <a:r>
              <a:rPr sz="4400" dirty="0" err="1">
                <a:latin typeface="Aptos Display" panose="020B0004020202020204" pitchFamily="34" charset="0"/>
              </a:rPr>
              <a:t>dữ</a:t>
            </a:r>
            <a:r>
              <a:rPr sz="4400" dirty="0">
                <a:latin typeface="Aptos Display" panose="020B0004020202020204" pitchFamily="34" charset="0"/>
              </a:rPr>
              <a:t> </a:t>
            </a:r>
            <a:r>
              <a:rPr sz="4400" dirty="0" err="1">
                <a:latin typeface="Aptos Display" panose="020B0004020202020204" pitchFamily="34" charset="0"/>
              </a:rPr>
              <a:t>liệu</a:t>
            </a:r>
            <a:endParaRPr sz="4400" dirty="0">
              <a:latin typeface="Aptos Display" panose="020B0004020202020204" pitchFamily="34" charset="0"/>
            </a:endParaRPr>
          </a:p>
        </p:txBody>
      </p:sp>
      <p:sp>
        <p:nvSpPr>
          <p:cNvPr id="4" name="Picture Placeholder 3"/>
          <p:cNvSpPr>
            <a:spLocks noGrp="1"/>
          </p:cNvSpPr>
          <p:nvPr>
            <p:ph type="pic" idx="4294967295"/>
          </p:nvPr>
        </p:nvSpPr>
        <p:spPr>
          <a:xfrm>
            <a:off x="309485" y="1432635"/>
            <a:ext cx="8525029" cy="3710865"/>
          </a:xfrm>
          <a:noFill/>
          <a:ln>
            <a:noFill/>
          </a:ln>
        </p:spPr>
        <p:txBody>
          <a:bodyPr/>
          <a:lstStyle/>
          <a:p>
            <a:pPr marL="0" indent="0" algn="l" rtl="0">
              <a:buClr>
                <a:schemeClr val="dk1"/>
              </a:buClr>
              <a:buSzPts val="1200"/>
              <a:buNone/>
            </a:pPr>
            <a:r>
              <a:rPr lang="vi-VN" sz="2500" dirty="0">
                <a:solidFill>
                  <a:schemeClr val="dk1"/>
                </a:solidFill>
                <a:latin typeface="Century" panose="02040604050505020304" pitchFamily="18" charset="0"/>
                <a:sym typeface="Didact Gothic"/>
              </a:rPr>
              <a:t>Mỗi record</a:t>
            </a:r>
            <a:r>
              <a:rPr lang="en-US" sz="2500" dirty="0">
                <a:solidFill>
                  <a:schemeClr val="dk1"/>
                </a:solidFill>
                <a:latin typeface="Century" panose="02040604050505020304" pitchFamily="18" charset="0"/>
                <a:sym typeface="Didact Gothic"/>
              </a:rPr>
              <a:t> </a:t>
            </a:r>
            <a:r>
              <a:rPr lang="vi-VN" sz="2500" dirty="0">
                <a:solidFill>
                  <a:schemeClr val="dk1"/>
                </a:solidFill>
                <a:latin typeface="Century" panose="02040604050505020304" pitchFamily="18" charset="0"/>
                <a:sym typeface="Didact Gothic"/>
              </a:rPr>
              <a:t>chứa thông tin</a:t>
            </a:r>
            <a:r>
              <a:rPr lang="en-US" sz="2500" dirty="0">
                <a:solidFill>
                  <a:schemeClr val="dk1"/>
                </a:solidFill>
                <a:latin typeface="Century" panose="02040604050505020304" pitchFamily="18" charset="0"/>
                <a:sym typeface="Didact Gothic"/>
              </a:rPr>
              <a:t>:</a:t>
            </a:r>
            <a:r>
              <a:rPr lang="vi-VN" sz="2500" dirty="0">
                <a:solidFill>
                  <a:schemeClr val="dk1"/>
                </a:solidFill>
                <a:latin typeface="Century" panose="02040604050505020304" pitchFamily="18" charset="0"/>
                <a:sym typeface="Didact Gothic"/>
              </a:rPr>
              <a:t> </a:t>
            </a:r>
            <a:endParaRPr lang="en-US" sz="2500" dirty="0">
              <a:solidFill>
                <a:schemeClr val="dk1"/>
              </a:solidFill>
              <a:latin typeface="Century" panose="02040604050505020304" pitchFamily="18" charset="0"/>
              <a:sym typeface="Didact Gothic"/>
            </a:endParaRPr>
          </a:p>
          <a:p>
            <a:pPr marL="342900" indent="-342900"/>
            <a:r>
              <a:rPr lang="en-US" sz="2500" dirty="0">
                <a:solidFill>
                  <a:schemeClr val="dk1"/>
                </a:solidFill>
                <a:latin typeface="Century" panose="02040604050505020304" pitchFamily="18" charset="0"/>
                <a:sym typeface="Didact Gothic"/>
              </a:rPr>
              <a:t>T</a:t>
            </a:r>
            <a:r>
              <a:rPr lang="vi-VN" sz="2500" dirty="0">
                <a:solidFill>
                  <a:schemeClr val="dk1"/>
                </a:solidFill>
                <a:latin typeface="Century" panose="02040604050505020304" pitchFamily="18" charset="0"/>
                <a:sym typeface="Didact Gothic"/>
              </a:rPr>
              <a:t>hời điểm mua hàng, </a:t>
            </a:r>
            <a:endParaRPr lang="en-US" sz="2500" dirty="0">
              <a:solidFill>
                <a:schemeClr val="dk1"/>
              </a:solidFill>
              <a:latin typeface="Century" panose="02040604050505020304" pitchFamily="18" charset="0"/>
              <a:sym typeface="Didact Gothic"/>
            </a:endParaRPr>
          </a:p>
          <a:p>
            <a:pPr marL="342900" indent="-342900"/>
            <a:r>
              <a:rPr lang="en-US" sz="2500" dirty="0">
                <a:solidFill>
                  <a:schemeClr val="dk1"/>
                </a:solidFill>
                <a:latin typeface="Century" panose="02040604050505020304" pitchFamily="18" charset="0"/>
                <a:sym typeface="Didact Gothic"/>
              </a:rPr>
              <a:t>M</a:t>
            </a:r>
            <a:r>
              <a:rPr lang="vi-VN" sz="2500" dirty="0">
                <a:solidFill>
                  <a:schemeClr val="dk1"/>
                </a:solidFill>
                <a:latin typeface="Century" panose="02040604050505020304" pitchFamily="18" charset="0"/>
                <a:sym typeface="Didact Gothic"/>
              </a:rPr>
              <a:t>ã và mô tả sản phẩm,</a:t>
            </a:r>
            <a:r>
              <a:rPr lang="en-US" sz="2500" dirty="0">
                <a:solidFill>
                  <a:schemeClr val="dk1"/>
                </a:solidFill>
                <a:latin typeface="Century" panose="02040604050505020304" pitchFamily="18" charset="0"/>
                <a:sym typeface="Didact Gothic"/>
              </a:rPr>
              <a:t> </a:t>
            </a:r>
            <a:r>
              <a:rPr lang="vi-VN" sz="2500" dirty="0">
                <a:solidFill>
                  <a:schemeClr val="dk1"/>
                </a:solidFill>
                <a:latin typeface="Century" panose="02040604050505020304" pitchFamily="18" charset="0"/>
                <a:sym typeface="Didact Gothic"/>
              </a:rPr>
              <a:t>số lượng, </a:t>
            </a:r>
            <a:endParaRPr lang="en-US" sz="2500" dirty="0">
              <a:solidFill>
                <a:schemeClr val="dk1"/>
              </a:solidFill>
              <a:latin typeface="Century" panose="02040604050505020304" pitchFamily="18" charset="0"/>
              <a:sym typeface="Didact Gothic"/>
            </a:endParaRPr>
          </a:p>
          <a:p>
            <a:pPr marL="342900" indent="-342900"/>
            <a:r>
              <a:rPr lang="en-US" sz="2500" dirty="0">
                <a:latin typeface="Century" panose="02040604050505020304" pitchFamily="18" charset="0"/>
              </a:rPr>
              <a:t>Đ</a:t>
            </a:r>
            <a:r>
              <a:rPr lang="vi-VN" sz="2500" dirty="0">
                <a:solidFill>
                  <a:schemeClr val="dk1"/>
                </a:solidFill>
                <a:latin typeface="Century" panose="02040604050505020304" pitchFamily="18" charset="0"/>
                <a:sym typeface="Didact Gothic"/>
              </a:rPr>
              <a:t>ơn giá</a:t>
            </a:r>
            <a:endParaRPr lang="en-US" sz="2500" dirty="0">
              <a:solidFill>
                <a:schemeClr val="dk1"/>
              </a:solidFill>
              <a:latin typeface="Century" panose="02040604050505020304" pitchFamily="18" charset="0"/>
              <a:sym typeface="Didact Gothic"/>
            </a:endParaRPr>
          </a:p>
          <a:p>
            <a:pPr marL="342900" indent="-342900"/>
            <a:r>
              <a:rPr lang="en-US" sz="2500" dirty="0">
                <a:solidFill>
                  <a:schemeClr val="dk1"/>
                </a:solidFill>
                <a:latin typeface="Century" panose="02040604050505020304" pitchFamily="18" charset="0"/>
                <a:sym typeface="Didact Gothic"/>
              </a:rPr>
              <a:t>T</a:t>
            </a:r>
            <a:r>
              <a:rPr lang="vi-VN" sz="2500" dirty="0">
                <a:solidFill>
                  <a:schemeClr val="dk1"/>
                </a:solidFill>
                <a:latin typeface="Century" panose="02040604050505020304" pitchFamily="18" charset="0"/>
                <a:sym typeface="Didact Gothic"/>
              </a:rPr>
              <a:t>ổng giá trị giao dịch</a:t>
            </a:r>
            <a:endParaRPr lang="en-US" sz="2500" dirty="0">
              <a:solidFill>
                <a:schemeClr val="dk1"/>
              </a:solidFill>
              <a:latin typeface="Century" panose="02040604050505020304" pitchFamily="18" charset="0"/>
              <a:sym typeface="Didact Gothic"/>
            </a:endParaRPr>
          </a:p>
          <a:p>
            <a:pPr marL="342900" indent="-342900"/>
            <a:r>
              <a:rPr lang="en-US" sz="2500" dirty="0">
                <a:latin typeface="Century" panose="02040604050505020304" pitchFamily="18" charset="0"/>
              </a:rPr>
              <a:t>Đ</a:t>
            </a:r>
            <a:r>
              <a:rPr lang="vi-VN" sz="2500" dirty="0">
                <a:solidFill>
                  <a:schemeClr val="dk1"/>
                </a:solidFill>
                <a:latin typeface="Century" panose="02040604050505020304" pitchFamily="18" charset="0"/>
                <a:sym typeface="Didact Gothic"/>
              </a:rPr>
              <a:t>ịnh danh khách hàng</a:t>
            </a:r>
            <a:r>
              <a:rPr lang="en-US" sz="2500" dirty="0">
                <a:solidFill>
                  <a:schemeClr val="dk1"/>
                </a:solidFill>
                <a:latin typeface="Century" panose="02040604050505020304" pitchFamily="18" charset="0"/>
                <a:sym typeface="Didact Gothic"/>
              </a:rPr>
              <a:t> </a:t>
            </a:r>
            <a:r>
              <a:rPr lang="vi-VN" sz="2500" dirty="0">
                <a:solidFill>
                  <a:schemeClr val="dk1"/>
                </a:solidFill>
                <a:latin typeface="Century" panose="02040604050505020304" pitchFamily="18" charset="0"/>
                <a:sym typeface="Didact Gothic"/>
              </a:rPr>
              <a:t> </a:t>
            </a:r>
            <a:endParaRPr lang="en-US" sz="2500" dirty="0">
              <a:solidFill>
                <a:schemeClr val="dk1"/>
              </a:solidFill>
              <a:latin typeface="Century" panose="02040604050505020304" pitchFamily="18" charset="0"/>
              <a:sym typeface="Didact Gothic"/>
            </a:endParaRPr>
          </a:p>
          <a:p>
            <a:pPr marL="342900" indent="-342900"/>
            <a:r>
              <a:rPr lang="en-US" sz="2500" dirty="0">
                <a:solidFill>
                  <a:schemeClr val="dk1"/>
                </a:solidFill>
                <a:latin typeface="Century" panose="02040604050505020304" pitchFamily="18" charset="0"/>
                <a:sym typeface="Didact Gothic"/>
              </a:rPr>
              <a:t>Q</a:t>
            </a:r>
            <a:r>
              <a:rPr lang="vi-VN" sz="2500" dirty="0">
                <a:solidFill>
                  <a:schemeClr val="dk1"/>
                </a:solidFill>
                <a:latin typeface="Century" panose="02040604050505020304" pitchFamily="18" charset="0"/>
                <a:sym typeface="Didact Gothic"/>
              </a:rPr>
              <a:t>uốc gia phát sinh giao dịch</a:t>
            </a:r>
            <a:endParaRPr lang="en-US" sz="2500" dirty="0">
              <a:solidFill>
                <a:schemeClr val="dk1"/>
              </a:solidFill>
              <a:latin typeface="Century" panose="02040604050505020304" pitchFamily="18" charset="0"/>
              <a:sym typeface="Didact Gothic"/>
            </a:endParaRPr>
          </a:p>
          <a:p>
            <a:pPr marL="0" indent="0" algn="l" rtl="0">
              <a:buClr>
                <a:schemeClr val="dk1"/>
              </a:buClr>
              <a:buSzPts val="1200"/>
              <a:buNone/>
            </a:pPr>
            <a:endParaRPr lang="en-US" sz="2500" dirty="0">
              <a:latin typeface="Century" panose="020406040505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A348979-655D-C57D-4CD0-85E8D99152EB}"/>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AAA1BC0-542A-A5AF-5AD0-C4CC2059EFC9}"/>
              </a:ext>
            </a:extLst>
          </p:cNvPr>
          <p:cNvSpPr>
            <a:spLocks noGrp="1"/>
          </p:cNvSpPr>
          <p:nvPr>
            <p:ph type="title"/>
          </p:nvPr>
        </p:nvSpPr>
        <p:spPr>
          <a:xfrm>
            <a:off x="806265" y="539500"/>
            <a:ext cx="7285313" cy="572700"/>
          </a:xfrm>
          <a:noFill/>
          <a:ln>
            <a:noFill/>
          </a:ln>
        </p:spPr>
        <p:txBody>
          <a:bodyPr spcFirstLastPara="1" wrap="square" lIns="91425" tIns="91425" rIns="91425" bIns="91425" anchor="t" anchorCtr="0">
            <a:noAutofit/>
          </a:bodyPr>
          <a:lstStyle/>
          <a:p>
            <a:pPr algn="ctr">
              <a:buSzPts val="2800"/>
            </a:pPr>
            <a:r>
              <a:rPr sz="4400" dirty="0">
                <a:latin typeface="Aptos Display" panose="020B0004020202020204" pitchFamily="34" charset="0"/>
              </a:rPr>
              <a:t>3. </a:t>
            </a:r>
            <a:r>
              <a:rPr lang="en-US" sz="4400" dirty="0">
                <a:latin typeface="Aptos Display" panose="020B0004020202020204" pitchFamily="34" charset="0"/>
              </a:rPr>
              <a:t>1.</a:t>
            </a:r>
            <a:r>
              <a:rPr sz="4400" dirty="0">
                <a:latin typeface="Aptos Display" panose="020B0004020202020204" pitchFamily="34" charset="0"/>
              </a:rPr>
              <a:t> </a:t>
            </a:r>
            <a:r>
              <a:rPr sz="4400" dirty="0" err="1">
                <a:latin typeface="Aptos Display" panose="020B0004020202020204" pitchFamily="34" charset="0"/>
              </a:rPr>
              <a:t>Tổng</a:t>
            </a:r>
            <a:r>
              <a:rPr sz="4400" dirty="0">
                <a:latin typeface="Aptos Display" panose="020B0004020202020204" pitchFamily="34" charset="0"/>
              </a:rPr>
              <a:t> </a:t>
            </a:r>
            <a:r>
              <a:rPr sz="4400" dirty="0" err="1">
                <a:latin typeface="Aptos Display" panose="020B0004020202020204" pitchFamily="34" charset="0"/>
              </a:rPr>
              <a:t>quan</a:t>
            </a:r>
            <a:r>
              <a:rPr sz="4400" dirty="0">
                <a:latin typeface="Aptos Display" panose="020B0004020202020204" pitchFamily="34" charset="0"/>
              </a:rPr>
              <a:t> </a:t>
            </a:r>
            <a:r>
              <a:rPr sz="4400" dirty="0" err="1">
                <a:latin typeface="Aptos Display" panose="020B0004020202020204" pitchFamily="34" charset="0"/>
              </a:rPr>
              <a:t>dữ</a:t>
            </a:r>
            <a:r>
              <a:rPr sz="4400" dirty="0">
                <a:latin typeface="Aptos Display" panose="020B0004020202020204" pitchFamily="34" charset="0"/>
              </a:rPr>
              <a:t> </a:t>
            </a:r>
            <a:r>
              <a:rPr sz="4400" dirty="0" err="1">
                <a:latin typeface="Aptos Display" panose="020B0004020202020204" pitchFamily="34" charset="0"/>
              </a:rPr>
              <a:t>liệu</a:t>
            </a:r>
            <a:endParaRPr sz="4400" dirty="0">
              <a:latin typeface="Aptos Display" panose="020B0004020202020204" pitchFamily="34" charset="0"/>
            </a:endParaRPr>
          </a:p>
        </p:txBody>
      </p:sp>
      <p:pic>
        <p:nvPicPr>
          <p:cNvPr id="5" name="Picture 4">
            <a:extLst>
              <a:ext uri="{FF2B5EF4-FFF2-40B4-BE49-F238E27FC236}">
                <a16:creationId xmlns="" xmlns:a16="http://schemas.microsoft.com/office/drawing/2014/main" id="{C3D32452-D711-66D2-CE43-0FDF2816823A}"/>
              </a:ext>
            </a:extLst>
          </p:cNvPr>
          <p:cNvPicPr>
            <a:picLocks noChangeAspect="1"/>
          </p:cNvPicPr>
          <p:nvPr/>
        </p:nvPicPr>
        <p:blipFill>
          <a:blip r:embed="rId2"/>
          <a:stretch>
            <a:fillRect/>
          </a:stretch>
        </p:blipFill>
        <p:spPr>
          <a:xfrm>
            <a:off x="549508" y="1384520"/>
            <a:ext cx="8044983" cy="2966646"/>
          </a:xfrm>
          <a:prstGeom prst="rect">
            <a:avLst/>
          </a:prstGeom>
        </p:spPr>
      </p:pic>
      <p:sp>
        <p:nvSpPr>
          <p:cNvPr id="7" name="TextBox 6">
            <a:extLst>
              <a:ext uri="{FF2B5EF4-FFF2-40B4-BE49-F238E27FC236}">
                <a16:creationId xmlns="" xmlns:a16="http://schemas.microsoft.com/office/drawing/2014/main" id="{213AB704-4D04-56BA-E785-48A553E0AF6B}"/>
              </a:ext>
            </a:extLst>
          </p:cNvPr>
          <p:cNvSpPr txBox="1"/>
          <p:nvPr/>
        </p:nvSpPr>
        <p:spPr>
          <a:xfrm>
            <a:off x="806265" y="4234668"/>
            <a:ext cx="7788226" cy="584775"/>
          </a:xfrm>
          <a:prstGeom prst="rect">
            <a:avLst/>
          </a:prstGeom>
          <a:noFill/>
        </p:spPr>
        <p:txBody>
          <a:bodyPr wrap="square">
            <a:spAutoFit/>
          </a:bodyPr>
          <a:lstStyle/>
          <a:p>
            <a:r>
              <a:rPr lang="vi-VN" sz="1600" dirty="0"/>
              <a:t>Hình 1. Số lượng giao dịch theo ngày trong bộ dữ liệu Online Retail, cho thấy mật độ dữ liệu theo thời gian và các khoảng biến động đáng chú ý.</a:t>
            </a:r>
            <a:endParaRPr lang="en-US" sz="1600" dirty="0"/>
          </a:p>
        </p:txBody>
      </p:sp>
    </p:spTree>
    <p:extLst>
      <p:ext uri="{BB962C8B-B14F-4D97-AF65-F5344CB8AC3E}">
        <p14:creationId xmlns="" xmlns:p14="http://schemas.microsoft.com/office/powerpoint/2010/main" val="2493341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367" y="539500"/>
            <a:ext cx="8305666" cy="572700"/>
          </a:xfrm>
          <a:noFill/>
          <a:ln>
            <a:noFill/>
          </a:ln>
        </p:spPr>
        <p:txBody>
          <a:bodyPr spcFirstLastPara="1" wrap="square" lIns="91425" tIns="91425" rIns="91425" bIns="91425" anchor="t" anchorCtr="0">
            <a:noAutofit/>
          </a:bodyPr>
          <a:lstStyle/>
          <a:p>
            <a:pPr algn="ctr">
              <a:buSzPts val="2800"/>
            </a:pPr>
            <a:r>
              <a:rPr sz="3600" dirty="0">
                <a:latin typeface="Aptos Display" panose="020B0004020202020204" pitchFamily="34" charset="0"/>
              </a:rPr>
              <a:t>Xu </a:t>
            </a:r>
            <a:r>
              <a:rPr sz="3600" dirty="0" err="1">
                <a:latin typeface="Aptos Display" panose="020B0004020202020204" pitchFamily="34" charset="0"/>
              </a:rPr>
              <a:t>hướng</a:t>
            </a:r>
            <a:r>
              <a:rPr sz="3600" dirty="0">
                <a:latin typeface="Aptos Display" panose="020B0004020202020204" pitchFamily="34" charset="0"/>
              </a:rPr>
              <a:t> </a:t>
            </a:r>
            <a:r>
              <a:rPr sz="3600" dirty="0" err="1">
                <a:latin typeface="Aptos Display" panose="020B0004020202020204" pitchFamily="34" charset="0"/>
              </a:rPr>
              <a:t>doanh</a:t>
            </a:r>
            <a:r>
              <a:rPr sz="3600" dirty="0">
                <a:latin typeface="Aptos Display" panose="020B0004020202020204" pitchFamily="34" charset="0"/>
              </a:rPr>
              <a:t> </a:t>
            </a:r>
            <a:r>
              <a:rPr sz="3600" dirty="0" err="1">
                <a:latin typeface="Aptos Display" panose="020B0004020202020204" pitchFamily="34" charset="0"/>
              </a:rPr>
              <a:t>thu</a:t>
            </a:r>
            <a:r>
              <a:rPr sz="3600" dirty="0">
                <a:latin typeface="Aptos Display" panose="020B0004020202020204" pitchFamily="34" charset="0"/>
              </a:rPr>
              <a:t> </a:t>
            </a:r>
            <a:r>
              <a:rPr sz="3600" dirty="0" err="1">
                <a:latin typeface="Aptos Display" panose="020B0004020202020204" pitchFamily="34" charset="0"/>
              </a:rPr>
              <a:t>theo</a:t>
            </a:r>
            <a:r>
              <a:rPr sz="3600" dirty="0">
                <a:latin typeface="Aptos Display" panose="020B0004020202020204" pitchFamily="34" charset="0"/>
              </a:rPr>
              <a:t> </a:t>
            </a:r>
            <a:r>
              <a:rPr sz="3600" dirty="0" err="1">
                <a:latin typeface="Aptos Display" panose="020B0004020202020204" pitchFamily="34" charset="0"/>
              </a:rPr>
              <a:t>thời</a:t>
            </a:r>
            <a:r>
              <a:rPr sz="3600" dirty="0">
                <a:latin typeface="Aptos Display" panose="020B0004020202020204" pitchFamily="34" charset="0"/>
              </a:rPr>
              <a:t> </a:t>
            </a:r>
            <a:r>
              <a:rPr sz="3600" dirty="0" err="1">
                <a:latin typeface="Aptos Display" panose="020B0004020202020204" pitchFamily="34" charset="0"/>
              </a:rPr>
              <a:t>gian</a:t>
            </a:r>
            <a:endParaRPr sz="3600" dirty="0">
              <a:latin typeface="Aptos Display" panose="020B0004020202020204" pitchFamily="34" charset="0"/>
            </a:endParaRPr>
          </a:p>
        </p:txBody>
      </p:sp>
      <p:sp>
        <p:nvSpPr>
          <p:cNvPr id="4" name="Picture Placeholder 3"/>
          <p:cNvSpPr>
            <a:spLocks noGrp="1"/>
          </p:cNvSpPr>
          <p:nvPr>
            <p:ph type="pic" idx="4294967295"/>
          </p:nvPr>
        </p:nvSpPr>
        <p:spPr>
          <a:xfrm>
            <a:off x="516367" y="1389605"/>
            <a:ext cx="8179059" cy="2515421"/>
          </a:xfrm>
          <a:noFill/>
          <a:ln>
            <a:noFill/>
          </a:ln>
        </p:spPr>
        <p:txBody>
          <a:bodyPr/>
          <a:lstStyle/>
          <a:p>
            <a:pPr marL="0" indent="0" algn="l" rtl="0">
              <a:buClr>
                <a:schemeClr val="dk1"/>
              </a:buClr>
              <a:buSzPts val="1200"/>
              <a:buNone/>
            </a:pPr>
            <a:r>
              <a:rPr sz="2500" dirty="0">
                <a:solidFill>
                  <a:schemeClr val="dk1"/>
                </a:solidFill>
                <a:latin typeface="+mn-lt"/>
                <a:sym typeface="Didact Gothic"/>
              </a:rPr>
              <a:t>Doanh </a:t>
            </a:r>
            <a:r>
              <a:rPr sz="2500" dirty="0" err="1">
                <a:solidFill>
                  <a:schemeClr val="dk1"/>
                </a:solidFill>
                <a:latin typeface="+mn-lt"/>
                <a:sym typeface="Didact Gothic"/>
              </a:rPr>
              <a:t>thu</a:t>
            </a:r>
            <a:r>
              <a:rPr sz="2500" dirty="0">
                <a:solidFill>
                  <a:schemeClr val="dk1"/>
                </a:solidFill>
                <a:latin typeface="+mn-lt"/>
                <a:sym typeface="Didact Gothic"/>
              </a:rPr>
              <a:t> </a:t>
            </a:r>
            <a:r>
              <a:rPr sz="2500" dirty="0" err="1">
                <a:solidFill>
                  <a:schemeClr val="dk1"/>
                </a:solidFill>
                <a:latin typeface="+mn-lt"/>
                <a:sym typeface="Didact Gothic"/>
              </a:rPr>
              <a:t>có</a:t>
            </a:r>
            <a:r>
              <a:rPr sz="2500" dirty="0">
                <a:solidFill>
                  <a:schemeClr val="dk1"/>
                </a:solidFill>
                <a:latin typeface="+mn-lt"/>
                <a:sym typeface="Didact Gothic"/>
              </a:rPr>
              <a:t> xu </a:t>
            </a:r>
            <a:r>
              <a:rPr sz="2500" dirty="0" err="1">
                <a:solidFill>
                  <a:schemeClr val="dk1"/>
                </a:solidFill>
                <a:latin typeface="+mn-lt"/>
                <a:sym typeface="Didact Gothic"/>
              </a:rPr>
              <a:t>hướng</a:t>
            </a:r>
            <a:r>
              <a:rPr sz="2500" dirty="0">
                <a:solidFill>
                  <a:schemeClr val="dk1"/>
                </a:solidFill>
                <a:latin typeface="+mn-lt"/>
                <a:sym typeface="Didact Gothic"/>
              </a:rPr>
              <a:t> </a:t>
            </a:r>
            <a:r>
              <a:rPr sz="2500" dirty="0" err="1">
                <a:solidFill>
                  <a:schemeClr val="dk1"/>
                </a:solidFill>
                <a:latin typeface="+mn-lt"/>
                <a:sym typeface="Didact Gothic"/>
              </a:rPr>
              <a:t>tăng</a:t>
            </a:r>
            <a:r>
              <a:rPr sz="2500" dirty="0">
                <a:solidFill>
                  <a:schemeClr val="dk1"/>
                </a:solidFill>
                <a:latin typeface="+mn-lt"/>
                <a:sym typeface="Didact Gothic"/>
              </a:rPr>
              <a:t> </a:t>
            </a:r>
            <a:r>
              <a:rPr sz="2500" dirty="0" err="1">
                <a:solidFill>
                  <a:schemeClr val="dk1"/>
                </a:solidFill>
                <a:latin typeface="+mn-lt"/>
                <a:sym typeface="Didact Gothic"/>
              </a:rPr>
              <a:t>trưởng</a:t>
            </a:r>
            <a:r>
              <a:rPr sz="2500" dirty="0">
                <a:solidFill>
                  <a:schemeClr val="dk1"/>
                </a:solidFill>
                <a:latin typeface="+mn-lt"/>
                <a:sym typeface="Didact Gothic"/>
              </a:rPr>
              <a:t> </a:t>
            </a:r>
            <a:r>
              <a:rPr sz="2500" dirty="0" err="1">
                <a:solidFill>
                  <a:schemeClr val="dk1"/>
                </a:solidFill>
                <a:latin typeface="+mn-lt"/>
                <a:sym typeface="Didact Gothic"/>
              </a:rPr>
              <a:t>theo</a:t>
            </a:r>
            <a:r>
              <a:rPr sz="2500" dirty="0">
                <a:solidFill>
                  <a:schemeClr val="dk1"/>
                </a:solidFill>
                <a:latin typeface="+mn-lt"/>
                <a:sym typeface="Didact Gothic"/>
              </a:rPr>
              <a:t> </a:t>
            </a:r>
            <a:r>
              <a:rPr sz="2500" dirty="0" err="1">
                <a:solidFill>
                  <a:schemeClr val="dk1"/>
                </a:solidFill>
                <a:latin typeface="+mn-lt"/>
                <a:sym typeface="Didact Gothic"/>
              </a:rPr>
              <a:t>thời</a:t>
            </a:r>
            <a:r>
              <a:rPr sz="2500" dirty="0">
                <a:solidFill>
                  <a:schemeClr val="dk1"/>
                </a:solidFill>
                <a:latin typeface="+mn-lt"/>
                <a:sym typeface="Didact Gothic"/>
              </a:rPr>
              <a:t> </a:t>
            </a:r>
            <a:r>
              <a:rPr sz="2500" dirty="0" err="1">
                <a:solidFill>
                  <a:schemeClr val="dk1"/>
                </a:solidFill>
                <a:latin typeface="+mn-lt"/>
                <a:sym typeface="Didact Gothic"/>
              </a:rPr>
              <a:t>gian</a:t>
            </a:r>
            <a:r>
              <a:rPr sz="2500" dirty="0">
                <a:solidFill>
                  <a:schemeClr val="dk1"/>
                </a:solidFill>
                <a:latin typeface="+mn-lt"/>
                <a:sym typeface="Didact Gothic"/>
              </a:rPr>
              <a:t>, </a:t>
            </a:r>
            <a:r>
              <a:rPr sz="2500" dirty="0" err="1">
                <a:solidFill>
                  <a:schemeClr val="dk1"/>
                </a:solidFill>
                <a:latin typeface="+mn-lt"/>
                <a:sym typeface="Didact Gothic"/>
              </a:rPr>
              <a:t>đặc</a:t>
            </a:r>
            <a:r>
              <a:rPr sz="2500" dirty="0">
                <a:solidFill>
                  <a:schemeClr val="dk1"/>
                </a:solidFill>
                <a:latin typeface="+mn-lt"/>
                <a:sym typeface="Didact Gothic"/>
              </a:rPr>
              <a:t> </a:t>
            </a:r>
            <a:r>
              <a:rPr sz="2500" dirty="0" err="1">
                <a:solidFill>
                  <a:schemeClr val="dk1"/>
                </a:solidFill>
                <a:latin typeface="+mn-lt"/>
                <a:sym typeface="Didact Gothic"/>
              </a:rPr>
              <a:t>biệt</a:t>
            </a:r>
            <a:r>
              <a:rPr sz="2500" dirty="0">
                <a:solidFill>
                  <a:schemeClr val="dk1"/>
                </a:solidFill>
                <a:latin typeface="+mn-lt"/>
                <a:sym typeface="Didact Gothic"/>
              </a:rPr>
              <a:t> </a:t>
            </a:r>
            <a:r>
              <a:rPr sz="2500" dirty="0" err="1">
                <a:solidFill>
                  <a:schemeClr val="dk1"/>
                </a:solidFill>
                <a:latin typeface="+mn-lt"/>
                <a:sym typeface="Didact Gothic"/>
              </a:rPr>
              <a:t>rõ</a:t>
            </a:r>
            <a:r>
              <a:rPr sz="2500" dirty="0">
                <a:solidFill>
                  <a:schemeClr val="dk1"/>
                </a:solidFill>
                <a:latin typeface="+mn-lt"/>
                <a:sym typeface="Didact Gothic"/>
              </a:rPr>
              <a:t> </a:t>
            </a:r>
            <a:r>
              <a:rPr sz="2500" dirty="0" err="1">
                <a:solidFill>
                  <a:schemeClr val="dk1"/>
                </a:solidFill>
                <a:latin typeface="+mn-lt"/>
                <a:sym typeface="Didact Gothic"/>
              </a:rPr>
              <a:t>rệt</a:t>
            </a:r>
            <a:r>
              <a:rPr sz="2500" dirty="0">
                <a:solidFill>
                  <a:schemeClr val="dk1"/>
                </a:solidFill>
                <a:latin typeface="+mn-lt"/>
                <a:sym typeface="Didact Gothic"/>
              </a:rPr>
              <a:t> </a:t>
            </a:r>
            <a:r>
              <a:rPr sz="2500" dirty="0" err="1">
                <a:solidFill>
                  <a:schemeClr val="dk1"/>
                </a:solidFill>
                <a:latin typeface="+mn-lt"/>
                <a:sym typeface="Didact Gothic"/>
              </a:rPr>
              <a:t>vào</a:t>
            </a:r>
            <a:r>
              <a:rPr sz="2500" dirty="0">
                <a:solidFill>
                  <a:schemeClr val="dk1"/>
                </a:solidFill>
                <a:latin typeface="+mn-lt"/>
                <a:sym typeface="Didact Gothic"/>
              </a:rPr>
              <a:t> </a:t>
            </a:r>
            <a:r>
              <a:rPr sz="2500" dirty="0" err="1">
                <a:solidFill>
                  <a:schemeClr val="dk1"/>
                </a:solidFill>
                <a:latin typeface="+mn-lt"/>
                <a:sym typeface="Didact Gothic"/>
              </a:rPr>
              <a:t>các</a:t>
            </a:r>
            <a:r>
              <a:rPr sz="2500" dirty="0">
                <a:solidFill>
                  <a:schemeClr val="dk1"/>
                </a:solidFill>
                <a:latin typeface="+mn-lt"/>
                <a:sym typeface="Didact Gothic"/>
              </a:rPr>
              <a:t> </a:t>
            </a:r>
            <a:r>
              <a:rPr sz="2500" dirty="0" err="1">
                <a:solidFill>
                  <a:schemeClr val="dk1"/>
                </a:solidFill>
                <a:latin typeface="+mn-lt"/>
                <a:sym typeface="Didact Gothic"/>
              </a:rPr>
              <a:t>giai</a:t>
            </a:r>
            <a:r>
              <a:rPr sz="2500" dirty="0">
                <a:solidFill>
                  <a:schemeClr val="dk1"/>
                </a:solidFill>
                <a:latin typeface="+mn-lt"/>
                <a:sym typeface="Didact Gothic"/>
              </a:rPr>
              <a:t> </a:t>
            </a:r>
            <a:r>
              <a:rPr sz="2500" dirty="0" err="1">
                <a:solidFill>
                  <a:schemeClr val="dk1"/>
                </a:solidFill>
                <a:latin typeface="+mn-lt"/>
                <a:sym typeface="Didact Gothic"/>
              </a:rPr>
              <a:t>đoạn</a:t>
            </a:r>
            <a:r>
              <a:rPr sz="2500" dirty="0">
                <a:solidFill>
                  <a:schemeClr val="dk1"/>
                </a:solidFill>
                <a:latin typeface="+mn-lt"/>
                <a:sym typeface="Didact Gothic"/>
              </a:rPr>
              <a:t> </a:t>
            </a:r>
            <a:r>
              <a:rPr sz="2500" dirty="0" err="1">
                <a:solidFill>
                  <a:schemeClr val="dk1"/>
                </a:solidFill>
                <a:latin typeface="+mn-lt"/>
                <a:sym typeface="Didact Gothic"/>
              </a:rPr>
              <a:t>cuối</a:t>
            </a:r>
            <a:r>
              <a:rPr sz="2500" dirty="0">
                <a:solidFill>
                  <a:schemeClr val="dk1"/>
                </a:solidFill>
                <a:latin typeface="+mn-lt"/>
                <a:sym typeface="Didact Gothic"/>
              </a:rPr>
              <a:t> </a:t>
            </a:r>
            <a:r>
              <a:rPr sz="2500" dirty="0" err="1">
                <a:solidFill>
                  <a:schemeClr val="dk1"/>
                </a:solidFill>
                <a:latin typeface="+mn-lt"/>
                <a:sym typeface="Didact Gothic"/>
              </a:rPr>
              <a:t>năm</a:t>
            </a:r>
            <a:r>
              <a:rPr sz="2500" dirty="0">
                <a:solidFill>
                  <a:schemeClr val="dk1"/>
                </a:solidFill>
                <a:latin typeface="+mn-lt"/>
                <a:sym typeface="Didact Gothic"/>
              </a:rPr>
              <a:t>. </a:t>
            </a:r>
            <a:endParaRPr lang="en-US" sz="2500" dirty="0">
              <a:solidFill>
                <a:schemeClr val="dk1"/>
              </a:solidFill>
              <a:latin typeface="+mn-lt"/>
              <a:sym typeface="Didact Gothic"/>
            </a:endParaRPr>
          </a:p>
          <a:p>
            <a:pPr marL="0" indent="0" algn="l" rtl="0">
              <a:buClr>
                <a:schemeClr val="dk1"/>
              </a:buClr>
              <a:buSzPts val="1200"/>
              <a:buNone/>
            </a:pPr>
            <a:r>
              <a:rPr sz="2500" dirty="0">
                <a:solidFill>
                  <a:schemeClr val="dk1"/>
                </a:solidFill>
                <a:latin typeface="+mn-lt"/>
                <a:sym typeface="Didact Gothic"/>
              </a:rPr>
              <a:t>Tuy </a:t>
            </a:r>
            <a:r>
              <a:rPr sz="2500" dirty="0" err="1">
                <a:solidFill>
                  <a:schemeClr val="dk1"/>
                </a:solidFill>
                <a:latin typeface="+mn-lt"/>
                <a:sym typeface="Didact Gothic"/>
              </a:rPr>
              <a:t>nhiên</a:t>
            </a:r>
            <a:r>
              <a:rPr sz="2500" dirty="0">
                <a:solidFill>
                  <a:schemeClr val="dk1"/>
                </a:solidFill>
                <a:latin typeface="+mn-lt"/>
                <a:sym typeface="Didact Gothic"/>
              </a:rPr>
              <a:t>, </a:t>
            </a:r>
            <a:r>
              <a:rPr sz="2500" dirty="0" err="1">
                <a:solidFill>
                  <a:schemeClr val="dk1"/>
                </a:solidFill>
                <a:latin typeface="+mn-lt"/>
                <a:sym typeface="Didact Gothic"/>
              </a:rPr>
              <a:t>chuỗi</a:t>
            </a:r>
            <a:r>
              <a:rPr sz="2500" dirty="0">
                <a:solidFill>
                  <a:schemeClr val="dk1"/>
                </a:solidFill>
                <a:latin typeface="+mn-lt"/>
                <a:sym typeface="Didact Gothic"/>
              </a:rPr>
              <a:t> </a:t>
            </a:r>
            <a:r>
              <a:rPr sz="2500" dirty="0" err="1">
                <a:solidFill>
                  <a:schemeClr val="dk1"/>
                </a:solidFill>
                <a:latin typeface="+mn-lt"/>
                <a:sym typeface="Didact Gothic"/>
              </a:rPr>
              <a:t>doanh</a:t>
            </a:r>
            <a:r>
              <a:rPr sz="2500" dirty="0">
                <a:solidFill>
                  <a:schemeClr val="dk1"/>
                </a:solidFill>
                <a:latin typeface="+mn-lt"/>
                <a:sym typeface="Didact Gothic"/>
              </a:rPr>
              <a:t> </a:t>
            </a:r>
            <a:r>
              <a:rPr sz="2500" dirty="0" err="1">
                <a:solidFill>
                  <a:schemeClr val="dk1"/>
                </a:solidFill>
                <a:latin typeface="+mn-lt"/>
                <a:sym typeface="Didact Gothic"/>
              </a:rPr>
              <a:t>thu</a:t>
            </a:r>
            <a:r>
              <a:rPr sz="2500" dirty="0">
                <a:solidFill>
                  <a:schemeClr val="dk1"/>
                </a:solidFill>
                <a:latin typeface="+mn-lt"/>
                <a:sym typeface="Didact Gothic"/>
              </a:rPr>
              <a:t> </a:t>
            </a:r>
            <a:r>
              <a:rPr sz="2500" dirty="0" err="1">
                <a:solidFill>
                  <a:schemeClr val="dk1"/>
                </a:solidFill>
                <a:latin typeface="+mn-lt"/>
                <a:sym typeface="Didact Gothic"/>
              </a:rPr>
              <a:t>tồn</a:t>
            </a:r>
            <a:r>
              <a:rPr sz="2500" dirty="0">
                <a:solidFill>
                  <a:schemeClr val="dk1"/>
                </a:solidFill>
                <a:latin typeface="+mn-lt"/>
                <a:sym typeface="Didact Gothic"/>
              </a:rPr>
              <a:t> </a:t>
            </a:r>
            <a:r>
              <a:rPr sz="2500" dirty="0" err="1">
                <a:solidFill>
                  <a:schemeClr val="dk1"/>
                </a:solidFill>
                <a:latin typeface="+mn-lt"/>
                <a:sym typeface="Didact Gothic"/>
              </a:rPr>
              <a:t>tại</a:t>
            </a:r>
            <a:r>
              <a:rPr sz="2500" dirty="0">
                <a:solidFill>
                  <a:schemeClr val="dk1"/>
                </a:solidFill>
                <a:latin typeface="+mn-lt"/>
                <a:sym typeface="Didact Gothic"/>
              </a:rPr>
              <a:t> </a:t>
            </a:r>
            <a:r>
              <a:rPr sz="2500" dirty="0" err="1">
                <a:solidFill>
                  <a:schemeClr val="dk1"/>
                </a:solidFill>
                <a:latin typeface="+mn-lt"/>
                <a:sym typeface="Didact Gothic"/>
              </a:rPr>
              <a:t>nhiều</a:t>
            </a:r>
            <a:r>
              <a:rPr sz="2500" dirty="0">
                <a:solidFill>
                  <a:schemeClr val="dk1"/>
                </a:solidFill>
                <a:latin typeface="+mn-lt"/>
                <a:sym typeface="Didact Gothic"/>
              </a:rPr>
              <a:t> </a:t>
            </a:r>
            <a:r>
              <a:rPr lang="en-US" sz="2500" dirty="0" err="1">
                <a:latin typeface="+mn-lt"/>
              </a:rPr>
              <a:t>biến</a:t>
            </a:r>
            <a:r>
              <a:rPr sz="2500" dirty="0">
                <a:solidFill>
                  <a:schemeClr val="dk1"/>
                </a:solidFill>
                <a:latin typeface="+mn-lt"/>
                <a:sym typeface="Didact Gothic"/>
              </a:rPr>
              <a:t> </a:t>
            </a:r>
            <a:r>
              <a:rPr sz="2500" dirty="0" err="1">
                <a:solidFill>
                  <a:schemeClr val="dk1"/>
                </a:solidFill>
                <a:latin typeface="+mn-lt"/>
                <a:sym typeface="Didact Gothic"/>
              </a:rPr>
              <a:t>động</a:t>
            </a:r>
            <a:r>
              <a:rPr sz="2500" dirty="0">
                <a:solidFill>
                  <a:schemeClr val="dk1"/>
                </a:solidFill>
                <a:latin typeface="+mn-lt"/>
                <a:sym typeface="Didact Gothic"/>
              </a:rPr>
              <a:t> do </a:t>
            </a:r>
            <a:r>
              <a:rPr sz="2500" dirty="0" err="1">
                <a:solidFill>
                  <a:schemeClr val="dk1"/>
                </a:solidFill>
                <a:latin typeface="+mn-lt"/>
                <a:sym typeface="Didact Gothic"/>
              </a:rPr>
              <a:t>ảnh</a:t>
            </a:r>
            <a:r>
              <a:rPr sz="2500" dirty="0">
                <a:solidFill>
                  <a:schemeClr val="dk1"/>
                </a:solidFill>
                <a:latin typeface="+mn-lt"/>
                <a:sym typeface="Didact Gothic"/>
              </a:rPr>
              <a:t> </a:t>
            </a:r>
            <a:r>
              <a:rPr sz="2500" dirty="0" err="1">
                <a:solidFill>
                  <a:schemeClr val="dk1"/>
                </a:solidFill>
                <a:latin typeface="+mn-lt"/>
                <a:sym typeface="Didact Gothic"/>
              </a:rPr>
              <a:t>hưởng</a:t>
            </a:r>
            <a:r>
              <a:rPr sz="2500" dirty="0">
                <a:solidFill>
                  <a:schemeClr val="dk1"/>
                </a:solidFill>
                <a:latin typeface="+mn-lt"/>
                <a:sym typeface="Didact Gothic"/>
              </a:rPr>
              <a:t> </a:t>
            </a:r>
            <a:r>
              <a:rPr sz="2500" dirty="0" err="1">
                <a:solidFill>
                  <a:schemeClr val="dk1"/>
                </a:solidFill>
                <a:latin typeface="+mn-lt"/>
                <a:sym typeface="Didact Gothic"/>
              </a:rPr>
              <a:t>của</a:t>
            </a:r>
            <a:r>
              <a:rPr sz="2500" dirty="0">
                <a:solidFill>
                  <a:schemeClr val="dk1"/>
                </a:solidFill>
                <a:latin typeface="+mn-lt"/>
                <a:sym typeface="Didact Gothic"/>
              </a:rPr>
              <a:t> </a:t>
            </a:r>
            <a:r>
              <a:rPr sz="2500" dirty="0" err="1">
                <a:solidFill>
                  <a:schemeClr val="dk1"/>
                </a:solidFill>
                <a:latin typeface="+mn-lt"/>
                <a:sym typeface="Didact Gothic"/>
              </a:rPr>
              <a:t>yếu</a:t>
            </a:r>
            <a:r>
              <a:rPr sz="2500" dirty="0">
                <a:solidFill>
                  <a:schemeClr val="dk1"/>
                </a:solidFill>
                <a:latin typeface="+mn-lt"/>
                <a:sym typeface="Didact Gothic"/>
              </a:rPr>
              <a:t> </a:t>
            </a:r>
            <a:r>
              <a:rPr sz="2500" dirty="0" err="1">
                <a:solidFill>
                  <a:schemeClr val="dk1"/>
                </a:solidFill>
                <a:latin typeface="+mn-lt"/>
                <a:sym typeface="Didact Gothic"/>
              </a:rPr>
              <a:t>tố</a:t>
            </a:r>
            <a:r>
              <a:rPr sz="2500" dirty="0">
                <a:solidFill>
                  <a:schemeClr val="dk1"/>
                </a:solidFill>
                <a:latin typeface="+mn-lt"/>
                <a:sym typeface="Didact Gothic"/>
              </a:rPr>
              <a:t> </a:t>
            </a:r>
            <a:r>
              <a:rPr sz="2500" dirty="0" err="1">
                <a:solidFill>
                  <a:schemeClr val="dk1"/>
                </a:solidFill>
                <a:latin typeface="+mn-lt"/>
                <a:sym typeface="Didact Gothic"/>
              </a:rPr>
              <a:t>mùa</a:t>
            </a:r>
            <a:r>
              <a:rPr sz="2500" dirty="0">
                <a:solidFill>
                  <a:schemeClr val="dk1"/>
                </a:solidFill>
                <a:latin typeface="+mn-lt"/>
                <a:sym typeface="Didact Gothic"/>
              </a:rPr>
              <a:t> </a:t>
            </a:r>
            <a:r>
              <a:rPr sz="2500" dirty="0" err="1">
                <a:solidFill>
                  <a:schemeClr val="dk1"/>
                </a:solidFill>
                <a:latin typeface="+mn-lt"/>
                <a:sym typeface="Didact Gothic"/>
              </a:rPr>
              <a:t>vụ</a:t>
            </a:r>
            <a:r>
              <a:rPr sz="2500" dirty="0">
                <a:solidFill>
                  <a:schemeClr val="dk1"/>
                </a:solidFill>
                <a:latin typeface="+mn-lt"/>
                <a:sym typeface="Didact Gothic"/>
              </a:rPr>
              <a:t> </a:t>
            </a:r>
            <a:r>
              <a:rPr sz="2500" dirty="0" err="1">
                <a:solidFill>
                  <a:schemeClr val="dk1"/>
                </a:solidFill>
                <a:latin typeface="+mn-lt"/>
                <a:sym typeface="Didact Gothic"/>
              </a:rPr>
              <a:t>và</a:t>
            </a:r>
            <a:r>
              <a:rPr sz="2500" dirty="0">
                <a:solidFill>
                  <a:schemeClr val="dk1"/>
                </a:solidFill>
                <a:latin typeface="+mn-lt"/>
                <a:sym typeface="Didact Gothic"/>
              </a:rPr>
              <a:t> </a:t>
            </a:r>
            <a:r>
              <a:rPr sz="2500" dirty="0" err="1">
                <a:solidFill>
                  <a:schemeClr val="dk1"/>
                </a:solidFill>
                <a:latin typeface="+mn-lt"/>
                <a:sym typeface="Didact Gothic"/>
              </a:rPr>
              <a:t>các</a:t>
            </a:r>
            <a:r>
              <a:rPr sz="2500" dirty="0">
                <a:solidFill>
                  <a:schemeClr val="dk1"/>
                </a:solidFill>
                <a:latin typeface="+mn-lt"/>
                <a:sym typeface="Didact Gothic"/>
              </a:rPr>
              <a:t> </a:t>
            </a:r>
            <a:r>
              <a:rPr sz="2500" dirty="0" err="1">
                <a:solidFill>
                  <a:schemeClr val="dk1"/>
                </a:solidFill>
                <a:latin typeface="+mn-lt"/>
                <a:sym typeface="Didact Gothic"/>
              </a:rPr>
              <a:t>sự</a:t>
            </a:r>
            <a:r>
              <a:rPr sz="2500" dirty="0">
                <a:solidFill>
                  <a:schemeClr val="dk1"/>
                </a:solidFill>
                <a:latin typeface="+mn-lt"/>
                <a:sym typeface="Didact Gothic"/>
              </a:rPr>
              <a:t> </a:t>
            </a:r>
            <a:r>
              <a:rPr sz="2500" dirty="0" err="1">
                <a:solidFill>
                  <a:schemeClr val="dk1"/>
                </a:solidFill>
                <a:latin typeface="+mn-lt"/>
                <a:sym typeface="Didact Gothic"/>
              </a:rPr>
              <a:t>kiện</a:t>
            </a:r>
            <a:r>
              <a:rPr sz="2500" dirty="0">
                <a:solidFill>
                  <a:schemeClr val="dk1"/>
                </a:solidFill>
                <a:latin typeface="+mn-lt"/>
                <a:sym typeface="Didact Gothic"/>
              </a:rPr>
              <a:t> </a:t>
            </a:r>
            <a:r>
              <a:rPr lang="en-US" sz="2500" dirty="0" err="1">
                <a:solidFill>
                  <a:schemeClr val="dk1"/>
                </a:solidFill>
                <a:latin typeface="+mn-lt"/>
                <a:sym typeface="Didact Gothic"/>
              </a:rPr>
              <a:t>ngắn</a:t>
            </a:r>
            <a:r>
              <a:rPr lang="en-US" sz="2500" dirty="0">
                <a:solidFill>
                  <a:schemeClr val="dk1"/>
                </a:solidFill>
                <a:latin typeface="+mn-lt"/>
                <a:sym typeface="Didact Gothic"/>
              </a:rPr>
              <a:t> </a:t>
            </a:r>
            <a:r>
              <a:rPr lang="en-US" sz="2500" dirty="0" err="1">
                <a:solidFill>
                  <a:schemeClr val="dk1"/>
                </a:solidFill>
                <a:latin typeface="+mn-lt"/>
                <a:sym typeface="Didact Gothic"/>
              </a:rPr>
              <a:t>hạn</a:t>
            </a:r>
            <a:endParaRPr sz="2500" dirty="0">
              <a:solidFill>
                <a:schemeClr val="dk1"/>
              </a:solidFill>
              <a:latin typeface="+mn-lt"/>
              <a:sym typeface="Didact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pPr algn="ctr">
              <a:buSzPts val="2800"/>
            </a:pPr>
            <a:r>
              <a:rPr sz="3600" dirty="0" err="1">
                <a:latin typeface="Aptos Display" panose="020B0004020202020204" pitchFamily="34" charset="0"/>
              </a:rPr>
              <a:t>Làm</a:t>
            </a:r>
            <a:r>
              <a:rPr sz="3600" dirty="0">
                <a:latin typeface="Aptos Display" panose="020B0004020202020204" pitchFamily="34" charset="0"/>
              </a:rPr>
              <a:t> </a:t>
            </a:r>
            <a:r>
              <a:rPr sz="3600" dirty="0" err="1">
                <a:latin typeface="Aptos Display" panose="020B0004020202020204" pitchFamily="34" charset="0"/>
              </a:rPr>
              <a:t>trơn</a:t>
            </a:r>
            <a:r>
              <a:rPr sz="3600" dirty="0">
                <a:latin typeface="Aptos Display" panose="020B0004020202020204" pitchFamily="34" charset="0"/>
              </a:rPr>
              <a:t> &amp; </a:t>
            </a:r>
            <a:r>
              <a:rPr sz="3600" dirty="0" err="1">
                <a:latin typeface="Aptos Display" panose="020B0004020202020204" pitchFamily="34" charset="0"/>
              </a:rPr>
              <a:t>biến</a:t>
            </a:r>
            <a:r>
              <a:rPr sz="3600" dirty="0">
                <a:latin typeface="Aptos Display" panose="020B0004020202020204" pitchFamily="34" charset="0"/>
              </a:rPr>
              <a:t> </a:t>
            </a:r>
            <a:r>
              <a:rPr sz="3600" dirty="0" err="1">
                <a:latin typeface="Aptos Display" panose="020B0004020202020204" pitchFamily="34" charset="0"/>
              </a:rPr>
              <a:t>động</a:t>
            </a:r>
            <a:r>
              <a:rPr sz="3600" dirty="0">
                <a:latin typeface="Aptos Display" panose="020B0004020202020204" pitchFamily="34" charset="0"/>
              </a:rPr>
              <a:t> </a:t>
            </a:r>
            <a:r>
              <a:rPr sz="3600" dirty="0" err="1">
                <a:latin typeface="Aptos Display" panose="020B0004020202020204" pitchFamily="34" charset="0"/>
              </a:rPr>
              <a:t>doanh</a:t>
            </a:r>
            <a:r>
              <a:rPr sz="3600" dirty="0">
                <a:latin typeface="Aptos Display" panose="020B0004020202020204" pitchFamily="34" charset="0"/>
              </a:rPr>
              <a:t> </a:t>
            </a:r>
            <a:r>
              <a:rPr sz="3600" dirty="0" err="1">
                <a:latin typeface="Aptos Display" panose="020B0004020202020204" pitchFamily="34" charset="0"/>
              </a:rPr>
              <a:t>thu</a:t>
            </a:r>
            <a:endParaRPr sz="3600" dirty="0">
              <a:latin typeface="Aptos Display" panose="020B0004020202020204" pitchFamily="34" charset="0"/>
            </a:endParaRPr>
          </a:p>
        </p:txBody>
      </p:sp>
      <p:sp>
        <p:nvSpPr>
          <p:cNvPr id="4" name="Picture Placeholder 3"/>
          <p:cNvSpPr>
            <a:spLocks noGrp="1"/>
          </p:cNvSpPr>
          <p:nvPr>
            <p:ph type="pic" idx="4294967295"/>
          </p:nvPr>
        </p:nvSpPr>
        <p:spPr>
          <a:xfrm>
            <a:off x="570155" y="1378847"/>
            <a:ext cx="8003689" cy="1999054"/>
          </a:xfrm>
          <a:noFill/>
          <a:ln>
            <a:noFill/>
          </a:ln>
        </p:spPr>
        <p:txBody>
          <a:bodyPr/>
          <a:lstStyle/>
          <a:p>
            <a:pPr marL="0" indent="0" algn="l" rtl="0">
              <a:buClr>
                <a:schemeClr val="dk1"/>
              </a:buClr>
              <a:buSzPts val="1200"/>
              <a:buNone/>
            </a:pPr>
            <a:r>
              <a:rPr sz="2500" dirty="0" err="1">
                <a:solidFill>
                  <a:schemeClr val="dk1"/>
                </a:solidFill>
                <a:latin typeface="+mn-lt"/>
                <a:sym typeface="Didact Gothic"/>
              </a:rPr>
              <a:t>Đường</a:t>
            </a:r>
            <a:r>
              <a:rPr sz="2500" dirty="0">
                <a:solidFill>
                  <a:schemeClr val="dk1"/>
                </a:solidFill>
                <a:latin typeface="+mn-lt"/>
                <a:sym typeface="Didact Gothic"/>
              </a:rPr>
              <a:t> </a:t>
            </a:r>
            <a:r>
              <a:rPr sz="2500" dirty="0" err="1">
                <a:solidFill>
                  <a:schemeClr val="dk1"/>
                </a:solidFill>
                <a:latin typeface="+mn-lt"/>
                <a:sym typeface="Didact Gothic"/>
              </a:rPr>
              <a:t>làm</a:t>
            </a:r>
            <a:r>
              <a:rPr sz="2500" dirty="0">
                <a:solidFill>
                  <a:schemeClr val="dk1"/>
                </a:solidFill>
                <a:latin typeface="+mn-lt"/>
                <a:sym typeface="Didact Gothic"/>
              </a:rPr>
              <a:t> </a:t>
            </a:r>
            <a:r>
              <a:rPr sz="2500" dirty="0" err="1">
                <a:solidFill>
                  <a:schemeClr val="dk1"/>
                </a:solidFill>
                <a:latin typeface="+mn-lt"/>
                <a:sym typeface="Didact Gothic"/>
              </a:rPr>
              <a:t>trơn</a:t>
            </a:r>
            <a:r>
              <a:rPr sz="2500" dirty="0">
                <a:solidFill>
                  <a:schemeClr val="dk1"/>
                </a:solidFill>
                <a:latin typeface="+mn-lt"/>
                <a:sym typeface="Didact Gothic"/>
              </a:rPr>
              <a:t> (rolling 7 </a:t>
            </a:r>
            <a:r>
              <a:rPr sz="2500" dirty="0" err="1">
                <a:solidFill>
                  <a:schemeClr val="dk1"/>
                </a:solidFill>
                <a:latin typeface="+mn-lt"/>
                <a:sym typeface="Didact Gothic"/>
              </a:rPr>
              <a:t>ngày</a:t>
            </a:r>
            <a:r>
              <a:rPr sz="2500" dirty="0">
                <a:solidFill>
                  <a:schemeClr val="dk1"/>
                </a:solidFill>
                <a:latin typeface="+mn-lt"/>
                <a:sym typeface="Didact Gothic"/>
              </a:rPr>
              <a:t> </a:t>
            </a:r>
            <a:r>
              <a:rPr sz="2500" dirty="0" err="1">
                <a:solidFill>
                  <a:schemeClr val="dk1"/>
                </a:solidFill>
                <a:latin typeface="+mn-lt"/>
                <a:sym typeface="Didact Gothic"/>
              </a:rPr>
              <a:t>và</a:t>
            </a:r>
            <a:r>
              <a:rPr sz="2500" dirty="0">
                <a:solidFill>
                  <a:schemeClr val="dk1"/>
                </a:solidFill>
                <a:latin typeface="+mn-lt"/>
                <a:sym typeface="Didact Gothic"/>
              </a:rPr>
              <a:t> 30 </a:t>
            </a:r>
            <a:r>
              <a:rPr sz="2500" dirty="0" err="1">
                <a:solidFill>
                  <a:schemeClr val="dk1"/>
                </a:solidFill>
                <a:latin typeface="+mn-lt"/>
                <a:sym typeface="Didact Gothic"/>
              </a:rPr>
              <a:t>ngày</a:t>
            </a:r>
            <a:r>
              <a:rPr sz="2500" dirty="0">
                <a:solidFill>
                  <a:schemeClr val="dk1"/>
                </a:solidFill>
                <a:latin typeface="+mn-lt"/>
                <a:sym typeface="Didact Gothic"/>
              </a:rPr>
              <a:t>) </a:t>
            </a:r>
            <a:r>
              <a:rPr sz="2500" dirty="0" err="1">
                <a:solidFill>
                  <a:schemeClr val="dk1"/>
                </a:solidFill>
                <a:latin typeface="+mn-lt"/>
                <a:sym typeface="Didact Gothic"/>
              </a:rPr>
              <a:t>giúp</a:t>
            </a:r>
            <a:r>
              <a:rPr sz="2500" dirty="0">
                <a:solidFill>
                  <a:schemeClr val="dk1"/>
                </a:solidFill>
                <a:latin typeface="+mn-lt"/>
                <a:sym typeface="Didact Gothic"/>
              </a:rPr>
              <a:t> </a:t>
            </a:r>
            <a:r>
              <a:rPr sz="2500" dirty="0" err="1">
                <a:solidFill>
                  <a:schemeClr val="dk1"/>
                </a:solidFill>
                <a:latin typeface="+mn-lt"/>
                <a:sym typeface="Didact Gothic"/>
              </a:rPr>
              <a:t>làm</a:t>
            </a:r>
            <a:r>
              <a:rPr sz="2500" dirty="0">
                <a:solidFill>
                  <a:schemeClr val="dk1"/>
                </a:solidFill>
                <a:latin typeface="+mn-lt"/>
                <a:sym typeface="Didact Gothic"/>
              </a:rPr>
              <a:t> </a:t>
            </a:r>
            <a:r>
              <a:rPr sz="2500" dirty="0" err="1">
                <a:solidFill>
                  <a:schemeClr val="dk1"/>
                </a:solidFill>
                <a:latin typeface="+mn-lt"/>
                <a:sym typeface="Didact Gothic"/>
              </a:rPr>
              <a:t>rõ</a:t>
            </a:r>
            <a:r>
              <a:rPr sz="2500" dirty="0">
                <a:solidFill>
                  <a:schemeClr val="dk1"/>
                </a:solidFill>
                <a:latin typeface="+mn-lt"/>
                <a:sym typeface="Didact Gothic"/>
              </a:rPr>
              <a:t> xu </a:t>
            </a:r>
            <a:r>
              <a:rPr sz="2500" dirty="0" err="1">
                <a:solidFill>
                  <a:schemeClr val="dk1"/>
                </a:solidFill>
                <a:latin typeface="+mn-lt"/>
                <a:sym typeface="Didact Gothic"/>
              </a:rPr>
              <a:t>hướng</a:t>
            </a:r>
            <a:r>
              <a:rPr sz="2500" dirty="0">
                <a:solidFill>
                  <a:schemeClr val="dk1"/>
                </a:solidFill>
                <a:latin typeface="+mn-lt"/>
                <a:sym typeface="Didact Gothic"/>
              </a:rPr>
              <a:t> </a:t>
            </a:r>
            <a:r>
              <a:rPr sz="2500" dirty="0" err="1">
                <a:solidFill>
                  <a:schemeClr val="dk1"/>
                </a:solidFill>
                <a:latin typeface="+mn-lt"/>
                <a:sym typeface="Didact Gothic"/>
              </a:rPr>
              <a:t>tổng</a:t>
            </a:r>
            <a:r>
              <a:rPr sz="2500" dirty="0">
                <a:solidFill>
                  <a:schemeClr val="dk1"/>
                </a:solidFill>
                <a:latin typeface="+mn-lt"/>
                <a:sym typeface="Didact Gothic"/>
              </a:rPr>
              <a:t> </a:t>
            </a:r>
            <a:r>
              <a:rPr sz="2500" dirty="0" err="1">
                <a:solidFill>
                  <a:schemeClr val="dk1"/>
                </a:solidFill>
                <a:latin typeface="+mn-lt"/>
                <a:sym typeface="Didact Gothic"/>
              </a:rPr>
              <a:t>thể</a:t>
            </a:r>
            <a:r>
              <a:rPr sz="2500" dirty="0">
                <a:solidFill>
                  <a:schemeClr val="dk1"/>
                </a:solidFill>
                <a:latin typeface="+mn-lt"/>
                <a:sym typeface="Didact Gothic"/>
              </a:rPr>
              <a:t> </a:t>
            </a:r>
            <a:r>
              <a:rPr sz="2500" dirty="0" err="1">
                <a:solidFill>
                  <a:schemeClr val="dk1"/>
                </a:solidFill>
                <a:latin typeface="+mn-lt"/>
                <a:sym typeface="Didact Gothic"/>
              </a:rPr>
              <a:t>và</a:t>
            </a:r>
            <a:r>
              <a:rPr sz="2500" dirty="0">
                <a:solidFill>
                  <a:schemeClr val="dk1"/>
                </a:solidFill>
                <a:latin typeface="+mn-lt"/>
                <a:sym typeface="Didact Gothic"/>
              </a:rPr>
              <a:t> </a:t>
            </a:r>
            <a:r>
              <a:rPr sz="2500" dirty="0" err="1">
                <a:solidFill>
                  <a:schemeClr val="dk1"/>
                </a:solidFill>
                <a:latin typeface="+mn-lt"/>
                <a:sym typeface="Didact Gothic"/>
              </a:rPr>
              <a:t>giảm</a:t>
            </a:r>
            <a:r>
              <a:rPr sz="2500" dirty="0">
                <a:solidFill>
                  <a:schemeClr val="dk1"/>
                </a:solidFill>
                <a:latin typeface="+mn-lt"/>
                <a:sym typeface="Didact Gothic"/>
              </a:rPr>
              <a:t> </a:t>
            </a:r>
            <a:r>
              <a:rPr sz="2500" dirty="0" err="1">
                <a:solidFill>
                  <a:schemeClr val="dk1"/>
                </a:solidFill>
                <a:latin typeface="+mn-lt"/>
                <a:sym typeface="Didact Gothic"/>
              </a:rPr>
              <a:t>nhiễu</a:t>
            </a:r>
            <a:r>
              <a:rPr sz="2500" dirty="0">
                <a:solidFill>
                  <a:schemeClr val="dk1"/>
                </a:solidFill>
                <a:latin typeface="+mn-lt"/>
                <a:sym typeface="Didact Gothic"/>
              </a:rPr>
              <a:t> </a:t>
            </a:r>
            <a:r>
              <a:rPr sz="2500" dirty="0" err="1">
                <a:solidFill>
                  <a:schemeClr val="dk1"/>
                </a:solidFill>
                <a:latin typeface="+mn-lt"/>
                <a:sym typeface="Didact Gothic"/>
              </a:rPr>
              <a:t>ngắn</a:t>
            </a:r>
            <a:r>
              <a:rPr sz="2500" dirty="0">
                <a:solidFill>
                  <a:schemeClr val="dk1"/>
                </a:solidFill>
                <a:latin typeface="+mn-lt"/>
                <a:sym typeface="Didact Gothic"/>
              </a:rPr>
              <a:t> </a:t>
            </a:r>
            <a:r>
              <a:rPr sz="2500" dirty="0" err="1">
                <a:solidFill>
                  <a:schemeClr val="dk1"/>
                </a:solidFill>
                <a:latin typeface="+mn-lt"/>
                <a:sym typeface="Didact Gothic"/>
              </a:rPr>
              <a:t>hạn</a:t>
            </a:r>
            <a:r>
              <a:rPr sz="2500" dirty="0">
                <a:solidFill>
                  <a:schemeClr val="dk1"/>
                </a:solidFill>
                <a:latin typeface="+mn-lt"/>
                <a:sym typeface="Didact Gothic"/>
              </a:rPr>
              <a:t>. </a:t>
            </a:r>
            <a:r>
              <a:rPr sz="2500" dirty="0" err="1">
                <a:solidFill>
                  <a:schemeClr val="dk1"/>
                </a:solidFill>
                <a:latin typeface="+mn-lt"/>
                <a:sym typeface="Didact Gothic"/>
              </a:rPr>
              <a:t>Phân</a:t>
            </a:r>
            <a:r>
              <a:rPr sz="2500" dirty="0">
                <a:solidFill>
                  <a:schemeClr val="dk1"/>
                </a:solidFill>
                <a:latin typeface="+mn-lt"/>
                <a:sym typeface="Didact Gothic"/>
              </a:rPr>
              <a:t> </a:t>
            </a:r>
            <a:r>
              <a:rPr sz="2500" dirty="0" err="1">
                <a:solidFill>
                  <a:schemeClr val="dk1"/>
                </a:solidFill>
                <a:latin typeface="+mn-lt"/>
                <a:sym typeface="Didact Gothic"/>
              </a:rPr>
              <a:t>tích</a:t>
            </a:r>
            <a:r>
              <a:rPr sz="2500" dirty="0">
                <a:solidFill>
                  <a:schemeClr val="dk1"/>
                </a:solidFill>
                <a:latin typeface="+mn-lt"/>
                <a:sym typeface="Didact Gothic"/>
              </a:rPr>
              <a:t> </a:t>
            </a:r>
            <a:r>
              <a:rPr sz="2500" dirty="0" err="1">
                <a:solidFill>
                  <a:schemeClr val="dk1"/>
                </a:solidFill>
                <a:latin typeface="+mn-lt"/>
                <a:sym typeface="Didact Gothic"/>
              </a:rPr>
              <a:t>hệ</a:t>
            </a:r>
            <a:r>
              <a:rPr sz="2500" dirty="0">
                <a:solidFill>
                  <a:schemeClr val="dk1"/>
                </a:solidFill>
                <a:latin typeface="+mn-lt"/>
                <a:sym typeface="Didact Gothic"/>
              </a:rPr>
              <a:t> </a:t>
            </a:r>
            <a:r>
              <a:rPr sz="2500" dirty="0" err="1">
                <a:solidFill>
                  <a:schemeClr val="dk1"/>
                </a:solidFill>
                <a:latin typeface="+mn-lt"/>
                <a:sym typeface="Didact Gothic"/>
              </a:rPr>
              <a:t>số</a:t>
            </a:r>
            <a:r>
              <a:rPr sz="2500" dirty="0">
                <a:solidFill>
                  <a:schemeClr val="dk1"/>
                </a:solidFill>
                <a:latin typeface="+mn-lt"/>
                <a:sym typeface="Didact Gothic"/>
              </a:rPr>
              <a:t> </a:t>
            </a:r>
            <a:r>
              <a:rPr sz="2500" dirty="0" err="1">
                <a:solidFill>
                  <a:schemeClr val="dk1"/>
                </a:solidFill>
                <a:latin typeface="+mn-lt"/>
                <a:sym typeface="Didact Gothic"/>
              </a:rPr>
              <a:t>biến</a:t>
            </a:r>
            <a:r>
              <a:rPr sz="2500" dirty="0">
                <a:solidFill>
                  <a:schemeClr val="dk1"/>
                </a:solidFill>
                <a:latin typeface="+mn-lt"/>
                <a:sym typeface="Didact Gothic"/>
              </a:rPr>
              <a:t> </a:t>
            </a:r>
            <a:r>
              <a:rPr sz="2500" dirty="0" err="1">
                <a:solidFill>
                  <a:schemeClr val="dk1"/>
                </a:solidFill>
                <a:latin typeface="+mn-lt"/>
                <a:sym typeface="Didact Gothic"/>
              </a:rPr>
              <a:t>thiên</a:t>
            </a:r>
            <a:r>
              <a:rPr sz="2500" dirty="0">
                <a:solidFill>
                  <a:schemeClr val="dk1"/>
                </a:solidFill>
                <a:latin typeface="+mn-lt"/>
                <a:sym typeface="Didact Gothic"/>
              </a:rPr>
              <a:t> </a:t>
            </a:r>
            <a:r>
              <a:rPr sz="2500" dirty="0" err="1">
                <a:solidFill>
                  <a:schemeClr val="dk1"/>
                </a:solidFill>
                <a:latin typeface="+mn-lt"/>
                <a:sym typeface="Didact Gothic"/>
              </a:rPr>
              <a:t>cho</a:t>
            </a:r>
            <a:r>
              <a:rPr sz="2500" dirty="0">
                <a:solidFill>
                  <a:schemeClr val="dk1"/>
                </a:solidFill>
                <a:latin typeface="+mn-lt"/>
                <a:sym typeface="Didact Gothic"/>
              </a:rPr>
              <a:t> </a:t>
            </a:r>
            <a:r>
              <a:rPr sz="2500" dirty="0" err="1">
                <a:solidFill>
                  <a:schemeClr val="dk1"/>
                </a:solidFill>
                <a:latin typeface="+mn-lt"/>
                <a:sym typeface="Didact Gothic"/>
              </a:rPr>
              <a:t>thấy</a:t>
            </a:r>
            <a:r>
              <a:rPr sz="2500" dirty="0">
                <a:solidFill>
                  <a:schemeClr val="dk1"/>
                </a:solidFill>
                <a:latin typeface="+mn-lt"/>
                <a:sym typeface="Didact Gothic"/>
              </a:rPr>
              <a:t> </a:t>
            </a:r>
            <a:r>
              <a:rPr sz="2500" dirty="0" err="1">
                <a:solidFill>
                  <a:schemeClr val="dk1"/>
                </a:solidFill>
                <a:latin typeface="+mn-lt"/>
                <a:sym typeface="Didact Gothic"/>
              </a:rPr>
              <a:t>mức</a:t>
            </a:r>
            <a:r>
              <a:rPr sz="2500" dirty="0">
                <a:solidFill>
                  <a:schemeClr val="dk1"/>
                </a:solidFill>
                <a:latin typeface="+mn-lt"/>
                <a:sym typeface="Didact Gothic"/>
              </a:rPr>
              <a:t> </a:t>
            </a:r>
            <a:r>
              <a:rPr sz="2500" dirty="0" err="1">
                <a:solidFill>
                  <a:schemeClr val="dk1"/>
                </a:solidFill>
                <a:latin typeface="+mn-lt"/>
                <a:sym typeface="Didact Gothic"/>
              </a:rPr>
              <a:t>độ</a:t>
            </a:r>
            <a:r>
              <a:rPr sz="2500" dirty="0">
                <a:solidFill>
                  <a:schemeClr val="dk1"/>
                </a:solidFill>
                <a:latin typeface="+mn-lt"/>
                <a:sym typeface="Didact Gothic"/>
              </a:rPr>
              <a:t> </a:t>
            </a:r>
            <a:r>
              <a:rPr sz="2500" dirty="0" err="1">
                <a:solidFill>
                  <a:schemeClr val="dk1"/>
                </a:solidFill>
                <a:latin typeface="+mn-lt"/>
                <a:sym typeface="Didact Gothic"/>
              </a:rPr>
              <a:t>ổn</a:t>
            </a:r>
            <a:r>
              <a:rPr sz="2500" dirty="0">
                <a:solidFill>
                  <a:schemeClr val="dk1"/>
                </a:solidFill>
                <a:latin typeface="+mn-lt"/>
                <a:sym typeface="Didact Gothic"/>
              </a:rPr>
              <a:t> </a:t>
            </a:r>
            <a:r>
              <a:rPr sz="2500" dirty="0" err="1">
                <a:solidFill>
                  <a:schemeClr val="dk1"/>
                </a:solidFill>
                <a:latin typeface="+mn-lt"/>
                <a:sym typeface="Didact Gothic"/>
              </a:rPr>
              <a:t>định</a:t>
            </a:r>
            <a:r>
              <a:rPr sz="2500" dirty="0">
                <a:solidFill>
                  <a:schemeClr val="dk1"/>
                </a:solidFill>
                <a:latin typeface="+mn-lt"/>
                <a:sym typeface="Didact Gothic"/>
              </a:rPr>
              <a:t> </a:t>
            </a:r>
            <a:r>
              <a:rPr sz="2500" dirty="0" err="1">
                <a:solidFill>
                  <a:schemeClr val="dk1"/>
                </a:solidFill>
                <a:latin typeface="+mn-lt"/>
                <a:sym typeface="Didact Gothic"/>
              </a:rPr>
              <a:t>của</a:t>
            </a:r>
            <a:r>
              <a:rPr sz="2500" dirty="0">
                <a:solidFill>
                  <a:schemeClr val="dk1"/>
                </a:solidFill>
                <a:latin typeface="+mn-lt"/>
                <a:sym typeface="Didact Gothic"/>
              </a:rPr>
              <a:t> </a:t>
            </a:r>
            <a:r>
              <a:rPr sz="2500" dirty="0" err="1">
                <a:solidFill>
                  <a:schemeClr val="dk1"/>
                </a:solidFill>
                <a:latin typeface="+mn-lt"/>
                <a:sym typeface="Didact Gothic"/>
              </a:rPr>
              <a:t>doanh</a:t>
            </a:r>
            <a:r>
              <a:rPr sz="2500" dirty="0">
                <a:solidFill>
                  <a:schemeClr val="dk1"/>
                </a:solidFill>
                <a:latin typeface="+mn-lt"/>
                <a:sym typeface="Didact Gothic"/>
              </a:rPr>
              <a:t> </a:t>
            </a:r>
            <a:r>
              <a:rPr sz="2500" dirty="0" err="1">
                <a:solidFill>
                  <a:schemeClr val="dk1"/>
                </a:solidFill>
                <a:latin typeface="+mn-lt"/>
                <a:sym typeface="Didact Gothic"/>
              </a:rPr>
              <a:t>thu</a:t>
            </a:r>
            <a:r>
              <a:rPr sz="2500" dirty="0">
                <a:solidFill>
                  <a:schemeClr val="dk1"/>
                </a:solidFill>
                <a:latin typeface="+mn-lt"/>
                <a:sym typeface="Didact Gothic"/>
              </a:rPr>
              <a:t> </a:t>
            </a:r>
            <a:r>
              <a:rPr sz="2500" dirty="0" err="1">
                <a:solidFill>
                  <a:schemeClr val="dk1"/>
                </a:solidFill>
                <a:latin typeface="+mn-lt"/>
                <a:sym typeface="Didact Gothic"/>
              </a:rPr>
              <a:t>thay</a:t>
            </a:r>
            <a:r>
              <a:rPr sz="2500" dirty="0">
                <a:solidFill>
                  <a:schemeClr val="dk1"/>
                </a:solidFill>
                <a:latin typeface="+mn-lt"/>
                <a:sym typeface="Didact Gothic"/>
              </a:rPr>
              <a:t> </a:t>
            </a:r>
            <a:r>
              <a:rPr sz="2500" dirty="0" err="1">
                <a:solidFill>
                  <a:schemeClr val="dk1"/>
                </a:solidFill>
                <a:latin typeface="+mn-lt"/>
                <a:sym typeface="Didact Gothic"/>
              </a:rPr>
              <a:t>đổi</a:t>
            </a:r>
            <a:r>
              <a:rPr sz="2500" dirty="0">
                <a:solidFill>
                  <a:schemeClr val="dk1"/>
                </a:solidFill>
                <a:latin typeface="+mn-lt"/>
                <a:sym typeface="Didact Gothic"/>
              </a:rPr>
              <a:t> </a:t>
            </a:r>
            <a:r>
              <a:rPr sz="2500" dirty="0" err="1">
                <a:solidFill>
                  <a:schemeClr val="dk1"/>
                </a:solidFill>
                <a:latin typeface="+mn-lt"/>
                <a:sym typeface="Didact Gothic"/>
              </a:rPr>
              <a:t>theo</a:t>
            </a:r>
            <a:r>
              <a:rPr sz="2500" dirty="0">
                <a:solidFill>
                  <a:schemeClr val="dk1"/>
                </a:solidFill>
                <a:latin typeface="+mn-lt"/>
                <a:sym typeface="Didact Gothic"/>
              </a:rPr>
              <a:t> </a:t>
            </a:r>
            <a:r>
              <a:rPr sz="2500" dirty="0" err="1">
                <a:solidFill>
                  <a:schemeClr val="dk1"/>
                </a:solidFill>
                <a:latin typeface="+mn-lt"/>
                <a:sym typeface="Didact Gothic"/>
              </a:rPr>
              <a:t>từng</a:t>
            </a:r>
            <a:r>
              <a:rPr sz="2500" dirty="0">
                <a:solidFill>
                  <a:schemeClr val="dk1"/>
                </a:solidFill>
                <a:latin typeface="+mn-lt"/>
                <a:sym typeface="Didact Gothic"/>
              </a:rPr>
              <a:t> </a:t>
            </a:r>
            <a:r>
              <a:rPr sz="2500" dirty="0" err="1">
                <a:solidFill>
                  <a:schemeClr val="dk1"/>
                </a:solidFill>
                <a:latin typeface="+mn-lt"/>
                <a:sym typeface="Didact Gothic"/>
              </a:rPr>
              <a:t>giai</a:t>
            </a:r>
            <a:r>
              <a:rPr sz="2500" dirty="0">
                <a:solidFill>
                  <a:schemeClr val="dk1"/>
                </a:solidFill>
                <a:latin typeface="+mn-lt"/>
                <a:sym typeface="Didact Gothic"/>
              </a:rPr>
              <a:t> </a:t>
            </a:r>
            <a:r>
              <a:rPr sz="2500" dirty="0" err="1">
                <a:solidFill>
                  <a:schemeClr val="dk1"/>
                </a:solidFill>
                <a:latin typeface="+mn-lt"/>
                <a:sym typeface="Didact Gothic"/>
              </a:rPr>
              <a:t>đoạn</a:t>
            </a:r>
            <a:r>
              <a:rPr sz="2500" dirty="0">
                <a:solidFill>
                  <a:schemeClr val="dk1"/>
                </a:solidFill>
                <a:latin typeface="+mn-lt"/>
                <a:sym typeface="Didact Gothic"/>
              </a:rPr>
              <a:t> </a:t>
            </a:r>
            <a:r>
              <a:rPr sz="2500" dirty="0" err="1">
                <a:solidFill>
                  <a:schemeClr val="dk1"/>
                </a:solidFill>
                <a:latin typeface="+mn-lt"/>
                <a:sym typeface="Didact Gothic"/>
              </a:rPr>
              <a:t>trong</a:t>
            </a:r>
            <a:r>
              <a:rPr sz="2500" dirty="0">
                <a:solidFill>
                  <a:schemeClr val="dk1"/>
                </a:solidFill>
                <a:latin typeface="+mn-lt"/>
                <a:sym typeface="Didact Gothic"/>
              </a:rPr>
              <a:t> </a:t>
            </a:r>
            <a:r>
              <a:rPr sz="2500" dirty="0" err="1">
                <a:solidFill>
                  <a:schemeClr val="dk1"/>
                </a:solidFill>
                <a:latin typeface="+mn-lt"/>
                <a:sym typeface="Didact Gothic"/>
              </a:rPr>
              <a:t>năm</a:t>
            </a:r>
            <a:r>
              <a:rPr sz="2500" dirty="0">
                <a:solidFill>
                  <a:schemeClr val="dk1"/>
                </a:solidFill>
                <a:latin typeface="+mn-lt"/>
                <a:sym typeface="Didact Gothic"/>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48295F77-F542-AADB-FA82-BE75FA87CA3D}"/>
              </a:ext>
            </a:extLst>
          </p:cNvPr>
          <p:cNvPicPr>
            <a:picLocks noChangeAspect="1"/>
          </p:cNvPicPr>
          <p:nvPr/>
        </p:nvPicPr>
        <p:blipFill>
          <a:blip r:embed="rId2"/>
          <a:stretch>
            <a:fillRect/>
          </a:stretch>
        </p:blipFill>
        <p:spPr>
          <a:xfrm>
            <a:off x="356011" y="564272"/>
            <a:ext cx="8431977" cy="3265855"/>
          </a:xfrm>
          <a:prstGeom prst="rect">
            <a:avLst/>
          </a:prstGeom>
        </p:spPr>
      </p:pic>
      <p:sp>
        <p:nvSpPr>
          <p:cNvPr id="6" name="TextBox 5">
            <a:extLst>
              <a:ext uri="{FF2B5EF4-FFF2-40B4-BE49-F238E27FC236}">
                <a16:creationId xmlns="" xmlns:a16="http://schemas.microsoft.com/office/drawing/2014/main" id="{0398339E-5AA8-44FF-1C58-36B18BAA2DC0}"/>
              </a:ext>
            </a:extLst>
          </p:cNvPr>
          <p:cNvSpPr txBox="1"/>
          <p:nvPr/>
        </p:nvSpPr>
        <p:spPr>
          <a:xfrm>
            <a:off x="478765" y="3994452"/>
            <a:ext cx="8186469" cy="584775"/>
          </a:xfrm>
          <a:prstGeom prst="rect">
            <a:avLst/>
          </a:prstGeom>
          <a:noFill/>
        </p:spPr>
        <p:txBody>
          <a:bodyPr wrap="square">
            <a:spAutoFit/>
          </a:bodyPr>
          <a:lstStyle/>
          <a:p>
            <a:r>
              <a:rPr lang="vi-VN" sz="1600" dirty="0"/>
              <a:t>Hình 2. Doanh thu gộp theo ngày và đường làm trơn (7 ngày, 30 ngày). Đường làm trơn giúp làm rõ xu hướng tổng thể và giảm nhiễu ngắn hạn trong chuỗi doanh thu.</a:t>
            </a:r>
            <a:endParaRPr lang="en-US" sz="1600" dirty="0"/>
          </a:p>
        </p:txBody>
      </p:sp>
    </p:spTree>
    <p:extLst>
      <p:ext uri="{BB962C8B-B14F-4D97-AF65-F5344CB8AC3E}">
        <p14:creationId xmlns="" xmlns:p14="http://schemas.microsoft.com/office/powerpoint/2010/main" val="1268847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03A5DDBB-6F69-1C80-A2C4-ED8CADB483B4}"/>
              </a:ext>
            </a:extLst>
          </p:cNvPr>
          <p:cNvPicPr>
            <a:picLocks noChangeAspect="1"/>
          </p:cNvPicPr>
          <p:nvPr/>
        </p:nvPicPr>
        <p:blipFill>
          <a:blip r:embed="rId2"/>
          <a:stretch>
            <a:fillRect/>
          </a:stretch>
        </p:blipFill>
        <p:spPr>
          <a:xfrm>
            <a:off x="0" y="759125"/>
            <a:ext cx="9144000" cy="3528476"/>
          </a:xfrm>
          <a:prstGeom prst="rect">
            <a:avLst/>
          </a:prstGeom>
        </p:spPr>
      </p:pic>
      <p:sp>
        <p:nvSpPr>
          <p:cNvPr id="5" name="TextBox 4">
            <a:extLst>
              <a:ext uri="{FF2B5EF4-FFF2-40B4-BE49-F238E27FC236}">
                <a16:creationId xmlns="" xmlns:a16="http://schemas.microsoft.com/office/drawing/2014/main" id="{B2C69C84-3DCD-DDD9-839D-78B283DBF250}"/>
              </a:ext>
            </a:extLst>
          </p:cNvPr>
          <p:cNvSpPr txBox="1"/>
          <p:nvPr/>
        </p:nvSpPr>
        <p:spPr>
          <a:xfrm>
            <a:off x="431321" y="4244742"/>
            <a:ext cx="8553091" cy="584775"/>
          </a:xfrm>
          <a:prstGeom prst="rect">
            <a:avLst/>
          </a:prstGeom>
          <a:noFill/>
        </p:spPr>
        <p:txBody>
          <a:bodyPr wrap="square">
            <a:spAutoFit/>
          </a:bodyPr>
          <a:lstStyle/>
          <a:p>
            <a:r>
              <a:rPr lang="en-US" sz="1600" dirty="0" err="1"/>
              <a:t>Hình</a:t>
            </a:r>
            <a:r>
              <a:rPr lang="en-US" sz="1600" dirty="0"/>
              <a:t> 3. </a:t>
            </a:r>
            <a:r>
              <a:rPr lang="en-US" sz="1600" dirty="0" err="1"/>
              <a:t>Độ</a:t>
            </a:r>
            <a:r>
              <a:rPr lang="en-US" sz="1600" dirty="0"/>
              <a:t> </a:t>
            </a:r>
            <a:r>
              <a:rPr lang="en-US" sz="1600" dirty="0" err="1"/>
              <a:t>biến</a:t>
            </a:r>
            <a:r>
              <a:rPr lang="en-US" sz="1600" dirty="0"/>
              <a:t> </a:t>
            </a:r>
            <a:r>
              <a:rPr lang="en-US" sz="1600" dirty="0" err="1"/>
              <a:t>động</a:t>
            </a:r>
            <a:r>
              <a:rPr lang="en-US" sz="1600" dirty="0"/>
              <a:t> </a:t>
            </a:r>
            <a:r>
              <a:rPr lang="en-US" sz="1600" dirty="0" err="1"/>
              <a:t>doanh</a:t>
            </a:r>
            <a:r>
              <a:rPr lang="en-US" sz="1600" dirty="0"/>
              <a:t> </a:t>
            </a:r>
            <a:r>
              <a:rPr lang="en-US" sz="1600" dirty="0" err="1"/>
              <a:t>thu</a:t>
            </a:r>
            <a:r>
              <a:rPr lang="en-US" sz="1600" dirty="0"/>
              <a:t> </a:t>
            </a:r>
            <a:r>
              <a:rPr lang="en-US" sz="1600" dirty="0" err="1"/>
              <a:t>theo</a:t>
            </a:r>
            <a:r>
              <a:rPr lang="en-US" sz="1600" dirty="0"/>
              <a:t> </a:t>
            </a:r>
            <a:r>
              <a:rPr lang="en-US" sz="1600" dirty="0" err="1"/>
              <a:t>thời</a:t>
            </a:r>
            <a:r>
              <a:rPr lang="en-US" sz="1600" dirty="0"/>
              <a:t> </a:t>
            </a:r>
            <a:r>
              <a:rPr lang="en-US" sz="1600" dirty="0" err="1"/>
              <a:t>gian</a:t>
            </a:r>
            <a:r>
              <a:rPr lang="en-US" sz="1600" dirty="0"/>
              <a:t> </a:t>
            </a:r>
            <a:r>
              <a:rPr lang="en-US" sz="1600" dirty="0" err="1"/>
              <a:t>thông</a:t>
            </a:r>
            <a:r>
              <a:rPr lang="en-US" sz="1600" dirty="0"/>
              <a:t> qua </a:t>
            </a:r>
            <a:r>
              <a:rPr lang="en-US" sz="1600" dirty="0" err="1"/>
              <a:t>hệ</a:t>
            </a:r>
            <a:r>
              <a:rPr lang="en-US" sz="1600" dirty="0"/>
              <a:t> </a:t>
            </a:r>
            <a:r>
              <a:rPr lang="en-US" sz="1600" dirty="0" err="1"/>
              <a:t>số</a:t>
            </a:r>
            <a:r>
              <a:rPr lang="en-US" sz="1600" dirty="0"/>
              <a:t> </a:t>
            </a:r>
            <a:r>
              <a:rPr lang="en-US" sz="1600" dirty="0" err="1"/>
              <a:t>biến</a:t>
            </a:r>
            <a:r>
              <a:rPr lang="en-US" sz="1600" dirty="0"/>
              <a:t> </a:t>
            </a:r>
            <a:r>
              <a:rPr lang="en-US" sz="1600" dirty="0" err="1"/>
              <a:t>thiên</a:t>
            </a:r>
            <a:r>
              <a:rPr lang="en-US" sz="1600" dirty="0"/>
              <a:t> (CV) rolling 7 </a:t>
            </a:r>
            <a:r>
              <a:rPr lang="en-US" sz="1600" dirty="0" err="1"/>
              <a:t>ngày</a:t>
            </a:r>
            <a:r>
              <a:rPr lang="en-US" sz="1600" dirty="0"/>
              <a:t> </a:t>
            </a:r>
            <a:r>
              <a:rPr lang="en-US" sz="1600" dirty="0" err="1"/>
              <a:t>và</a:t>
            </a:r>
            <a:r>
              <a:rPr lang="en-US" sz="1600" dirty="0"/>
              <a:t> 30 </a:t>
            </a:r>
            <a:r>
              <a:rPr lang="en-US" sz="1600" dirty="0" err="1"/>
              <a:t>ngày</a:t>
            </a:r>
            <a:r>
              <a:rPr lang="en-US" sz="1600" dirty="0"/>
              <a:t>, </a:t>
            </a:r>
            <a:r>
              <a:rPr lang="en-US" sz="1600" dirty="0" err="1"/>
              <a:t>phản</a:t>
            </a:r>
            <a:r>
              <a:rPr lang="en-US" sz="1600" dirty="0"/>
              <a:t> </a:t>
            </a:r>
            <a:r>
              <a:rPr lang="en-US" sz="1600" dirty="0" err="1"/>
              <a:t>ánh</a:t>
            </a:r>
            <a:r>
              <a:rPr lang="en-US" sz="1600" dirty="0"/>
              <a:t> </a:t>
            </a:r>
            <a:r>
              <a:rPr lang="en-US" sz="1600" dirty="0" err="1"/>
              <a:t>mức</a:t>
            </a:r>
            <a:r>
              <a:rPr lang="en-US" sz="1600" dirty="0"/>
              <a:t> </a:t>
            </a:r>
            <a:r>
              <a:rPr lang="en-US" sz="1600" dirty="0" err="1"/>
              <a:t>độ</a:t>
            </a:r>
            <a:r>
              <a:rPr lang="en-US" sz="1600" dirty="0"/>
              <a:t> </a:t>
            </a:r>
            <a:r>
              <a:rPr lang="en-US" sz="1600" dirty="0" err="1"/>
              <a:t>ổn</a:t>
            </a:r>
            <a:r>
              <a:rPr lang="en-US" sz="1600" dirty="0"/>
              <a:t> </a:t>
            </a:r>
            <a:r>
              <a:rPr lang="en-US" sz="1600" dirty="0" err="1"/>
              <a:t>định</a:t>
            </a:r>
            <a:r>
              <a:rPr lang="en-US" sz="1600" dirty="0"/>
              <a:t>/dao </a:t>
            </a:r>
            <a:r>
              <a:rPr lang="en-US" sz="1600" dirty="0" err="1"/>
              <a:t>động</a:t>
            </a:r>
            <a:r>
              <a:rPr lang="en-US" sz="1600" dirty="0"/>
              <a:t> </a:t>
            </a:r>
            <a:r>
              <a:rPr lang="en-US" sz="1600" dirty="0" err="1"/>
              <a:t>của</a:t>
            </a:r>
            <a:r>
              <a:rPr lang="en-US" sz="1600" dirty="0"/>
              <a:t> </a:t>
            </a:r>
            <a:r>
              <a:rPr lang="en-US" sz="1600" dirty="0" err="1"/>
              <a:t>chuỗi</a:t>
            </a:r>
            <a:r>
              <a:rPr lang="en-US" sz="1600" dirty="0"/>
              <a:t> </a:t>
            </a:r>
            <a:r>
              <a:rPr lang="en-US" sz="1600" dirty="0" err="1"/>
              <a:t>doanh</a:t>
            </a:r>
            <a:r>
              <a:rPr lang="en-US" sz="1600" dirty="0"/>
              <a:t> </a:t>
            </a:r>
            <a:r>
              <a:rPr lang="en-US" sz="1600" dirty="0" err="1"/>
              <a:t>thu</a:t>
            </a:r>
            <a:endParaRPr lang="en-US" sz="1600" dirty="0"/>
          </a:p>
        </p:txBody>
      </p:sp>
    </p:spTree>
    <p:extLst>
      <p:ext uri="{BB962C8B-B14F-4D97-AF65-F5344CB8AC3E}">
        <p14:creationId xmlns="" xmlns:p14="http://schemas.microsoft.com/office/powerpoint/2010/main" val="4042630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pPr algn="ctr">
              <a:buSzPts val="2800"/>
            </a:pPr>
            <a:r>
              <a:rPr sz="4400" dirty="0" err="1">
                <a:latin typeface="Aptos Display" panose="020B0004020202020204" pitchFamily="34" charset="0"/>
              </a:rPr>
              <a:t>Tăng</a:t>
            </a:r>
            <a:r>
              <a:rPr sz="4400" dirty="0">
                <a:latin typeface="Aptos Display" panose="020B0004020202020204" pitchFamily="34" charset="0"/>
              </a:rPr>
              <a:t> </a:t>
            </a:r>
            <a:r>
              <a:rPr sz="4400" dirty="0" err="1">
                <a:latin typeface="Aptos Display" panose="020B0004020202020204" pitchFamily="34" charset="0"/>
              </a:rPr>
              <a:t>trưởng</a:t>
            </a:r>
            <a:r>
              <a:rPr sz="4400" dirty="0">
                <a:latin typeface="Aptos Display" panose="020B0004020202020204" pitchFamily="34" charset="0"/>
              </a:rPr>
              <a:t> WoW &amp; MoM</a:t>
            </a:r>
          </a:p>
        </p:txBody>
      </p:sp>
      <p:sp>
        <p:nvSpPr>
          <p:cNvPr id="4" name="Picture Placeholder 3"/>
          <p:cNvSpPr>
            <a:spLocks noGrp="1"/>
          </p:cNvSpPr>
          <p:nvPr>
            <p:ph type="pic" idx="4294967295"/>
          </p:nvPr>
        </p:nvSpPr>
        <p:spPr>
          <a:xfrm>
            <a:off x="720000" y="1325058"/>
            <a:ext cx="8004452" cy="1880721"/>
          </a:xfrm>
          <a:noFill/>
          <a:ln>
            <a:noFill/>
          </a:ln>
        </p:spPr>
        <p:txBody>
          <a:bodyPr/>
          <a:lstStyle/>
          <a:p>
            <a:pPr marL="0" indent="0" algn="l" rtl="0">
              <a:buClr>
                <a:schemeClr val="dk1"/>
              </a:buClr>
              <a:buSzPts val="1200"/>
              <a:buNone/>
            </a:pPr>
            <a:r>
              <a:rPr sz="2500" dirty="0" err="1">
                <a:solidFill>
                  <a:schemeClr val="dk1"/>
                </a:solidFill>
                <a:latin typeface="+mn-lt"/>
                <a:sym typeface="Didact Gothic"/>
              </a:rPr>
              <a:t>Tăng</a:t>
            </a:r>
            <a:r>
              <a:rPr sz="2500" dirty="0">
                <a:solidFill>
                  <a:schemeClr val="dk1"/>
                </a:solidFill>
                <a:latin typeface="+mn-lt"/>
                <a:sym typeface="Didact Gothic"/>
              </a:rPr>
              <a:t> </a:t>
            </a:r>
            <a:r>
              <a:rPr sz="2500" dirty="0" err="1">
                <a:solidFill>
                  <a:schemeClr val="dk1"/>
                </a:solidFill>
                <a:latin typeface="+mn-lt"/>
                <a:sym typeface="Didact Gothic"/>
              </a:rPr>
              <a:t>trưởng</a:t>
            </a:r>
            <a:r>
              <a:rPr sz="2500" dirty="0">
                <a:solidFill>
                  <a:schemeClr val="dk1"/>
                </a:solidFill>
                <a:latin typeface="+mn-lt"/>
                <a:sym typeface="Didact Gothic"/>
              </a:rPr>
              <a:t> </a:t>
            </a:r>
            <a:r>
              <a:rPr sz="2500" dirty="0" err="1">
                <a:solidFill>
                  <a:schemeClr val="dk1"/>
                </a:solidFill>
                <a:latin typeface="+mn-lt"/>
                <a:sym typeface="Didact Gothic"/>
              </a:rPr>
              <a:t>doanh</a:t>
            </a:r>
            <a:r>
              <a:rPr sz="2500" dirty="0">
                <a:solidFill>
                  <a:schemeClr val="dk1"/>
                </a:solidFill>
                <a:latin typeface="+mn-lt"/>
                <a:sym typeface="Didact Gothic"/>
              </a:rPr>
              <a:t> </a:t>
            </a:r>
            <a:r>
              <a:rPr sz="2500" dirty="0" err="1">
                <a:solidFill>
                  <a:schemeClr val="dk1"/>
                </a:solidFill>
                <a:latin typeface="+mn-lt"/>
                <a:sym typeface="Didact Gothic"/>
              </a:rPr>
              <a:t>thu</a:t>
            </a:r>
            <a:r>
              <a:rPr sz="2500" dirty="0">
                <a:solidFill>
                  <a:schemeClr val="dk1"/>
                </a:solidFill>
                <a:latin typeface="+mn-lt"/>
                <a:sym typeface="Didact Gothic"/>
              </a:rPr>
              <a:t> </a:t>
            </a:r>
            <a:r>
              <a:rPr sz="2500" dirty="0" err="1">
                <a:solidFill>
                  <a:schemeClr val="dk1"/>
                </a:solidFill>
                <a:latin typeface="+mn-lt"/>
                <a:sym typeface="Didact Gothic"/>
              </a:rPr>
              <a:t>theo</a:t>
            </a:r>
            <a:r>
              <a:rPr sz="2500" dirty="0">
                <a:solidFill>
                  <a:schemeClr val="dk1"/>
                </a:solidFill>
                <a:latin typeface="+mn-lt"/>
                <a:sym typeface="Didact Gothic"/>
              </a:rPr>
              <a:t> </a:t>
            </a:r>
            <a:r>
              <a:rPr sz="2500" dirty="0" err="1">
                <a:solidFill>
                  <a:schemeClr val="dk1"/>
                </a:solidFill>
                <a:latin typeface="+mn-lt"/>
                <a:sym typeface="Didact Gothic"/>
              </a:rPr>
              <a:t>tuần</a:t>
            </a:r>
            <a:r>
              <a:rPr sz="2500" dirty="0">
                <a:solidFill>
                  <a:schemeClr val="dk1"/>
                </a:solidFill>
                <a:latin typeface="+mn-lt"/>
                <a:sym typeface="Didact Gothic"/>
              </a:rPr>
              <a:t> (WoW) </a:t>
            </a:r>
            <a:r>
              <a:rPr sz="2500" dirty="0" err="1">
                <a:solidFill>
                  <a:schemeClr val="dk1"/>
                </a:solidFill>
                <a:latin typeface="+mn-lt"/>
                <a:sym typeface="Didact Gothic"/>
              </a:rPr>
              <a:t>phản</a:t>
            </a:r>
            <a:r>
              <a:rPr sz="2500" dirty="0">
                <a:solidFill>
                  <a:schemeClr val="dk1"/>
                </a:solidFill>
                <a:latin typeface="+mn-lt"/>
                <a:sym typeface="Didact Gothic"/>
              </a:rPr>
              <a:t> </a:t>
            </a:r>
            <a:r>
              <a:rPr sz="2500" dirty="0" err="1">
                <a:solidFill>
                  <a:schemeClr val="dk1"/>
                </a:solidFill>
                <a:latin typeface="+mn-lt"/>
                <a:sym typeface="Didact Gothic"/>
              </a:rPr>
              <a:t>ánh</a:t>
            </a:r>
            <a:r>
              <a:rPr sz="2500" dirty="0">
                <a:solidFill>
                  <a:schemeClr val="dk1"/>
                </a:solidFill>
                <a:latin typeface="+mn-lt"/>
                <a:sym typeface="Didact Gothic"/>
              </a:rPr>
              <a:t> </a:t>
            </a:r>
            <a:r>
              <a:rPr sz="2500" dirty="0" err="1">
                <a:solidFill>
                  <a:schemeClr val="dk1"/>
                </a:solidFill>
                <a:latin typeface="+mn-lt"/>
                <a:sym typeface="Didact Gothic"/>
              </a:rPr>
              <a:t>biến</a:t>
            </a:r>
            <a:r>
              <a:rPr sz="2500" dirty="0">
                <a:solidFill>
                  <a:schemeClr val="dk1"/>
                </a:solidFill>
                <a:latin typeface="+mn-lt"/>
                <a:sym typeface="Didact Gothic"/>
              </a:rPr>
              <a:t> </a:t>
            </a:r>
            <a:r>
              <a:rPr sz="2500" dirty="0" err="1">
                <a:solidFill>
                  <a:schemeClr val="dk1"/>
                </a:solidFill>
                <a:latin typeface="+mn-lt"/>
                <a:sym typeface="Didact Gothic"/>
              </a:rPr>
              <a:t>động</a:t>
            </a:r>
            <a:r>
              <a:rPr sz="2500" dirty="0">
                <a:solidFill>
                  <a:schemeClr val="dk1"/>
                </a:solidFill>
                <a:latin typeface="+mn-lt"/>
                <a:sym typeface="Didact Gothic"/>
              </a:rPr>
              <a:t> </a:t>
            </a:r>
            <a:r>
              <a:rPr sz="2500" dirty="0" err="1">
                <a:solidFill>
                  <a:schemeClr val="dk1"/>
                </a:solidFill>
                <a:latin typeface="+mn-lt"/>
                <a:sym typeface="Didact Gothic"/>
              </a:rPr>
              <a:t>ngắn</a:t>
            </a:r>
            <a:r>
              <a:rPr sz="2500" dirty="0">
                <a:solidFill>
                  <a:schemeClr val="dk1"/>
                </a:solidFill>
                <a:latin typeface="+mn-lt"/>
                <a:sym typeface="Didact Gothic"/>
              </a:rPr>
              <a:t> </a:t>
            </a:r>
            <a:r>
              <a:rPr sz="2500" dirty="0" err="1">
                <a:solidFill>
                  <a:schemeClr val="dk1"/>
                </a:solidFill>
                <a:latin typeface="+mn-lt"/>
                <a:sym typeface="Didact Gothic"/>
              </a:rPr>
              <a:t>hạn</a:t>
            </a:r>
            <a:r>
              <a:rPr sz="2500" dirty="0">
                <a:solidFill>
                  <a:schemeClr val="dk1"/>
                </a:solidFill>
                <a:latin typeface="+mn-lt"/>
                <a:sym typeface="Didact Gothic"/>
              </a:rPr>
              <a:t> </a:t>
            </a:r>
            <a:r>
              <a:rPr sz="2500" dirty="0" err="1">
                <a:solidFill>
                  <a:schemeClr val="dk1"/>
                </a:solidFill>
                <a:latin typeface="+mn-lt"/>
                <a:sym typeface="Didact Gothic"/>
              </a:rPr>
              <a:t>và</a:t>
            </a:r>
            <a:r>
              <a:rPr sz="2500" dirty="0">
                <a:solidFill>
                  <a:schemeClr val="dk1"/>
                </a:solidFill>
                <a:latin typeface="+mn-lt"/>
                <a:sym typeface="Didact Gothic"/>
              </a:rPr>
              <a:t> </a:t>
            </a:r>
            <a:r>
              <a:rPr sz="2500" dirty="0" err="1">
                <a:solidFill>
                  <a:schemeClr val="dk1"/>
                </a:solidFill>
                <a:latin typeface="+mn-lt"/>
                <a:sym typeface="Didact Gothic"/>
              </a:rPr>
              <a:t>hiệu</a:t>
            </a:r>
            <a:r>
              <a:rPr sz="2500" dirty="0">
                <a:solidFill>
                  <a:schemeClr val="dk1"/>
                </a:solidFill>
                <a:latin typeface="+mn-lt"/>
                <a:sym typeface="Didact Gothic"/>
              </a:rPr>
              <a:t> </a:t>
            </a:r>
            <a:r>
              <a:rPr sz="2500" dirty="0" err="1">
                <a:solidFill>
                  <a:schemeClr val="dk1"/>
                </a:solidFill>
                <a:latin typeface="+mn-lt"/>
                <a:sym typeface="Didact Gothic"/>
              </a:rPr>
              <a:t>ứng</a:t>
            </a:r>
            <a:r>
              <a:rPr sz="2500" dirty="0">
                <a:solidFill>
                  <a:schemeClr val="dk1"/>
                </a:solidFill>
                <a:latin typeface="+mn-lt"/>
                <a:sym typeface="Didact Gothic"/>
              </a:rPr>
              <a:t> </a:t>
            </a:r>
            <a:r>
              <a:rPr sz="2500" dirty="0" err="1">
                <a:solidFill>
                  <a:schemeClr val="dk1"/>
                </a:solidFill>
                <a:latin typeface="+mn-lt"/>
                <a:sym typeface="Didact Gothic"/>
              </a:rPr>
              <a:t>mùa</a:t>
            </a:r>
            <a:r>
              <a:rPr sz="2500" dirty="0">
                <a:solidFill>
                  <a:schemeClr val="dk1"/>
                </a:solidFill>
                <a:latin typeface="+mn-lt"/>
                <a:sym typeface="Didact Gothic"/>
              </a:rPr>
              <a:t> </a:t>
            </a:r>
            <a:r>
              <a:rPr sz="2500" dirty="0" err="1">
                <a:solidFill>
                  <a:schemeClr val="dk1"/>
                </a:solidFill>
                <a:latin typeface="+mn-lt"/>
                <a:sym typeface="Didact Gothic"/>
              </a:rPr>
              <a:t>vụ</a:t>
            </a:r>
            <a:endParaRPr lang="en-US" sz="2500" dirty="0">
              <a:solidFill>
                <a:schemeClr val="dk1"/>
              </a:solidFill>
              <a:latin typeface="+mn-lt"/>
              <a:sym typeface="Didact Gothic"/>
            </a:endParaRPr>
          </a:p>
          <a:p>
            <a:pPr marL="0" indent="0" algn="l" rtl="0">
              <a:buClr>
                <a:schemeClr val="dk1"/>
              </a:buClr>
              <a:buSzPts val="1200"/>
              <a:buNone/>
            </a:pPr>
            <a:r>
              <a:rPr lang="en-US" sz="2500" dirty="0" err="1">
                <a:latin typeface="+mn-lt"/>
              </a:rPr>
              <a:t>T</a:t>
            </a:r>
            <a:r>
              <a:rPr sz="2500" dirty="0" err="1">
                <a:solidFill>
                  <a:schemeClr val="dk1"/>
                </a:solidFill>
                <a:latin typeface="+mn-lt"/>
                <a:sym typeface="Didact Gothic"/>
              </a:rPr>
              <a:t>ăng</a:t>
            </a:r>
            <a:r>
              <a:rPr sz="2500" dirty="0">
                <a:solidFill>
                  <a:schemeClr val="dk1"/>
                </a:solidFill>
                <a:latin typeface="+mn-lt"/>
                <a:sym typeface="Didact Gothic"/>
              </a:rPr>
              <a:t> </a:t>
            </a:r>
            <a:r>
              <a:rPr sz="2500" dirty="0" err="1">
                <a:solidFill>
                  <a:schemeClr val="dk1"/>
                </a:solidFill>
                <a:latin typeface="+mn-lt"/>
                <a:sym typeface="Didact Gothic"/>
              </a:rPr>
              <a:t>trưởng</a:t>
            </a:r>
            <a:r>
              <a:rPr sz="2500" dirty="0">
                <a:solidFill>
                  <a:schemeClr val="dk1"/>
                </a:solidFill>
                <a:latin typeface="+mn-lt"/>
                <a:sym typeface="Didact Gothic"/>
              </a:rPr>
              <a:t> </a:t>
            </a:r>
            <a:r>
              <a:rPr sz="2500" dirty="0" err="1">
                <a:solidFill>
                  <a:schemeClr val="dk1"/>
                </a:solidFill>
                <a:latin typeface="+mn-lt"/>
                <a:sym typeface="Didact Gothic"/>
              </a:rPr>
              <a:t>theo</a:t>
            </a:r>
            <a:r>
              <a:rPr sz="2500" dirty="0">
                <a:solidFill>
                  <a:schemeClr val="dk1"/>
                </a:solidFill>
                <a:latin typeface="+mn-lt"/>
                <a:sym typeface="Didact Gothic"/>
              </a:rPr>
              <a:t> </a:t>
            </a:r>
            <a:r>
              <a:rPr sz="2500" dirty="0" err="1">
                <a:solidFill>
                  <a:schemeClr val="dk1"/>
                </a:solidFill>
                <a:latin typeface="+mn-lt"/>
                <a:sym typeface="Didact Gothic"/>
              </a:rPr>
              <a:t>tháng</a:t>
            </a:r>
            <a:r>
              <a:rPr sz="2500" dirty="0">
                <a:solidFill>
                  <a:schemeClr val="dk1"/>
                </a:solidFill>
                <a:latin typeface="+mn-lt"/>
                <a:sym typeface="Didact Gothic"/>
              </a:rPr>
              <a:t> (MoM) </a:t>
            </a:r>
            <a:r>
              <a:rPr sz="2500" dirty="0" err="1">
                <a:solidFill>
                  <a:schemeClr val="dk1"/>
                </a:solidFill>
                <a:latin typeface="+mn-lt"/>
                <a:sym typeface="Didact Gothic"/>
              </a:rPr>
              <a:t>cung</a:t>
            </a:r>
            <a:r>
              <a:rPr sz="2500" dirty="0">
                <a:solidFill>
                  <a:schemeClr val="dk1"/>
                </a:solidFill>
                <a:latin typeface="+mn-lt"/>
                <a:sym typeface="Didact Gothic"/>
              </a:rPr>
              <a:t> </a:t>
            </a:r>
            <a:r>
              <a:rPr sz="2500" dirty="0" err="1">
                <a:solidFill>
                  <a:schemeClr val="dk1"/>
                </a:solidFill>
                <a:latin typeface="+mn-lt"/>
                <a:sym typeface="Didact Gothic"/>
              </a:rPr>
              <a:t>cấp</a:t>
            </a:r>
            <a:r>
              <a:rPr sz="2500" dirty="0">
                <a:solidFill>
                  <a:schemeClr val="dk1"/>
                </a:solidFill>
                <a:latin typeface="+mn-lt"/>
                <a:sym typeface="Didact Gothic"/>
              </a:rPr>
              <a:t> </a:t>
            </a:r>
            <a:r>
              <a:rPr sz="2500" dirty="0" err="1">
                <a:solidFill>
                  <a:schemeClr val="dk1"/>
                </a:solidFill>
                <a:latin typeface="+mn-lt"/>
                <a:sym typeface="Didact Gothic"/>
              </a:rPr>
              <a:t>góc</a:t>
            </a:r>
            <a:r>
              <a:rPr sz="2500" dirty="0">
                <a:solidFill>
                  <a:schemeClr val="dk1"/>
                </a:solidFill>
                <a:latin typeface="+mn-lt"/>
                <a:sym typeface="Didact Gothic"/>
              </a:rPr>
              <a:t> </a:t>
            </a:r>
            <a:r>
              <a:rPr sz="2500" dirty="0" err="1">
                <a:solidFill>
                  <a:schemeClr val="dk1"/>
                </a:solidFill>
                <a:latin typeface="+mn-lt"/>
                <a:sym typeface="Didact Gothic"/>
              </a:rPr>
              <a:t>nhìn</a:t>
            </a:r>
            <a:r>
              <a:rPr sz="2500" dirty="0">
                <a:solidFill>
                  <a:schemeClr val="dk1"/>
                </a:solidFill>
                <a:latin typeface="+mn-lt"/>
                <a:sym typeface="Didact Gothic"/>
              </a:rPr>
              <a:t> </a:t>
            </a:r>
            <a:r>
              <a:rPr sz="2500" dirty="0" err="1">
                <a:solidFill>
                  <a:schemeClr val="dk1"/>
                </a:solidFill>
                <a:latin typeface="+mn-lt"/>
                <a:sym typeface="Didact Gothic"/>
              </a:rPr>
              <a:t>vĩ</a:t>
            </a:r>
            <a:r>
              <a:rPr sz="2500" dirty="0">
                <a:solidFill>
                  <a:schemeClr val="dk1"/>
                </a:solidFill>
                <a:latin typeface="+mn-lt"/>
                <a:sym typeface="Didact Gothic"/>
              </a:rPr>
              <a:t> </a:t>
            </a:r>
            <a:r>
              <a:rPr sz="2500" dirty="0" err="1">
                <a:solidFill>
                  <a:schemeClr val="dk1"/>
                </a:solidFill>
                <a:latin typeface="+mn-lt"/>
                <a:sym typeface="Didact Gothic"/>
              </a:rPr>
              <a:t>mô</a:t>
            </a:r>
            <a:r>
              <a:rPr sz="2500" dirty="0">
                <a:solidFill>
                  <a:schemeClr val="dk1"/>
                </a:solidFill>
                <a:latin typeface="+mn-lt"/>
                <a:sym typeface="Didact Gothic"/>
              </a:rPr>
              <a:t> </a:t>
            </a:r>
            <a:r>
              <a:rPr sz="2500" dirty="0" err="1">
                <a:solidFill>
                  <a:schemeClr val="dk1"/>
                </a:solidFill>
                <a:latin typeface="+mn-lt"/>
                <a:sym typeface="Didact Gothic"/>
              </a:rPr>
              <a:t>hơn</a:t>
            </a:r>
            <a:r>
              <a:rPr sz="2500" dirty="0">
                <a:solidFill>
                  <a:schemeClr val="dk1"/>
                </a:solidFill>
                <a:latin typeface="+mn-lt"/>
                <a:sym typeface="Didact Gothic"/>
              </a:rPr>
              <a:t> </a:t>
            </a:r>
            <a:r>
              <a:rPr sz="2500" dirty="0" err="1">
                <a:solidFill>
                  <a:schemeClr val="dk1"/>
                </a:solidFill>
                <a:latin typeface="+mn-lt"/>
                <a:sym typeface="Didact Gothic"/>
              </a:rPr>
              <a:t>về</a:t>
            </a:r>
            <a:r>
              <a:rPr sz="2500" dirty="0">
                <a:solidFill>
                  <a:schemeClr val="dk1"/>
                </a:solidFill>
                <a:latin typeface="+mn-lt"/>
                <a:sym typeface="Didact Gothic"/>
              </a:rPr>
              <a:t> </a:t>
            </a:r>
            <a:r>
              <a:rPr sz="2500" dirty="0" err="1">
                <a:solidFill>
                  <a:schemeClr val="dk1"/>
                </a:solidFill>
                <a:latin typeface="+mn-lt"/>
                <a:sym typeface="Didact Gothic"/>
              </a:rPr>
              <a:t>các</a:t>
            </a:r>
            <a:r>
              <a:rPr sz="2500" dirty="0">
                <a:solidFill>
                  <a:schemeClr val="dk1"/>
                </a:solidFill>
                <a:latin typeface="+mn-lt"/>
                <a:sym typeface="Didact Gothic"/>
              </a:rPr>
              <a:t> </a:t>
            </a:r>
            <a:r>
              <a:rPr sz="2500" dirty="0" err="1">
                <a:solidFill>
                  <a:schemeClr val="dk1"/>
                </a:solidFill>
                <a:latin typeface="+mn-lt"/>
                <a:sym typeface="Didact Gothic"/>
              </a:rPr>
              <a:t>giai</a:t>
            </a:r>
            <a:r>
              <a:rPr sz="2500" dirty="0">
                <a:solidFill>
                  <a:schemeClr val="dk1"/>
                </a:solidFill>
                <a:latin typeface="+mn-lt"/>
                <a:sym typeface="Didact Gothic"/>
              </a:rPr>
              <a:t> </a:t>
            </a:r>
            <a:r>
              <a:rPr sz="2500" dirty="0" err="1">
                <a:solidFill>
                  <a:schemeClr val="dk1"/>
                </a:solidFill>
                <a:latin typeface="+mn-lt"/>
                <a:sym typeface="Didact Gothic"/>
              </a:rPr>
              <a:t>đoạn</a:t>
            </a:r>
            <a:r>
              <a:rPr sz="2500" dirty="0">
                <a:solidFill>
                  <a:schemeClr val="dk1"/>
                </a:solidFill>
                <a:latin typeface="+mn-lt"/>
                <a:sym typeface="Didact Gothic"/>
              </a:rPr>
              <a:t> </a:t>
            </a:r>
            <a:r>
              <a:rPr sz="2500" dirty="0" err="1">
                <a:solidFill>
                  <a:schemeClr val="dk1"/>
                </a:solidFill>
                <a:latin typeface="+mn-lt"/>
                <a:sym typeface="Didact Gothic"/>
              </a:rPr>
              <a:t>cao</a:t>
            </a:r>
            <a:r>
              <a:rPr sz="2500" dirty="0">
                <a:solidFill>
                  <a:schemeClr val="dk1"/>
                </a:solidFill>
                <a:latin typeface="+mn-lt"/>
                <a:sym typeface="Didact Gothic"/>
              </a:rPr>
              <a:t> </a:t>
            </a:r>
            <a:r>
              <a:rPr sz="2500" dirty="0" err="1">
                <a:solidFill>
                  <a:schemeClr val="dk1"/>
                </a:solidFill>
                <a:latin typeface="+mn-lt"/>
                <a:sym typeface="Didact Gothic"/>
              </a:rPr>
              <a:t>điểm</a:t>
            </a:r>
            <a:r>
              <a:rPr sz="2500" dirty="0">
                <a:solidFill>
                  <a:schemeClr val="dk1"/>
                </a:solidFill>
                <a:latin typeface="+mn-lt"/>
                <a:sym typeface="Didact Gothic"/>
              </a:rPr>
              <a:t> </a:t>
            </a:r>
            <a:r>
              <a:rPr sz="2500" dirty="0" err="1">
                <a:solidFill>
                  <a:schemeClr val="dk1"/>
                </a:solidFill>
                <a:latin typeface="+mn-lt"/>
                <a:sym typeface="Didact Gothic"/>
              </a:rPr>
              <a:t>và</a:t>
            </a:r>
            <a:r>
              <a:rPr sz="2500" dirty="0">
                <a:solidFill>
                  <a:schemeClr val="dk1"/>
                </a:solidFill>
                <a:latin typeface="+mn-lt"/>
                <a:sym typeface="Didact Gothic"/>
              </a:rPr>
              <a:t> </a:t>
            </a:r>
            <a:r>
              <a:rPr sz="2500" dirty="0" err="1">
                <a:solidFill>
                  <a:schemeClr val="dk1"/>
                </a:solidFill>
                <a:latin typeface="+mn-lt"/>
                <a:sym typeface="Didact Gothic"/>
              </a:rPr>
              <a:t>thấp</a:t>
            </a:r>
            <a:r>
              <a:rPr sz="2500" dirty="0">
                <a:solidFill>
                  <a:schemeClr val="dk1"/>
                </a:solidFill>
                <a:latin typeface="+mn-lt"/>
                <a:sym typeface="Didact Gothic"/>
              </a:rPr>
              <a:t> </a:t>
            </a:r>
            <a:r>
              <a:rPr sz="2500" dirty="0" err="1">
                <a:solidFill>
                  <a:schemeClr val="dk1"/>
                </a:solidFill>
                <a:latin typeface="+mn-lt"/>
                <a:sym typeface="Didact Gothic"/>
              </a:rPr>
              <a:t>điểm</a:t>
            </a:r>
            <a:r>
              <a:rPr sz="2500" dirty="0">
                <a:solidFill>
                  <a:schemeClr val="dk1"/>
                </a:solidFill>
                <a:latin typeface="+mn-lt"/>
                <a:sym typeface="Didact Gothic"/>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9050D4BC-E1D5-D096-E8BD-7C98DA63415B}"/>
              </a:ext>
            </a:extLst>
          </p:cNvPr>
          <p:cNvPicPr>
            <a:picLocks noChangeAspect="1"/>
          </p:cNvPicPr>
          <p:nvPr/>
        </p:nvPicPr>
        <p:blipFill>
          <a:blip r:embed="rId2"/>
          <a:stretch>
            <a:fillRect/>
          </a:stretch>
        </p:blipFill>
        <p:spPr>
          <a:xfrm>
            <a:off x="274302" y="586596"/>
            <a:ext cx="8595395" cy="3261953"/>
          </a:xfrm>
          <a:prstGeom prst="rect">
            <a:avLst/>
          </a:prstGeom>
        </p:spPr>
      </p:pic>
      <p:sp>
        <p:nvSpPr>
          <p:cNvPr id="7" name="TextBox 6">
            <a:extLst>
              <a:ext uri="{FF2B5EF4-FFF2-40B4-BE49-F238E27FC236}">
                <a16:creationId xmlns="" xmlns:a16="http://schemas.microsoft.com/office/drawing/2014/main" id="{C0A5FA48-0E5E-FC19-E510-A55C1882EFD8}"/>
              </a:ext>
            </a:extLst>
          </p:cNvPr>
          <p:cNvSpPr txBox="1"/>
          <p:nvPr/>
        </p:nvSpPr>
        <p:spPr>
          <a:xfrm>
            <a:off x="804492" y="3848549"/>
            <a:ext cx="7787418" cy="584775"/>
          </a:xfrm>
          <a:prstGeom prst="rect">
            <a:avLst/>
          </a:prstGeom>
          <a:noFill/>
        </p:spPr>
        <p:txBody>
          <a:bodyPr wrap="square">
            <a:spAutoFit/>
          </a:bodyPr>
          <a:lstStyle/>
          <a:p>
            <a:r>
              <a:rPr lang="vi-VN" sz="1600" dirty="0"/>
              <a:t>Hình 4. Tăng trưởng doanh thu gộp theo tuần (WoW). Các pha tăng/giảm</a:t>
            </a:r>
            <a:r>
              <a:rPr lang="en-US" sz="1600" dirty="0"/>
              <a:t> </a:t>
            </a:r>
            <a:r>
              <a:rPr lang="vi-VN" sz="1600" dirty="0"/>
              <a:t>mạnh phản ánh biến động theo chu kỳ ngắn hạn và hiệu ứng mùa vụ.</a:t>
            </a:r>
            <a:endParaRPr lang="en-US" sz="1600" dirty="0"/>
          </a:p>
        </p:txBody>
      </p:sp>
    </p:spTree>
    <p:extLst>
      <p:ext uri="{BB962C8B-B14F-4D97-AF65-F5344CB8AC3E}">
        <p14:creationId xmlns="" xmlns:p14="http://schemas.microsoft.com/office/powerpoint/2010/main" val="2859016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CB8C15AA-AAA6-970A-F9CD-0CE25E4784D0}"/>
              </a:ext>
            </a:extLst>
          </p:cNvPr>
          <p:cNvPicPr>
            <a:picLocks noChangeAspect="1"/>
          </p:cNvPicPr>
          <p:nvPr/>
        </p:nvPicPr>
        <p:blipFill>
          <a:blip r:embed="rId2"/>
          <a:stretch>
            <a:fillRect/>
          </a:stretch>
        </p:blipFill>
        <p:spPr>
          <a:xfrm>
            <a:off x="157560" y="707367"/>
            <a:ext cx="8828879" cy="3261952"/>
          </a:xfrm>
          <a:prstGeom prst="rect">
            <a:avLst/>
          </a:prstGeom>
        </p:spPr>
      </p:pic>
      <p:sp>
        <p:nvSpPr>
          <p:cNvPr id="7" name="TextBox 6">
            <a:extLst>
              <a:ext uri="{FF2B5EF4-FFF2-40B4-BE49-F238E27FC236}">
                <a16:creationId xmlns="" xmlns:a16="http://schemas.microsoft.com/office/drawing/2014/main" id="{0C33F281-5FC5-1374-C10D-8634DCF7456A}"/>
              </a:ext>
            </a:extLst>
          </p:cNvPr>
          <p:cNvSpPr txBox="1"/>
          <p:nvPr/>
        </p:nvSpPr>
        <p:spPr>
          <a:xfrm>
            <a:off x="836763" y="3969319"/>
            <a:ext cx="7927676" cy="584775"/>
          </a:xfrm>
          <a:prstGeom prst="rect">
            <a:avLst/>
          </a:prstGeom>
          <a:noFill/>
        </p:spPr>
        <p:txBody>
          <a:bodyPr wrap="square">
            <a:spAutoFit/>
          </a:bodyPr>
          <a:lstStyle/>
          <a:p>
            <a:r>
              <a:rPr lang="vi-VN" sz="1600" dirty="0"/>
              <a:t>Hình 5. Tăng trưởng doanh thu gộp theo tháng (MoM), cung cấp góc nhìn</a:t>
            </a:r>
            <a:r>
              <a:rPr lang="en-US" sz="1600" dirty="0"/>
              <a:t> </a:t>
            </a:r>
            <a:r>
              <a:rPr lang="vi-VN" sz="1600" dirty="0"/>
              <a:t>vĩ mô hơn về xu hướng và các giai đoạn cao điểm/thấp điểm trong năm.</a:t>
            </a:r>
            <a:endParaRPr lang="en-US" sz="1600" dirty="0"/>
          </a:p>
        </p:txBody>
      </p:sp>
    </p:spTree>
    <p:extLst>
      <p:ext uri="{BB962C8B-B14F-4D97-AF65-F5344CB8AC3E}">
        <p14:creationId xmlns="" xmlns:p14="http://schemas.microsoft.com/office/powerpoint/2010/main" val="16607346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pPr algn="ctr">
              <a:buSzPts val="2800"/>
            </a:pP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r>
              <a:rPr sz="4400" dirty="0">
                <a:latin typeface="Aptos Display" panose="020B0004020202020204" pitchFamily="34" charset="0"/>
              </a:rPr>
              <a:t> </a:t>
            </a:r>
            <a:r>
              <a:rPr sz="4400" dirty="0" err="1">
                <a:latin typeface="Aptos Display" panose="020B0004020202020204" pitchFamily="34" charset="0"/>
              </a:rPr>
              <a:t>theo</a:t>
            </a:r>
            <a:r>
              <a:rPr sz="4400" dirty="0">
                <a:latin typeface="Aptos Display" panose="020B0004020202020204" pitchFamily="34" charset="0"/>
              </a:rPr>
              <a:t> </a:t>
            </a:r>
            <a:r>
              <a:rPr sz="4400" dirty="0" err="1">
                <a:latin typeface="Aptos Display" panose="020B0004020202020204" pitchFamily="34" charset="0"/>
              </a:rPr>
              <a:t>sản</a:t>
            </a:r>
            <a:r>
              <a:rPr sz="4400" dirty="0">
                <a:latin typeface="Aptos Display" panose="020B0004020202020204" pitchFamily="34" charset="0"/>
              </a:rPr>
              <a:t> </a:t>
            </a:r>
            <a:r>
              <a:rPr sz="4400" dirty="0" err="1">
                <a:latin typeface="Aptos Display" panose="020B0004020202020204" pitchFamily="34" charset="0"/>
              </a:rPr>
              <a:t>phẩm</a:t>
            </a:r>
            <a:endParaRPr sz="4400" dirty="0">
              <a:latin typeface="Aptos Display" panose="020B0004020202020204" pitchFamily="34" charset="0"/>
            </a:endParaRPr>
          </a:p>
        </p:txBody>
      </p:sp>
      <p:sp>
        <p:nvSpPr>
          <p:cNvPr id="4" name="Picture Placeholder 3"/>
          <p:cNvSpPr>
            <a:spLocks noGrp="1"/>
          </p:cNvSpPr>
          <p:nvPr>
            <p:ph type="pic" idx="4294967295"/>
          </p:nvPr>
        </p:nvSpPr>
        <p:spPr>
          <a:xfrm>
            <a:off x="418785" y="1411119"/>
            <a:ext cx="8306429" cy="2160420"/>
          </a:xfrm>
          <a:noFill/>
          <a:ln>
            <a:noFill/>
          </a:ln>
        </p:spPr>
        <p:txBody>
          <a:bodyPr/>
          <a:lstStyle/>
          <a:p>
            <a:pPr marL="0" indent="0" algn="l" rtl="0">
              <a:buClr>
                <a:schemeClr val="dk1"/>
              </a:buClr>
              <a:buSzPts val="1200"/>
              <a:buNone/>
            </a:pPr>
            <a:r>
              <a:rPr sz="2500" dirty="0">
                <a:solidFill>
                  <a:schemeClr val="dk1"/>
                </a:solidFill>
                <a:latin typeface="+mn-lt"/>
                <a:sym typeface="Didact Gothic"/>
              </a:rPr>
              <a:t>Doanh </a:t>
            </a:r>
            <a:r>
              <a:rPr sz="2500" dirty="0" err="1">
                <a:solidFill>
                  <a:schemeClr val="dk1"/>
                </a:solidFill>
                <a:latin typeface="+mn-lt"/>
                <a:sym typeface="Didact Gothic"/>
              </a:rPr>
              <a:t>thu</a:t>
            </a:r>
            <a:r>
              <a:rPr sz="2500" dirty="0">
                <a:solidFill>
                  <a:schemeClr val="dk1"/>
                </a:solidFill>
                <a:latin typeface="+mn-lt"/>
                <a:sym typeface="Didact Gothic"/>
              </a:rPr>
              <a:t> </a:t>
            </a:r>
            <a:r>
              <a:rPr sz="2500" dirty="0" err="1">
                <a:solidFill>
                  <a:schemeClr val="dk1"/>
                </a:solidFill>
                <a:latin typeface="+mn-lt"/>
                <a:sym typeface="Didact Gothic"/>
              </a:rPr>
              <a:t>phân</a:t>
            </a:r>
            <a:r>
              <a:rPr sz="2500" dirty="0">
                <a:solidFill>
                  <a:schemeClr val="dk1"/>
                </a:solidFill>
                <a:latin typeface="+mn-lt"/>
                <a:sym typeface="Didact Gothic"/>
              </a:rPr>
              <a:t> </a:t>
            </a:r>
            <a:r>
              <a:rPr sz="2500" dirty="0" err="1">
                <a:solidFill>
                  <a:schemeClr val="dk1"/>
                </a:solidFill>
                <a:latin typeface="+mn-lt"/>
                <a:sym typeface="Didact Gothic"/>
              </a:rPr>
              <a:t>bổ</a:t>
            </a:r>
            <a:r>
              <a:rPr sz="2500" dirty="0">
                <a:solidFill>
                  <a:schemeClr val="dk1"/>
                </a:solidFill>
                <a:latin typeface="+mn-lt"/>
                <a:sym typeface="Didact Gothic"/>
              </a:rPr>
              <a:t> </a:t>
            </a:r>
            <a:r>
              <a:rPr sz="2500" dirty="0" err="1">
                <a:solidFill>
                  <a:schemeClr val="dk1"/>
                </a:solidFill>
                <a:latin typeface="+mn-lt"/>
                <a:sym typeface="Didact Gothic"/>
              </a:rPr>
              <a:t>không</a:t>
            </a:r>
            <a:r>
              <a:rPr sz="2500" dirty="0">
                <a:solidFill>
                  <a:schemeClr val="dk1"/>
                </a:solidFill>
                <a:latin typeface="+mn-lt"/>
                <a:sym typeface="Didact Gothic"/>
              </a:rPr>
              <a:t> </a:t>
            </a:r>
            <a:r>
              <a:rPr sz="2500" dirty="0" err="1">
                <a:solidFill>
                  <a:schemeClr val="dk1"/>
                </a:solidFill>
                <a:latin typeface="+mn-lt"/>
                <a:sym typeface="Didact Gothic"/>
              </a:rPr>
              <a:t>đồng</a:t>
            </a:r>
            <a:r>
              <a:rPr sz="2500" dirty="0">
                <a:solidFill>
                  <a:schemeClr val="dk1"/>
                </a:solidFill>
                <a:latin typeface="+mn-lt"/>
                <a:sym typeface="Didact Gothic"/>
              </a:rPr>
              <a:t> </a:t>
            </a:r>
            <a:r>
              <a:rPr sz="2500" dirty="0" err="1">
                <a:solidFill>
                  <a:schemeClr val="dk1"/>
                </a:solidFill>
                <a:latin typeface="+mn-lt"/>
                <a:sym typeface="Didact Gothic"/>
              </a:rPr>
              <a:t>đều</a:t>
            </a:r>
            <a:r>
              <a:rPr sz="2500" dirty="0">
                <a:solidFill>
                  <a:schemeClr val="dk1"/>
                </a:solidFill>
                <a:latin typeface="+mn-lt"/>
                <a:sym typeface="Didact Gothic"/>
              </a:rPr>
              <a:t> </a:t>
            </a:r>
            <a:r>
              <a:rPr sz="2500" dirty="0" err="1">
                <a:solidFill>
                  <a:schemeClr val="dk1"/>
                </a:solidFill>
                <a:latin typeface="+mn-lt"/>
                <a:sym typeface="Didact Gothic"/>
              </a:rPr>
              <a:t>giữa</a:t>
            </a:r>
            <a:r>
              <a:rPr sz="2500" dirty="0">
                <a:solidFill>
                  <a:schemeClr val="dk1"/>
                </a:solidFill>
                <a:latin typeface="+mn-lt"/>
                <a:sym typeface="Didact Gothic"/>
              </a:rPr>
              <a:t> </a:t>
            </a:r>
            <a:r>
              <a:rPr sz="2500" dirty="0" err="1">
                <a:solidFill>
                  <a:schemeClr val="dk1"/>
                </a:solidFill>
                <a:latin typeface="+mn-lt"/>
                <a:sym typeface="Didact Gothic"/>
              </a:rPr>
              <a:t>các</a:t>
            </a:r>
            <a:r>
              <a:rPr sz="2500" dirty="0">
                <a:solidFill>
                  <a:schemeClr val="dk1"/>
                </a:solidFill>
                <a:latin typeface="+mn-lt"/>
                <a:sym typeface="Didact Gothic"/>
              </a:rPr>
              <a:t> </a:t>
            </a:r>
            <a:r>
              <a:rPr sz="2500" dirty="0" err="1">
                <a:solidFill>
                  <a:schemeClr val="dk1"/>
                </a:solidFill>
                <a:latin typeface="+mn-lt"/>
                <a:sym typeface="Didact Gothic"/>
              </a:rPr>
              <a:t>sản</a:t>
            </a:r>
            <a:r>
              <a:rPr sz="2500" dirty="0">
                <a:solidFill>
                  <a:schemeClr val="dk1"/>
                </a:solidFill>
                <a:latin typeface="+mn-lt"/>
                <a:sym typeface="Didact Gothic"/>
              </a:rPr>
              <a:t> </a:t>
            </a:r>
            <a:r>
              <a:rPr sz="2500" dirty="0" err="1">
                <a:solidFill>
                  <a:schemeClr val="dk1"/>
                </a:solidFill>
                <a:latin typeface="+mn-lt"/>
                <a:sym typeface="Didact Gothic"/>
              </a:rPr>
              <a:t>phẩm</a:t>
            </a:r>
            <a:r>
              <a:rPr sz="2500" dirty="0">
                <a:solidFill>
                  <a:schemeClr val="dk1"/>
                </a:solidFill>
                <a:latin typeface="+mn-lt"/>
                <a:sym typeface="Didact Gothic"/>
              </a:rPr>
              <a:t>. </a:t>
            </a:r>
            <a:r>
              <a:rPr sz="2500" dirty="0" err="1">
                <a:solidFill>
                  <a:schemeClr val="dk1"/>
                </a:solidFill>
                <a:latin typeface="+mn-lt"/>
                <a:sym typeface="Didact Gothic"/>
              </a:rPr>
              <a:t>Một</a:t>
            </a:r>
            <a:r>
              <a:rPr sz="2500" dirty="0">
                <a:solidFill>
                  <a:schemeClr val="dk1"/>
                </a:solidFill>
                <a:latin typeface="+mn-lt"/>
                <a:sym typeface="Didact Gothic"/>
              </a:rPr>
              <a:t> </a:t>
            </a:r>
            <a:r>
              <a:rPr sz="2500" dirty="0" err="1">
                <a:solidFill>
                  <a:schemeClr val="dk1"/>
                </a:solidFill>
                <a:latin typeface="+mn-lt"/>
                <a:sym typeface="Didact Gothic"/>
              </a:rPr>
              <a:t>nhóm</a:t>
            </a:r>
            <a:r>
              <a:rPr sz="2500" dirty="0">
                <a:solidFill>
                  <a:schemeClr val="dk1"/>
                </a:solidFill>
                <a:latin typeface="+mn-lt"/>
                <a:sym typeface="Didact Gothic"/>
              </a:rPr>
              <a:t> </a:t>
            </a:r>
            <a:r>
              <a:rPr sz="2500" dirty="0" err="1">
                <a:solidFill>
                  <a:schemeClr val="dk1"/>
                </a:solidFill>
                <a:latin typeface="+mn-lt"/>
                <a:sym typeface="Didact Gothic"/>
              </a:rPr>
              <a:t>nhỏ</a:t>
            </a:r>
            <a:r>
              <a:rPr sz="2500" dirty="0">
                <a:solidFill>
                  <a:schemeClr val="dk1"/>
                </a:solidFill>
                <a:latin typeface="+mn-lt"/>
                <a:sym typeface="Didact Gothic"/>
              </a:rPr>
              <a:t> </a:t>
            </a:r>
            <a:r>
              <a:rPr sz="2500" dirty="0" err="1">
                <a:solidFill>
                  <a:schemeClr val="dk1"/>
                </a:solidFill>
                <a:latin typeface="+mn-lt"/>
                <a:sym typeface="Didact Gothic"/>
              </a:rPr>
              <a:t>sản</a:t>
            </a:r>
            <a:r>
              <a:rPr sz="2500" dirty="0">
                <a:solidFill>
                  <a:schemeClr val="dk1"/>
                </a:solidFill>
                <a:latin typeface="+mn-lt"/>
                <a:sym typeface="Didact Gothic"/>
              </a:rPr>
              <a:t> </a:t>
            </a:r>
            <a:r>
              <a:rPr sz="2500" dirty="0" err="1">
                <a:solidFill>
                  <a:schemeClr val="dk1"/>
                </a:solidFill>
                <a:latin typeface="+mn-lt"/>
                <a:sym typeface="Didact Gothic"/>
              </a:rPr>
              <a:t>phẩm</a:t>
            </a:r>
            <a:r>
              <a:rPr sz="2500" dirty="0">
                <a:solidFill>
                  <a:schemeClr val="dk1"/>
                </a:solidFill>
                <a:latin typeface="+mn-lt"/>
                <a:sym typeface="Didact Gothic"/>
              </a:rPr>
              <a:t> </a:t>
            </a:r>
            <a:r>
              <a:rPr sz="2500" dirty="0" err="1">
                <a:solidFill>
                  <a:schemeClr val="dk1"/>
                </a:solidFill>
                <a:latin typeface="+mn-lt"/>
                <a:sym typeface="Didact Gothic"/>
              </a:rPr>
              <a:t>tạo</a:t>
            </a:r>
            <a:r>
              <a:rPr sz="2500" dirty="0">
                <a:solidFill>
                  <a:schemeClr val="dk1"/>
                </a:solidFill>
                <a:latin typeface="+mn-lt"/>
                <a:sym typeface="Didact Gothic"/>
              </a:rPr>
              <a:t> </a:t>
            </a:r>
            <a:r>
              <a:rPr sz="2500" dirty="0" err="1">
                <a:solidFill>
                  <a:schemeClr val="dk1"/>
                </a:solidFill>
                <a:latin typeface="+mn-lt"/>
                <a:sym typeface="Didact Gothic"/>
              </a:rPr>
              <a:t>ra</a:t>
            </a:r>
            <a:r>
              <a:rPr sz="2500" dirty="0">
                <a:solidFill>
                  <a:schemeClr val="dk1"/>
                </a:solidFill>
                <a:latin typeface="+mn-lt"/>
                <a:sym typeface="Didact Gothic"/>
              </a:rPr>
              <a:t> </a:t>
            </a:r>
            <a:r>
              <a:rPr sz="2500" dirty="0" err="1">
                <a:solidFill>
                  <a:schemeClr val="dk1"/>
                </a:solidFill>
                <a:latin typeface="+mn-lt"/>
                <a:sym typeface="Didact Gothic"/>
              </a:rPr>
              <a:t>phần</a:t>
            </a:r>
            <a:r>
              <a:rPr sz="2500" dirty="0">
                <a:solidFill>
                  <a:schemeClr val="dk1"/>
                </a:solidFill>
                <a:latin typeface="+mn-lt"/>
                <a:sym typeface="Didact Gothic"/>
              </a:rPr>
              <a:t> </a:t>
            </a:r>
            <a:r>
              <a:rPr sz="2500" dirty="0" err="1">
                <a:solidFill>
                  <a:schemeClr val="dk1"/>
                </a:solidFill>
                <a:latin typeface="+mn-lt"/>
                <a:sym typeface="Didact Gothic"/>
              </a:rPr>
              <a:t>lớn</a:t>
            </a:r>
            <a:r>
              <a:rPr sz="2500" dirty="0">
                <a:solidFill>
                  <a:schemeClr val="dk1"/>
                </a:solidFill>
                <a:latin typeface="+mn-lt"/>
                <a:sym typeface="Didact Gothic"/>
              </a:rPr>
              <a:t> </a:t>
            </a:r>
            <a:r>
              <a:rPr sz="2500" dirty="0" err="1">
                <a:solidFill>
                  <a:schemeClr val="dk1"/>
                </a:solidFill>
                <a:latin typeface="+mn-lt"/>
                <a:sym typeface="Didact Gothic"/>
              </a:rPr>
              <a:t>doanh</a:t>
            </a:r>
            <a:r>
              <a:rPr sz="2500" dirty="0">
                <a:solidFill>
                  <a:schemeClr val="dk1"/>
                </a:solidFill>
                <a:latin typeface="+mn-lt"/>
                <a:sym typeface="Didact Gothic"/>
              </a:rPr>
              <a:t> </a:t>
            </a:r>
            <a:r>
              <a:rPr sz="2500" dirty="0" err="1">
                <a:solidFill>
                  <a:schemeClr val="dk1"/>
                </a:solidFill>
                <a:latin typeface="+mn-lt"/>
                <a:sym typeface="Didact Gothic"/>
              </a:rPr>
              <a:t>thu</a:t>
            </a:r>
            <a:r>
              <a:rPr sz="2500" dirty="0">
                <a:solidFill>
                  <a:schemeClr val="dk1"/>
                </a:solidFill>
                <a:latin typeface="+mn-lt"/>
                <a:sym typeface="Didact Gothic"/>
              </a:rPr>
              <a:t>, </a:t>
            </a:r>
            <a:r>
              <a:rPr sz="2500" dirty="0" err="1">
                <a:solidFill>
                  <a:schemeClr val="dk1"/>
                </a:solidFill>
                <a:latin typeface="+mn-lt"/>
                <a:sym typeface="Didact Gothic"/>
              </a:rPr>
              <a:t>trong</a:t>
            </a:r>
            <a:r>
              <a:rPr sz="2500" dirty="0">
                <a:solidFill>
                  <a:schemeClr val="dk1"/>
                </a:solidFill>
                <a:latin typeface="+mn-lt"/>
                <a:sym typeface="Didact Gothic"/>
              </a:rPr>
              <a:t> </a:t>
            </a:r>
            <a:r>
              <a:rPr sz="2500" dirty="0" err="1">
                <a:solidFill>
                  <a:schemeClr val="dk1"/>
                </a:solidFill>
                <a:latin typeface="+mn-lt"/>
                <a:sym typeface="Didact Gothic"/>
              </a:rPr>
              <a:t>khi</a:t>
            </a:r>
            <a:r>
              <a:rPr sz="2500" dirty="0">
                <a:solidFill>
                  <a:schemeClr val="dk1"/>
                </a:solidFill>
                <a:latin typeface="+mn-lt"/>
                <a:sym typeface="Didact Gothic"/>
              </a:rPr>
              <a:t> </a:t>
            </a:r>
            <a:r>
              <a:rPr sz="2500" dirty="0" err="1">
                <a:solidFill>
                  <a:schemeClr val="dk1"/>
                </a:solidFill>
                <a:latin typeface="+mn-lt"/>
                <a:sym typeface="Didact Gothic"/>
              </a:rPr>
              <a:t>nhiều</a:t>
            </a:r>
            <a:r>
              <a:rPr sz="2500" dirty="0">
                <a:solidFill>
                  <a:schemeClr val="dk1"/>
                </a:solidFill>
                <a:latin typeface="+mn-lt"/>
                <a:sym typeface="Didact Gothic"/>
              </a:rPr>
              <a:t> </a:t>
            </a:r>
            <a:r>
              <a:rPr sz="2500" dirty="0" err="1">
                <a:solidFill>
                  <a:schemeClr val="dk1"/>
                </a:solidFill>
                <a:latin typeface="+mn-lt"/>
                <a:sym typeface="Didact Gothic"/>
              </a:rPr>
              <a:t>sản</a:t>
            </a:r>
            <a:r>
              <a:rPr sz="2500" dirty="0">
                <a:solidFill>
                  <a:schemeClr val="dk1"/>
                </a:solidFill>
                <a:latin typeface="+mn-lt"/>
                <a:sym typeface="Didact Gothic"/>
              </a:rPr>
              <a:t> </a:t>
            </a:r>
            <a:r>
              <a:rPr sz="2500" dirty="0" err="1">
                <a:solidFill>
                  <a:schemeClr val="dk1"/>
                </a:solidFill>
                <a:latin typeface="+mn-lt"/>
                <a:sym typeface="Didact Gothic"/>
              </a:rPr>
              <a:t>phẩm</a:t>
            </a:r>
            <a:r>
              <a:rPr sz="2500" dirty="0">
                <a:solidFill>
                  <a:schemeClr val="dk1"/>
                </a:solidFill>
                <a:latin typeface="+mn-lt"/>
                <a:sym typeface="Didact Gothic"/>
              </a:rPr>
              <a:t> </a:t>
            </a:r>
            <a:r>
              <a:rPr sz="2500" dirty="0" err="1">
                <a:solidFill>
                  <a:schemeClr val="dk1"/>
                </a:solidFill>
                <a:latin typeface="+mn-lt"/>
                <a:sym typeface="Didact Gothic"/>
              </a:rPr>
              <a:t>khác</a:t>
            </a:r>
            <a:r>
              <a:rPr sz="2500" dirty="0">
                <a:solidFill>
                  <a:schemeClr val="dk1"/>
                </a:solidFill>
                <a:latin typeface="+mn-lt"/>
                <a:sym typeface="Didact Gothic"/>
              </a:rPr>
              <a:t> </a:t>
            </a:r>
            <a:r>
              <a:rPr sz="2500" dirty="0" err="1">
                <a:solidFill>
                  <a:schemeClr val="dk1"/>
                </a:solidFill>
                <a:latin typeface="+mn-lt"/>
                <a:sym typeface="Didact Gothic"/>
              </a:rPr>
              <a:t>đóng</a:t>
            </a:r>
            <a:r>
              <a:rPr sz="2500" dirty="0">
                <a:solidFill>
                  <a:schemeClr val="dk1"/>
                </a:solidFill>
                <a:latin typeface="+mn-lt"/>
                <a:sym typeface="Didact Gothic"/>
              </a:rPr>
              <a:t> </a:t>
            </a:r>
            <a:r>
              <a:rPr sz="2500" dirty="0" err="1">
                <a:solidFill>
                  <a:schemeClr val="dk1"/>
                </a:solidFill>
                <a:latin typeface="+mn-lt"/>
                <a:sym typeface="Didact Gothic"/>
              </a:rPr>
              <a:t>góp</a:t>
            </a:r>
            <a:r>
              <a:rPr sz="2500" dirty="0">
                <a:solidFill>
                  <a:schemeClr val="dk1"/>
                </a:solidFill>
                <a:latin typeface="+mn-lt"/>
                <a:sym typeface="Didact Gothic"/>
              </a:rPr>
              <a:t> </a:t>
            </a:r>
            <a:r>
              <a:rPr sz="2500" dirty="0" err="1">
                <a:solidFill>
                  <a:schemeClr val="dk1"/>
                </a:solidFill>
                <a:latin typeface="+mn-lt"/>
                <a:sym typeface="Didact Gothic"/>
              </a:rPr>
              <a:t>rất</a:t>
            </a:r>
            <a:r>
              <a:rPr sz="2500" dirty="0">
                <a:solidFill>
                  <a:schemeClr val="dk1"/>
                </a:solidFill>
                <a:latin typeface="+mn-lt"/>
                <a:sym typeface="Didact Gothic"/>
              </a:rPr>
              <a:t> </a:t>
            </a:r>
            <a:r>
              <a:rPr sz="2500" dirty="0" err="1">
                <a:solidFill>
                  <a:schemeClr val="dk1"/>
                </a:solidFill>
                <a:latin typeface="+mn-lt"/>
                <a:sym typeface="Didact Gothic"/>
              </a:rPr>
              <a:t>thấp</a:t>
            </a:r>
            <a:r>
              <a:rPr sz="2500" dirty="0">
                <a:solidFill>
                  <a:schemeClr val="dk1"/>
                </a:solidFill>
                <a:latin typeface="+mn-lt"/>
                <a:sym typeface="Didact Gothic"/>
              </a:rPr>
              <a:t>. </a:t>
            </a:r>
            <a:endParaRPr lang="en-US" sz="2500" dirty="0">
              <a:solidFill>
                <a:schemeClr val="dk1"/>
              </a:solidFill>
              <a:latin typeface="+mn-lt"/>
              <a:sym typeface="Didact Gothic"/>
            </a:endParaRPr>
          </a:p>
          <a:p>
            <a:pPr marL="0" indent="0" algn="l" rtl="0">
              <a:buClr>
                <a:schemeClr val="dk1"/>
              </a:buClr>
              <a:buSzPts val="1200"/>
              <a:buNone/>
            </a:pPr>
            <a:r>
              <a:rPr lang="en-US" sz="2500" dirty="0">
                <a:solidFill>
                  <a:schemeClr val="dk1"/>
                </a:solidFill>
                <a:latin typeface="+mn-lt"/>
                <a:sym typeface="Wingdings" panose="05000000000000000000" pitchFamily="2" charset="2"/>
              </a:rPr>
              <a:t> </a:t>
            </a:r>
            <a:r>
              <a:rPr sz="2500" dirty="0" err="1">
                <a:solidFill>
                  <a:schemeClr val="dk1"/>
                </a:solidFill>
                <a:latin typeface="+mn-lt"/>
                <a:sym typeface="Didact Gothic"/>
              </a:rPr>
              <a:t>Kết</a:t>
            </a:r>
            <a:r>
              <a:rPr sz="2500" dirty="0">
                <a:solidFill>
                  <a:schemeClr val="dk1"/>
                </a:solidFill>
                <a:latin typeface="+mn-lt"/>
                <a:sym typeface="Didact Gothic"/>
              </a:rPr>
              <a:t> </a:t>
            </a:r>
            <a:r>
              <a:rPr sz="2500" dirty="0" err="1">
                <a:solidFill>
                  <a:schemeClr val="dk1"/>
                </a:solidFill>
                <a:latin typeface="+mn-lt"/>
                <a:sym typeface="Didact Gothic"/>
              </a:rPr>
              <a:t>quả</a:t>
            </a:r>
            <a:r>
              <a:rPr sz="2500" dirty="0">
                <a:solidFill>
                  <a:schemeClr val="dk1"/>
                </a:solidFill>
                <a:latin typeface="+mn-lt"/>
                <a:sym typeface="Didact Gothic"/>
              </a:rPr>
              <a:t> </a:t>
            </a:r>
            <a:r>
              <a:rPr sz="2500" dirty="0" err="1">
                <a:solidFill>
                  <a:schemeClr val="dk1"/>
                </a:solidFill>
                <a:latin typeface="+mn-lt"/>
                <a:sym typeface="Didact Gothic"/>
              </a:rPr>
              <a:t>gợi</a:t>
            </a:r>
            <a:r>
              <a:rPr sz="2500" dirty="0">
                <a:solidFill>
                  <a:schemeClr val="dk1"/>
                </a:solidFill>
                <a:latin typeface="+mn-lt"/>
                <a:sym typeface="Didact Gothic"/>
              </a:rPr>
              <a:t> ý </a:t>
            </a:r>
            <a:r>
              <a:rPr sz="2500" dirty="0" err="1">
                <a:solidFill>
                  <a:schemeClr val="dk1"/>
                </a:solidFill>
                <a:latin typeface="+mn-lt"/>
                <a:sym typeface="Didact Gothic"/>
              </a:rPr>
              <a:t>chiến</a:t>
            </a:r>
            <a:r>
              <a:rPr sz="2500" dirty="0">
                <a:solidFill>
                  <a:schemeClr val="dk1"/>
                </a:solidFill>
                <a:latin typeface="+mn-lt"/>
                <a:sym typeface="Didact Gothic"/>
              </a:rPr>
              <a:t> </a:t>
            </a:r>
            <a:r>
              <a:rPr sz="2500" dirty="0" err="1">
                <a:solidFill>
                  <a:schemeClr val="dk1"/>
                </a:solidFill>
                <a:latin typeface="+mn-lt"/>
                <a:sym typeface="Didact Gothic"/>
              </a:rPr>
              <a:t>lược</a:t>
            </a:r>
            <a:r>
              <a:rPr sz="2500" dirty="0">
                <a:solidFill>
                  <a:schemeClr val="dk1"/>
                </a:solidFill>
                <a:latin typeface="+mn-lt"/>
                <a:sym typeface="Didact Gothic"/>
              </a:rPr>
              <a:t> </a:t>
            </a:r>
            <a:r>
              <a:rPr sz="2500" dirty="0" err="1">
                <a:solidFill>
                  <a:schemeClr val="dk1"/>
                </a:solidFill>
                <a:latin typeface="+mn-lt"/>
                <a:sym typeface="Didact Gothic"/>
              </a:rPr>
              <a:t>tập</a:t>
            </a:r>
            <a:r>
              <a:rPr sz="2500" dirty="0">
                <a:solidFill>
                  <a:schemeClr val="dk1"/>
                </a:solidFill>
                <a:latin typeface="+mn-lt"/>
                <a:sym typeface="Didact Gothic"/>
              </a:rPr>
              <a:t> </a:t>
            </a:r>
            <a:r>
              <a:rPr sz="2500" dirty="0" err="1">
                <a:solidFill>
                  <a:schemeClr val="dk1"/>
                </a:solidFill>
                <a:latin typeface="+mn-lt"/>
                <a:sym typeface="Didact Gothic"/>
              </a:rPr>
              <a:t>trung</a:t>
            </a:r>
            <a:r>
              <a:rPr sz="2500" dirty="0">
                <a:solidFill>
                  <a:schemeClr val="dk1"/>
                </a:solidFill>
                <a:latin typeface="+mn-lt"/>
                <a:sym typeface="Didact Gothic"/>
              </a:rPr>
              <a:t> </a:t>
            </a:r>
            <a:r>
              <a:rPr sz="2500" dirty="0" err="1">
                <a:solidFill>
                  <a:schemeClr val="dk1"/>
                </a:solidFill>
                <a:latin typeface="+mn-lt"/>
                <a:sym typeface="Didact Gothic"/>
              </a:rPr>
              <a:t>vào</a:t>
            </a:r>
            <a:r>
              <a:rPr sz="2500" dirty="0">
                <a:solidFill>
                  <a:schemeClr val="dk1"/>
                </a:solidFill>
                <a:latin typeface="+mn-lt"/>
                <a:sym typeface="Didact Gothic"/>
              </a:rPr>
              <a:t> </a:t>
            </a:r>
            <a:r>
              <a:rPr sz="2500" dirty="0" err="1">
                <a:solidFill>
                  <a:schemeClr val="dk1"/>
                </a:solidFill>
                <a:latin typeface="+mn-lt"/>
                <a:sym typeface="Didact Gothic"/>
              </a:rPr>
              <a:t>các</a:t>
            </a:r>
            <a:r>
              <a:rPr sz="2500" dirty="0">
                <a:solidFill>
                  <a:schemeClr val="dk1"/>
                </a:solidFill>
                <a:latin typeface="+mn-lt"/>
                <a:sym typeface="Didact Gothic"/>
              </a:rPr>
              <a:t> </a:t>
            </a:r>
            <a:r>
              <a:rPr sz="2500" dirty="0" err="1">
                <a:solidFill>
                  <a:schemeClr val="dk1"/>
                </a:solidFill>
                <a:latin typeface="+mn-lt"/>
                <a:sym typeface="Didact Gothic"/>
              </a:rPr>
              <a:t>sản</a:t>
            </a:r>
            <a:r>
              <a:rPr sz="2500" dirty="0">
                <a:solidFill>
                  <a:schemeClr val="dk1"/>
                </a:solidFill>
                <a:latin typeface="+mn-lt"/>
                <a:sym typeface="Didact Gothic"/>
              </a:rPr>
              <a:t> </a:t>
            </a:r>
            <a:r>
              <a:rPr sz="2500" dirty="0" err="1">
                <a:solidFill>
                  <a:schemeClr val="dk1"/>
                </a:solidFill>
                <a:latin typeface="+mn-lt"/>
                <a:sym typeface="Didact Gothic"/>
              </a:rPr>
              <a:t>phẩm</a:t>
            </a:r>
            <a:r>
              <a:rPr sz="2500" dirty="0">
                <a:solidFill>
                  <a:schemeClr val="dk1"/>
                </a:solidFill>
                <a:latin typeface="+mn-lt"/>
                <a:sym typeface="Didact Gothic"/>
              </a:rPr>
              <a:t> </a:t>
            </a:r>
            <a:r>
              <a:rPr sz="2500" dirty="0" err="1">
                <a:solidFill>
                  <a:schemeClr val="dk1"/>
                </a:solidFill>
                <a:latin typeface="+mn-lt"/>
                <a:sym typeface="Didact Gothic"/>
              </a:rPr>
              <a:t>chủ</a:t>
            </a:r>
            <a:r>
              <a:rPr sz="2500" dirty="0">
                <a:solidFill>
                  <a:schemeClr val="dk1"/>
                </a:solidFill>
                <a:latin typeface="+mn-lt"/>
                <a:sym typeface="Didact Gothic"/>
              </a:rPr>
              <a:t> </a:t>
            </a:r>
            <a:r>
              <a:rPr sz="2500" dirty="0" err="1">
                <a:solidFill>
                  <a:schemeClr val="dk1"/>
                </a:solidFill>
                <a:latin typeface="+mn-lt"/>
                <a:sym typeface="Didact Gothic"/>
              </a:rPr>
              <a:t>lực</a:t>
            </a:r>
            <a:r>
              <a:rPr sz="2500" dirty="0">
                <a:solidFill>
                  <a:schemeClr val="dk1"/>
                </a:solidFill>
                <a:latin typeface="+mn-lt"/>
                <a:sym typeface="Didact Gothic"/>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88085598-5A07-A35F-3EAF-5E392AC9143F}"/>
              </a:ext>
            </a:extLst>
          </p:cNvPr>
          <p:cNvPicPr>
            <a:picLocks noChangeAspect="1"/>
          </p:cNvPicPr>
          <p:nvPr/>
        </p:nvPicPr>
        <p:blipFill>
          <a:blip r:embed="rId2"/>
          <a:stretch>
            <a:fillRect/>
          </a:stretch>
        </p:blipFill>
        <p:spPr>
          <a:xfrm>
            <a:off x="310551" y="356161"/>
            <a:ext cx="8522897" cy="4013633"/>
          </a:xfrm>
          <a:prstGeom prst="rect">
            <a:avLst/>
          </a:prstGeom>
        </p:spPr>
      </p:pic>
      <p:sp>
        <p:nvSpPr>
          <p:cNvPr id="6" name="TextBox 5">
            <a:extLst>
              <a:ext uri="{FF2B5EF4-FFF2-40B4-BE49-F238E27FC236}">
                <a16:creationId xmlns="" xmlns:a16="http://schemas.microsoft.com/office/drawing/2014/main" id="{11DA3AFA-2C12-47A4-D3FE-A97147C5DC87}"/>
              </a:ext>
            </a:extLst>
          </p:cNvPr>
          <p:cNvSpPr txBox="1"/>
          <p:nvPr/>
        </p:nvSpPr>
        <p:spPr>
          <a:xfrm>
            <a:off x="530524" y="4310909"/>
            <a:ext cx="8151961" cy="584775"/>
          </a:xfrm>
          <a:prstGeom prst="rect">
            <a:avLst/>
          </a:prstGeom>
          <a:noFill/>
        </p:spPr>
        <p:txBody>
          <a:bodyPr wrap="square">
            <a:spAutoFit/>
          </a:bodyPr>
          <a:lstStyle/>
          <a:p>
            <a:r>
              <a:rPr lang="en-US" sz="1600" dirty="0" err="1"/>
              <a:t>Hình</a:t>
            </a:r>
            <a:r>
              <a:rPr lang="en-US" sz="1600" dirty="0"/>
              <a:t> 6. Top 10 </a:t>
            </a:r>
            <a:r>
              <a:rPr lang="en-US" sz="1600" dirty="0" err="1"/>
              <a:t>sản</a:t>
            </a:r>
            <a:r>
              <a:rPr lang="en-US" sz="1600" dirty="0"/>
              <a:t> </a:t>
            </a:r>
            <a:r>
              <a:rPr lang="en-US" sz="1600" dirty="0" err="1"/>
              <a:t>phẩm</a:t>
            </a:r>
            <a:r>
              <a:rPr lang="en-US" sz="1600" dirty="0"/>
              <a:t> </a:t>
            </a:r>
            <a:r>
              <a:rPr lang="en-US" sz="1600" dirty="0" err="1"/>
              <a:t>theo</a:t>
            </a:r>
            <a:r>
              <a:rPr lang="en-US" sz="1600" dirty="0"/>
              <a:t> </a:t>
            </a:r>
            <a:r>
              <a:rPr lang="en-US" sz="1600" dirty="0" err="1"/>
              <a:t>doanh</a:t>
            </a:r>
            <a:r>
              <a:rPr lang="en-US" sz="1600" dirty="0"/>
              <a:t> </a:t>
            </a:r>
            <a:r>
              <a:rPr lang="en-US" sz="1600" dirty="0" err="1"/>
              <a:t>thu</a:t>
            </a:r>
            <a:r>
              <a:rPr lang="en-US" sz="1600" dirty="0"/>
              <a:t> </a:t>
            </a:r>
            <a:r>
              <a:rPr lang="en-US" sz="1600" dirty="0" err="1"/>
              <a:t>gộp</a:t>
            </a:r>
            <a:r>
              <a:rPr lang="en-US" sz="1600" dirty="0"/>
              <a:t> (</a:t>
            </a:r>
            <a:r>
              <a:rPr lang="en-US" sz="1600" dirty="0" err="1"/>
              <a:t>chỉ</a:t>
            </a:r>
            <a:r>
              <a:rPr lang="en-US" sz="1600" dirty="0"/>
              <a:t> </a:t>
            </a:r>
            <a:r>
              <a:rPr lang="en-US" sz="1600" dirty="0" err="1"/>
              <a:t>tính</a:t>
            </a:r>
            <a:r>
              <a:rPr lang="en-US" sz="1600" dirty="0"/>
              <a:t> </a:t>
            </a:r>
            <a:r>
              <a:rPr lang="en-US" sz="1600" dirty="0" err="1"/>
              <a:t>giao</a:t>
            </a:r>
            <a:r>
              <a:rPr lang="en-US" sz="1600" dirty="0"/>
              <a:t> </a:t>
            </a:r>
            <a:r>
              <a:rPr lang="en-US" sz="1600" dirty="0" err="1"/>
              <a:t>dịch</a:t>
            </a:r>
            <a:r>
              <a:rPr lang="en-US" sz="1600" dirty="0"/>
              <a:t> </a:t>
            </a:r>
            <a:r>
              <a:rPr lang="en-US" sz="1600" dirty="0" err="1"/>
              <a:t>bán</a:t>
            </a:r>
            <a:r>
              <a:rPr lang="en-US" sz="1600" dirty="0"/>
              <a:t>). </a:t>
            </a:r>
            <a:r>
              <a:rPr lang="en-US" sz="1600" dirty="0" err="1"/>
              <a:t>Kết</a:t>
            </a:r>
            <a:r>
              <a:rPr lang="en-US" sz="1600" dirty="0"/>
              <a:t> </a:t>
            </a:r>
            <a:r>
              <a:rPr lang="en-US" sz="1600" dirty="0" err="1"/>
              <a:t>quả</a:t>
            </a:r>
            <a:r>
              <a:rPr lang="en-US" sz="1600" dirty="0"/>
              <a:t> </a:t>
            </a:r>
            <a:r>
              <a:rPr lang="en-US" sz="1600" dirty="0" err="1"/>
              <a:t>cho</a:t>
            </a:r>
            <a:r>
              <a:rPr lang="en-US" sz="1600" dirty="0"/>
              <a:t> </a:t>
            </a:r>
            <a:r>
              <a:rPr lang="en-US" sz="1600" dirty="0" err="1"/>
              <a:t>thấy</a:t>
            </a:r>
            <a:r>
              <a:rPr lang="en-US" sz="1600" dirty="0"/>
              <a:t> </a:t>
            </a:r>
            <a:r>
              <a:rPr lang="en-US" sz="1600" dirty="0" err="1"/>
              <a:t>doanh</a:t>
            </a:r>
            <a:r>
              <a:rPr lang="en-US" sz="1600" dirty="0"/>
              <a:t> </a:t>
            </a:r>
            <a:r>
              <a:rPr lang="en-US" sz="1600" dirty="0" err="1"/>
              <a:t>thu</a:t>
            </a:r>
            <a:r>
              <a:rPr lang="en-US" sz="1600" dirty="0"/>
              <a:t> </a:t>
            </a:r>
            <a:r>
              <a:rPr lang="en-US" sz="1600" dirty="0" err="1"/>
              <a:t>tập</a:t>
            </a:r>
            <a:r>
              <a:rPr lang="en-US" sz="1600" dirty="0"/>
              <a:t> </a:t>
            </a:r>
            <a:r>
              <a:rPr lang="en-US" sz="1600" dirty="0" err="1"/>
              <a:t>trung</a:t>
            </a:r>
            <a:r>
              <a:rPr lang="en-US" sz="1600" dirty="0"/>
              <a:t> </a:t>
            </a:r>
            <a:r>
              <a:rPr lang="en-US" sz="1600" dirty="0" err="1"/>
              <a:t>vào</a:t>
            </a:r>
            <a:r>
              <a:rPr lang="en-US" sz="1600" dirty="0"/>
              <a:t> </a:t>
            </a:r>
            <a:r>
              <a:rPr lang="en-US" sz="1600" dirty="0" err="1"/>
              <a:t>một</a:t>
            </a:r>
            <a:r>
              <a:rPr lang="en-US" sz="1600" dirty="0"/>
              <a:t> </a:t>
            </a:r>
            <a:r>
              <a:rPr lang="en-US" sz="1600" dirty="0" err="1"/>
              <a:t>nhóm</a:t>
            </a:r>
            <a:r>
              <a:rPr lang="en-US" sz="1600" dirty="0"/>
              <a:t> </a:t>
            </a:r>
            <a:r>
              <a:rPr lang="en-US" sz="1600" dirty="0" err="1"/>
              <a:t>sản</a:t>
            </a:r>
            <a:r>
              <a:rPr lang="en-US" sz="1600" dirty="0"/>
              <a:t> </a:t>
            </a:r>
            <a:r>
              <a:rPr lang="en-US" sz="1600" dirty="0" err="1"/>
              <a:t>phẩm</a:t>
            </a:r>
            <a:r>
              <a:rPr lang="en-US" sz="1600" dirty="0"/>
              <a:t> </a:t>
            </a:r>
            <a:r>
              <a:rPr lang="en-US" sz="1600" dirty="0" err="1"/>
              <a:t>chủ</a:t>
            </a:r>
            <a:r>
              <a:rPr lang="en-US" sz="1600" dirty="0"/>
              <a:t> </a:t>
            </a:r>
            <a:r>
              <a:rPr lang="en-US" sz="1600" dirty="0" err="1"/>
              <a:t>lực</a:t>
            </a:r>
            <a:r>
              <a:rPr lang="en-US" sz="1600" dirty="0"/>
              <a:t>.</a:t>
            </a:r>
          </a:p>
        </p:txBody>
      </p:sp>
    </p:spTree>
    <p:extLst>
      <p:ext uri="{BB962C8B-B14F-4D97-AF65-F5344CB8AC3E}">
        <p14:creationId xmlns="" xmlns:p14="http://schemas.microsoft.com/office/powerpoint/2010/main" val="1003882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470488"/>
            <a:ext cx="7704000" cy="572700"/>
          </a:xfrm>
          <a:noFill/>
          <a:ln>
            <a:noFill/>
          </a:ln>
        </p:spPr>
        <p:txBody>
          <a:bodyPr spcFirstLastPara="1" wrap="square" lIns="91425" tIns="91425" rIns="91425" bIns="91425" anchor="t" anchorCtr="0">
            <a:noAutofit/>
          </a:bodyPr>
          <a:lstStyle/>
          <a:p>
            <a:pPr algn="ctr">
              <a:buSzPts val="2800"/>
            </a:pP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r>
              <a:rPr sz="4400" dirty="0">
                <a:latin typeface="Aptos Display" panose="020B0004020202020204" pitchFamily="34" charset="0"/>
              </a:rPr>
              <a:t> </a:t>
            </a:r>
            <a:r>
              <a:rPr sz="4400" dirty="0" err="1">
                <a:latin typeface="Aptos Display" panose="020B0004020202020204" pitchFamily="34" charset="0"/>
              </a:rPr>
              <a:t>theo</a:t>
            </a:r>
            <a:r>
              <a:rPr sz="4400" dirty="0">
                <a:latin typeface="Aptos Display" panose="020B0004020202020204" pitchFamily="34" charset="0"/>
              </a:rPr>
              <a:t> </a:t>
            </a:r>
            <a:r>
              <a:rPr sz="4400" dirty="0" err="1">
                <a:latin typeface="Aptos Display" panose="020B0004020202020204" pitchFamily="34" charset="0"/>
              </a:rPr>
              <a:t>khách</a:t>
            </a:r>
            <a:r>
              <a:rPr sz="4400" dirty="0">
                <a:latin typeface="Aptos Display" panose="020B0004020202020204" pitchFamily="34" charset="0"/>
              </a:rPr>
              <a:t> </a:t>
            </a:r>
            <a:r>
              <a:rPr sz="4400" dirty="0" err="1">
                <a:latin typeface="Aptos Display" panose="020B0004020202020204" pitchFamily="34" charset="0"/>
              </a:rPr>
              <a:t>hàng</a:t>
            </a:r>
            <a:endParaRPr sz="4400" dirty="0">
              <a:latin typeface="Aptos Display" panose="020B0004020202020204" pitchFamily="34" charset="0"/>
            </a:endParaRPr>
          </a:p>
        </p:txBody>
      </p:sp>
      <p:sp>
        <p:nvSpPr>
          <p:cNvPr id="4" name="Picture Placeholder 3"/>
          <p:cNvSpPr>
            <a:spLocks noGrp="1"/>
          </p:cNvSpPr>
          <p:nvPr>
            <p:ph type="pic" idx="4294967295"/>
          </p:nvPr>
        </p:nvSpPr>
        <p:spPr>
          <a:xfrm>
            <a:off x="414550" y="1232949"/>
            <a:ext cx="8314899" cy="3440063"/>
          </a:xfrm>
          <a:noFill/>
          <a:ln>
            <a:noFill/>
          </a:ln>
        </p:spPr>
        <p:txBody>
          <a:bodyPr/>
          <a:lstStyle/>
          <a:p>
            <a:pPr marL="0" indent="0" algn="l" rtl="0">
              <a:buClr>
                <a:schemeClr val="dk1"/>
              </a:buClr>
              <a:buSzPts val="1200"/>
              <a:buNone/>
            </a:pPr>
            <a:r>
              <a:rPr sz="2500" dirty="0">
                <a:solidFill>
                  <a:schemeClr val="dk1"/>
                </a:solidFill>
                <a:latin typeface="+mn-lt"/>
                <a:sym typeface="Didact Gothic"/>
              </a:rPr>
              <a:t>Doanh </a:t>
            </a:r>
            <a:r>
              <a:rPr sz="2500" dirty="0" err="1">
                <a:solidFill>
                  <a:schemeClr val="dk1"/>
                </a:solidFill>
                <a:latin typeface="+mn-lt"/>
                <a:sym typeface="Didact Gothic"/>
              </a:rPr>
              <a:t>thu</a:t>
            </a:r>
            <a:r>
              <a:rPr sz="2500" dirty="0">
                <a:solidFill>
                  <a:schemeClr val="dk1"/>
                </a:solidFill>
                <a:latin typeface="+mn-lt"/>
                <a:sym typeface="Didact Gothic"/>
              </a:rPr>
              <a:t> </a:t>
            </a:r>
            <a:r>
              <a:rPr sz="2500" dirty="0" err="1">
                <a:solidFill>
                  <a:schemeClr val="dk1"/>
                </a:solidFill>
                <a:latin typeface="+mn-lt"/>
                <a:sym typeface="Didact Gothic"/>
              </a:rPr>
              <a:t>tập</a:t>
            </a:r>
            <a:r>
              <a:rPr sz="2500" dirty="0">
                <a:solidFill>
                  <a:schemeClr val="dk1"/>
                </a:solidFill>
                <a:latin typeface="+mn-lt"/>
                <a:sym typeface="Didact Gothic"/>
              </a:rPr>
              <a:t> </a:t>
            </a:r>
            <a:r>
              <a:rPr sz="2500" dirty="0" err="1">
                <a:solidFill>
                  <a:schemeClr val="dk1"/>
                </a:solidFill>
                <a:latin typeface="+mn-lt"/>
                <a:sym typeface="Didact Gothic"/>
              </a:rPr>
              <a:t>trung</a:t>
            </a:r>
            <a:r>
              <a:rPr sz="2500" dirty="0">
                <a:solidFill>
                  <a:schemeClr val="dk1"/>
                </a:solidFill>
                <a:latin typeface="+mn-lt"/>
                <a:sym typeface="Didact Gothic"/>
              </a:rPr>
              <a:t> </a:t>
            </a:r>
            <a:r>
              <a:rPr sz="2500" dirty="0" err="1">
                <a:solidFill>
                  <a:schemeClr val="dk1"/>
                </a:solidFill>
                <a:latin typeface="+mn-lt"/>
                <a:sym typeface="Didact Gothic"/>
              </a:rPr>
              <a:t>mạnh</a:t>
            </a:r>
            <a:r>
              <a:rPr sz="2500" dirty="0">
                <a:solidFill>
                  <a:schemeClr val="dk1"/>
                </a:solidFill>
                <a:latin typeface="+mn-lt"/>
                <a:sym typeface="Didact Gothic"/>
              </a:rPr>
              <a:t> </a:t>
            </a:r>
            <a:r>
              <a:rPr sz="2500" dirty="0" err="1">
                <a:solidFill>
                  <a:schemeClr val="dk1"/>
                </a:solidFill>
                <a:latin typeface="+mn-lt"/>
                <a:sym typeface="Didact Gothic"/>
              </a:rPr>
              <a:t>vào</a:t>
            </a:r>
            <a:r>
              <a:rPr sz="2500" dirty="0">
                <a:solidFill>
                  <a:schemeClr val="dk1"/>
                </a:solidFill>
                <a:latin typeface="+mn-lt"/>
                <a:sym typeface="Didact Gothic"/>
              </a:rPr>
              <a:t> </a:t>
            </a:r>
            <a:r>
              <a:rPr sz="2500" dirty="0" err="1">
                <a:solidFill>
                  <a:schemeClr val="dk1"/>
                </a:solidFill>
                <a:latin typeface="+mn-lt"/>
                <a:sym typeface="Didact Gothic"/>
              </a:rPr>
              <a:t>một</a:t>
            </a:r>
            <a:r>
              <a:rPr sz="2500" dirty="0">
                <a:solidFill>
                  <a:schemeClr val="dk1"/>
                </a:solidFill>
                <a:latin typeface="+mn-lt"/>
                <a:sym typeface="Didact Gothic"/>
              </a:rPr>
              <a:t> </a:t>
            </a:r>
            <a:r>
              <a:rPr sz="2500" dirty="0" err="1">
                <a:solidFill>
                  <a:schemeClr val="dk1"/>
                </a:solidFill>
                <a:latin typeface="+mn-lt"/>
                <a:sym typeface="Didact Gothic"/>
              </a:rPr>
              <a:t>tỷ</a:t>
            </a:r>
            <a:r>
              <a:rPr sz="2500" dirty="0">
                <a:solidFill>
                  <a:schemeClr val="dk1"/>
                </a:solidFill>
                <a:latin typeface="+mn-lt"/>
                <a:sym typeface="Didact Gothic"/>
              </a:rPr>
              <a:t> </a:t>
            </a:r>
            <a:r>
              <a:rPr sz="2500" dirty="0" err="1">
                <a:solidFill>
                  <a:schemeClr val="dk1"/>
                </a:solidFill>
                <a:latin typeface="+mn-lt"/>
                <a:sym typeface="Didact Gothic"/>
              </a:rPr>
              <a:t>lệ</a:t>
            </a:r>
            <a:r>
              <a:rPr sz="2500" dirty="0">
                <a:solidFill>
                  <a:schemeClr val="dk1"/>
                </a:solidFill>
                <a:latin typeface="+mn-lt"/>
                <a:sym typeface="Didact Gothic"/>
              </a:rPr>
              <a:t> </a:t>
            </a:r>
            <a:r>
              <a:rPr sz="2500" dirty="0" err="1">
                <a:solidFill>
                  <a:schemeClr val="dk1"/>
                </a:solidFill>
                <a:latin typeface="+mn-lt"/>
                <a:sym typeface="Didact Gothic"/>
              </a:rPr>
              <a:t>nhỏ</a:t>
            </a:r>
            <a:r>
              <a:rPr sz="2500" dirty="0">
                <a:solidFill>
                  <a:schemeClr val="dk1"/>
                </a:solidFill>
                <a:latin typeface="+mn-lt"/>
                <a:sym typeface="Didact Gothic"/>
              </a:rPr>
              <a:t> </a:t>
            </a:r>
            <a:r>
              <a:rPr sz="2500" dirty="0" err="1">
                <a:solidFill>
                  <a:schemeClr val="dk1"/>
                </a:solidFill>
                <a:latin typeface="+mn-lt"/>
                <a:sym typeface="Didact Gothic"/>
              </a:rPr>
              <a:t>khách</a:t>
            </a:r>
            <a:r>
              <a:rPr sz="2500" dirty="0">
                <a:solidFill>
                  <a:schemeClr val="dk1"/>
                </a:solidFill>
                <a:latin typeface="+mn-lt"/>
                <a:sym typeface="Didact Gothic"/>
              </a:rPr>
              <a:t> </a:t>
            </a:r>
            <a:r>
              <a:rPr sz="2500" dirty="0" err="1">
                <a:solidFill>
                  <a:schemeClr val="dk1"/>
                </a:solidFill>
                <a:latin typeface="+mn-lt"/>
                <a:sym typeface="Didact Gothic"/>
              </a:rPr>
              <a:t>hàng</a:t>
            </a:r>
            <a:r>
              <a:rPr sz="2500" dirty="0">
                <a:solidFill>
                  <a:schemeClr val="dk1"/>
                </a:solidFill>
                <a:latin typeface="+mn-lt"/>
                <a:sym typeface="Didact Gothic"/>
              </a:rPr>
              <a:t>, </a:t>
            </a:r>
            <a:r>
              <a:rPr sz="2500" dirty="0" err="1">
                <a:solidFill>
                  <a:schemeClr val="dk1"/>
                </a:solidFill>
                <a:latin typeface="+mn-lt"/>
                <a:sym typeface="Didact Gothic"/>
              </a:rPr>
              <a:t>phù</a:t>
            </a:r>
            <a:r>
              <a:rPr sz="2500" dirty="0">
                <a:solidFill>
                  <a:schemeClr val="dk1"/>
                </a:solidFill>
                <a:latin typeface="+mn-lt"/>
                <a:sym typeface="Didact Gothic"/>
              </a:rPr>
              <a:t> </a:t>
            </a:r>
            <a:r>
              <a:rPr sz="2500" dirty="0" err="1">
                <a:solidFill>
                  <a:schemeClr val="dk1"/>
                </a:solidFill>
                <a:latin typeface="+mn-lt"/>
                <a:sym typeface="Didact Gothic"/>
              </a:rPr>
              <a:t>hợp</a:t>
            </a:r>
            <a:r>
              <a:rPr sz="2500" dirty="0">
                <a:solidFill>
                  <a:schemeClr val="dk1"/>
                </a:solidFill>
                <a:latin typeface="+mn-lt"/>
                <a:sym typeface="Didact Gothic"/>
              </a:rPr>
              <a:t> </a:t>
            </a:r>
            <a:r>
              <a:rPr sz="2500" dirty="0" err="1">
                <a:solidFill>
                  <a:schemeClr val="dk1"/>
                </a:solidFill>
                <a:latin typeface="+mn-lt"/>
                <a:sym typeface="Didact Gothic"/>
              </a:rPr>
              <a:t>với</a:t>
            </a:r>
            <a:r>
              <a:rPr sz="2500" dirty="0">
                <a:solidFill>
                  <a:schemeClr val="dk1"/>
                </a:solidFill>
                <a:latin typeface="+mn-lt"/>
                <a:sym typeface="Didact Gothic"/>
              </a:rPr>
              <a:t> </a:t>
            </a:r>
            <a:r>
              <a:rPr sz="2500" dirty="0" err="1">
                <a:solidFill>
                  <a:schemeClr val="dk1"/>
                </a:solidFill>
                <a:latin typeface="+mn-lt"/>
                <a:sym typeface="Didact Gothic"/>
              </a:rPr>
              <a:t>nguyên</a:t>
            </a:r>
            <a:r>
              <a:rPr sz="2500" dirty="0">
                <a:solidFill>
                  <a:schemeClr val="dk1"/>
                </a:solidFill>
                <a:latin typeface="+mn-lt"/>
                <a:sym typeface="Didact Gothic"/>
              </a:rPr>
              <a:t> </a:t>
            </a:r>
            <a:r>
              <a:rPr sz="2500" dirty="0" err="1">
                <a:solidFill>
                  <a:schemeClr val="dk1"/>
                </a:solidFill>
                <a:latin typeface="+mn-lt"/>
                <a:sym typeface="Didact Gothic"/>
              </a:rPr>
              <a:t>lý</a:t>
            </a:r>
            <a:r>
              <a:rPr sz="2500" dirty="0">
                <a:solidFill>
                  <a:schemeClr val="dk1"/>
                </a:solidFill>
                <a:latin typeface="+mn-lt"/>
                <a:sym typeface="Didact Gothic"/>
              </a:rPr>
              <a:t> Pareto. </a:t>
            </a:r>
            <a:endParaRPr lang="en-US" sz="2500" dirty="0">
              <a:solidFill>
                <a:schemeClr val="dk1"/>
              </a:solidFill>
              <a:latin typeface="+mn-lt"/>
              <a:sym typeface="Didact Gothic"/>
            </a:endParaRPr>
          </a:p>
          <a:p>
            <a:pPr marL="0" indent="0" algn="l" rtl="0">
              <a:buClr>
                <a:schemeClr val="dk1"/>
              </a:buClr>
              <a:buSzPts val="1200"/>
              <a:buNone/>
            </a:pPr>
            <a:r>
              <a:rPr lang="en-US" sz="2500" dirty="0">
                <a:latin typeface="+mn-lt"/>
                <a:sym typeface="Wingdings" panose="05000000000000000000" pitchFamily="2" charset="2"/>
              </a:rPr>
              <a:t></a:t>
            </a:r>
            <a:r>
              <a:rPr sz="2500" dirty="0" err="1">
                <a:solidFill>
                  <a:schemeClr val="dk1"/>
                </a:solidFill>
                <a:latin typeface="+mn-lt"/>
                <a:sym typeface="Didact Gothic"/>
              </a:rPr>
              <a:t>Nhóm</a:t>
            </a:r>
            <a:r>
              <a:rPr sz="2500" dirty="0">
                <a:solidFill>
                  <a:schemeClr val="dk1"/>
                </a:solidFill>
                <a:latin typeface="+mn-lt"/>
                <a:sym typeface="Didact Gothic"/>
              </a:rPr>
              <a:t> </a:t>
            </a:r>
            <a:r>
              <a:rPr sz="2500" dirty="0" err="1">
                <a:solidFill>
                  <a:schemeClr val="dk1"/>
                </a:solidFill>
                <a:latin typeface="+mn-lt"/>
                <a:sym typeface="Didact Gothic"/>
              </a:rPr>
              <a:t>khách</a:t>
            </a:r>
            <a:r>
              <a:rPr sz="2500" dirty="0">
                <a:solidFill>
                  <a:schemeClr val="dk1"/>
                </a:solidFill>
                <a:latin typeface="+mn-lt"/>
                <a:sym typeface="Didact Gothic"/>
              </a:rPr>
              <a:t> </a:t>
            </a:r>
            <a:r>
              <a:rPr sz="2500" dirty="0" err="1">
                <a:solidFill>
                  <a:schemeClr val="dk1"/>
                </a:solidFill>
                <a:latin typeface="+mn-lt"/>
                <a:sym typeface="Didact Gothic"/>
              </a:rPr>
              <a:t>hàng</a:t>
            </a:r>
            <a:r>
              <a:rPr sz="2500" dirty="0">
                <a:solidFill>
                  <a:schemeClr val="dk1"/>
                </a:solidFill>
                <a:latin typeface="+mn-lt"/>
                <a:sym typeface="Didact Gothic"/>
              </a:rPr>
              <a:t> </a:t>
            </a:r>
            <a:r>
              <a:rPr sz="2500" dirty="0" err="1">
                <a:solidFill>
                  <a:schemeClr val="dk1"/>
                </a:solidFill>
                <a:latin typeface="+mn-lt"/>
                <a:sym typeface="Didact Gothic"/>
              </a:rPr>
              <a:t>giá</a:t>
            </a:r>
            <a:r>
              <a:rPr sz="2500" dirty="0">
                <a:solidFill>
                  <a:schemeClr val="dk1"/>
                </a:solidFill>
                <a:latin typeface="+mn-lt"/>
                <a:sym typeface="Didact Gothic"/>
              </a:rPr>
              <a:t> </a:t>
            </a:r>
            <a:r>
              <a:rPr sz="2500" dirty="0" err="1">
                <a:solidFill>
                  <a:schemeClr val="dk1"/>
                </a:solidFill>
                <a:latin typeface="+mn-lt"/>
                <a:sym typeface="Didact Gothic"/>
              </a:rPr>
              <a:t>trị</a:t>
            </a:r>
            <a:r>
              <a:rPr sz="2500" dirty="0">
                <a:solidFill>
                  <a:schemeClr val="dk1"/>
                </a:solidFill>
                <a:latin typeface="+mn-lt"/>
                <a:sym typeface="Didact Gothic"/>
              </a:rPr>
              <a:t> </a:t>
            </a:r>
            <a:r>
              <a:rPr sz="2500" dirty="0" err="1">
                <a:solidFill>
                  <a:schemeClr val="dk1"/>
                </a:solidFill>
                <a:latin typeface="+mn-lt"/>
                <a:sym typeface="Didact Gothic"/>
              </a:rPr>
              <a:t>cao</a:t>
            </a:r>
            <a:r>
              <a:rPr sz="2500" dirty="0">
                <a:solidFill>
                  <a:schemeClr val="dk1"/>
                </a:solidFill>
                <a:latin typeface="+mn-lt"/>
                <a:sym typeface="Didact Gothic"/>
              </a:rPr>
              <a:t> </a:t>
            </a:r>
            <a:r>
              <a:rPr sz="2500" dirty="0" err="1">
                <a:solidFill>
                  <a:schemeClr val="dk1"/>
                </a:solidFill>
                <a:latin typeface="+mn-lt"/>
                <a:sym typeface="Didact Gothic"/>
              </a:rPr>
              <a:t>đóng</a:t>
            </a:r>
            <a:r>
              <a:rPr sz="2500" dirty="0">
                <a:solidFill>
                  <a:schemeClr val="dk1"/>
                </a:solidFill>
                <a:latin typeface="+mn-lt"/>
                <a:sym typeface="Didact Gothic"/>
              </a:rPr>
              <a:t> </a:t>
            </a:r>
            <a:r>
              <a:rPr sz="2500" dirty="0" err="1">
                <a:solidFill>
                  <a:schemeClr val="dk1"/>
                </a:solidFill>
                <a:latin typeface="+mn-lt"/>
                <a:sym typeface="Didact Gothic"/>
              </a:rPr>
              <a:t>vai</a:t>
            </a:r>
            <a:r>
              <a:rPr sz="2500" dirty="0">
                <a:solidFill>
                  <a:schemeClr val="dk1"/>
                </a:solidFill>
                <a:latin typeface="+mn-lt"/>
                <a:sym typeface="Didact Gothic"/>
              </a:rPr>
              <a:t> </a:t>
            </a:r>
            <a:r>
              <a:rPr sz="2500" dirty="0" err="1">
                <a:solidFill>
                  <a:schemeClr val="dk1"/>
                </a:solidFill>
                <a:latin typeface="+mn-lt"/>
                <a:sym typeface="Didact Gothic"/>
              </a:rPr>
              <a:t>trò</a:t>
            </a:r>
            <a:r>
              <a:rPr sz="2500" dirty="0">
                <a:solidFill>
                  <a:schemeClr val="dk1"/>
                </a:solidFill>
                <a:latin typeface="+mn-lt"/>
                <a:sym typeface="Didact Gothic"/>
              </a:rPr>
              <a:t> </a:t>
            </a:r>
            <a:r>
              <a:rPr sz="2500" dirty="0" err="1">
                <a:solidFill>
                  <a:schemeClr val="dk1"/>
                </a:solidFill>
                <a:latin typeface="+mn-lt"/>
                <a:sym typeface="Didact Gothic"/>
              </a:rPr>
              <a:t>quyết</a:t>
            </a:r>
            <a:r>
              <a:rPr sz="2500" dirty="0">
                <a:solidFill>
                  <a:schemeClr val="dk1"/>
                </a:solidFill>
                <a:latin typeface="+mn-lt"/>
                <a:sym typeface="Didact Gothic"/>
              </a:rPr>
              <a:t> </a:t>
            </a:r>
            <a:r>
              <a:rPr sz="2500" dirty="0" err="1">
                <a:solidFill>
                  <a:schemeClr val="dk1"/>
                </a:solidFill>
                <a:latin typeface="+mn-lt"/>
                <a:sym typeface="Didact Gothic"/>
              </a:rPr>
              <a:t>định</a:t>
            </a:r>
            <a:r>
              <a:rPr sz="2500" dirty="0">
                <a:solidFill>
                  <a:schemeClr val="dk1"/>
                </a:solidFill>
                <a:latin typeface="+mn-lt"/>
                <a:sym typeface="Didact Gothic"/>
              </a:rPr>
              <a:t> </a:t>
            </a:r>
            <a:r>
              <a:rPr sz="2500" dirty="0" err="1">
                <a:solidFill>
                  <a:schemeClr val="dk1"/>
                </a:solidFill>
                <a:latin typeface="+mn-lt"/>
                <a:sym typeface="Didact Gothic"/>
              </a:rPr>
              <a:t>nhưng</a:t>
            </a:r>
            <a:r>
              <a:rPr sz="2500" dirty="0">
                <a:solidFill>
                  <a:schemeClr val="dk1"/>
                </a:solidFill>
                <a:latin typeface="+mn-lt"/>
                <a:sym typeface="Didact Gothic"/>
              </a:rPr>
              <a:t> </a:t>
            </a:r>
            <a:r>
              <a:rPr sz="2500" dirty="0" err="1">
                <a:solidFill>
                  <a:schemeClr val="dk1"/>
                </a:solidFill>
                <a:latin typeface="+mn-lt"/>
                <a:sym typeface="Didact Gothic"/>
              </a:rPr>
              <a:t>cũng</a:t>
            </a:r>
            <a:r>
              <a:rPr sz="2500" dirty="0">
                <a:solidFill>
                  <a:schemeClr val="dk1"/>
                </a:solidFill>
                <a:latin typeface="+mn-lt"/>
                <a:sym typeface="Didact Gothic"/>
              </a:rPr>
              <a:t> </a:t>
            </a:r>
            <a:r>
              <a:rPr sz="2500" dirty="0" err="1">
                <a:solidFill>
                  <a:schemeClr val="dk1"/>
                </a:solidFill>
                <a:latin typeface="+mn-lt"/>
                <a:sym typeface="Didact Gothic"/>
              </a:rPr>
              <a:t>tiềm</a:t>
            </a:r>
            <a:r>
              <a:rPr sz="2500" dirty="0">
                <a:solidFill>
                  <a:schemeClr val="dk1"/>
                </a:solidFill>
                <a:latin typeface="+mn-lt"/>
                <a:sym typeface="Didact Gothic"/>
              </a:rPr>
              <a:t> </a:t>
            </a:r>
            <a:r>
              <a:rPr sz="2500" dirty="0" err="1">
                <a:solidFill>
                  <a:schemeClr val="dk1"/>
                </a:solidFill>
                <a:latin typeface="+mn-lt"/>
                <a:sym typeface="Didact Gothic"/>
              </a:rPr>
              <a:t>ẩn</a:t>
            </a:r>
            <a:r>
              <a:rPr sz="2500" dirty="0">
                <a:solidFill>
                  <a:schemeClr val="dk1"/>
                </a:solidFill>
                <a:latin typeface="+mn-lt"/>
                <a:sym typeface="Didact Gothic"/>
              </a:rPr>
              <a:t> </a:t>
            </a:r>
            <a:r>
              <a:rPr sz="2500" dirty="0" err="1">
                <a:solidFill>
                  <a:schemeClr val="dk1"/>
                </a:solidFill>
                <a:latin typeface="+mn-lt"/>
                <a:sym typeface="Didact Gothic"/>
              </a:rPr>
              <a:t>rủi</a:t>
            </a:r>
            <a:r>
              <a:rPr sz="2500" dirty="0">
                <a:solidFill>
                  <a:schemeClr val="dk1"/>
                </a:solidFill>
                <a:latin typeface="+mn-lt"/>
                <a:sym typeface="Didact Gothic"/>
              </a:rPr>
              <a:t> </a:t>
            </a:r>
            <a:r>
              <a:rPr sz="2500" dirty="0" err="1">
                <a:solidFill>
                  <a:schemeClr val="dk1"/>
                </a:solidFill>
                <a:latin typeface="+mn-lt"/>
                <a:sym typeface="Didact Gothic"/>
              </a:rPr>
              <a:t>ro</a:t>
            </a:r>
            <a:r>
              <a:rPr sz="2500" dirty="0">
                <a:solidFill>
                  <a:schemeClr val="dk1"/>
                </a:solidFill>
                <a:latin typeface="+mn-lt"/>
                <a:sym typeface="Didact Gothic"/>
              </a:rPr>
              <a:t> </a:t>
            </a:r>
            <a:r>
              <a:rPr sz="2500" dirty="0" err="1">
                <a:solidFill>
                  <a:schemeClr val="dk1"/>
                </a:solidFill>
                <a:latin typeface="+mn-lt"/>
                <a:sym typeface="Didact Gothic"/>
              </a:rPr>
              <a:t>nếu</a:t>
            </a:r>
            <a:r>
              <a:rPr sz="2500" dirty="0">
                <a:solidFill>
                  <a:schemeClr val="dk1"/>
                </a:solidFill>
                <a:latin typeface="+mn-lt"/>
                <a:sym typeface="Didact Gothic"/>
              </a:rPr>
              <a:t> </a:t>
            </a:r>
            <a:r>
              <a:rPr sz="2500" dirty="0" err="1">
                <a:solidFill>
                  <a:schemeClr val="dk1"/>
                </a:solidFill>
                <a:latin typeface="+mn-lt"/>
                <a:sym typeface="Didact Gothic"/>
              </a:rPr>
              <a:t>không</a:t>
            </a:r>
            <a:r>
              <a:rPr sz="2500" dirty="0">
                <a:solidFill>
                  <a:schemeClr val="dk1"/>
                </a:solidFill>
                <a:latin typeface="+mn-lt"/>
                <a:sym typeface="Didact Gothic"/>
              </a:rPr>
              <a:t> </a:t>
            </a:r>
            <a:r>
              <a:rPr sz="2500" dirty="0" err="1">
                <a:solidFill>
                  <a:schemeClr val="dk1"/>
                </a:solidFill>
                <a:latin typeface="+mn-lt"/>
                <a:sym typeface="Didact Gothic"/>
              </a:rPr>
              <a:t>có</a:t>
            </a:r>
            <a:r>
              <a:rPr sz="2500" dirty="0">
                <a:solidFill>
                  <a:schemeClr val="dk1"/>
                </a:solidFill>
                <a:latin typeface="+mn-lt"/>
                <a:sym typeface="Didact Gothic"/>
              </a:rPr>
              <a:t> </a:t>
            </a:r>
            <a:r>
              <a:rPr sz="2500" dirty="0" err="1">
                <a:solidFill>
                  <a:schemeClr val="dk1"/>
                </a:solidFill>
                <a:latin typeface="+mn-lt"/>
                <a:sym typeface="Didact Gothic"/>
              </a:rPr>
              <a:t>chiến</a:t>
            </a:r>
            <a:r>
              <a:rPr sz="2500" dirty="0">
                <a:solidFill>
                  <a:schemeClr val="dk1"/>
                </a:solidFill>
                <a:latin typeface="+mn-lt"/>
                <a:sym typeface="Didact Gothic"/>
              </a:rPr>
              <a:t> </a:t>
            </a:r>
            <a:r>
              <a:rPr sz="2500" dirty="0" err="1">
                <a:solidFill>
                  <a:schemeClr val="dk1"/>
                </a:solidFill>
                <a:latin typeface="+mn-lt"/>
                <a:sym typeface="Didact Gothic"/>
              </a:rPr>
              <a:t>lược</a:t>
            </a:r>
            <a:r>
              <a:rPr sz="2500" dirty="0">
                <a:solidFill>
                  <a:schemeClr val="dk1"/>
                </a:solidFill>
                <a:latin typeface="+mn-lt"/>
                <a:sym typeface="Didact Gothic"/>
              </a:rPr>
              <a:t> </a:t>
            </a:r>
            <a:r>
              <a:rPr sz="2500" dirty="0" err="1">
                <a:solidFill>
                  <a:schemeClr val="dk1"/>
                </a:solidFill>
                <a:latin typeface="+mn-lt"/>
                <a:sym typeface="Didact Gothic"/>
              </a:rPr>
              <a:t>duy</a:t>
            </a:r>
            <a:r>
              <a:rPr sz="2500" dirty="0">
                <a:solidFill>
                  <a:schemeClr val="dk1"/>
                </a:solidFill>
                <a:latin typeface="+mn-lt"/>
                <a:sym typeface="Didact Gothic"/>
              </a:rPr>
              <a:t> </a:t>
            </a:r>
            <a:r>
              <a:rPr sz="2500" dirty="0" err="1">
                <a:solidFill>
                  <a:schemeClr val="dk1"/>
                </a:solidFill>
                <a:latin typeface="+mn-lt"/>
                <a:sym typeface="Didact Gothic"/>
              </a:rPr>
              <a:t>trì</a:t>
            </a:r>
            <a:r>
              <a:rPr sz="2500" dirty="0">
                <a:solidFill>
                  <a:schemeClr val="dk1"/>
                </a:solidFill>
                <a:latin typeface="+mn-lt"/>
                <a:sym typeface="Didact Gothic"/>
              </a:rPr>
              <a:t> </a:t>
            </a:r>
            <a:r>
              <a:rPr sz="2500" dirty="0" err="1">
                <a:solidFill>
                  <a:schemeClr val="dk1"/>
                </a:solidFill>
                <a:latin typeface="+mn-lt"/>
                <a:sym typeface="Didact Gothic"/>
              </a:rPr>
              <a:t>và</a:t>
            </a:r>
            <a:r>
              <a:rPr sz="2500" dirty="0">
                <a:solidFill>
                  <a:schemeClr val="dk1"/>
                </a:solidFill>
                <a:latin typeface="+mn-lt"/>
                <a:sym typeface="Didact Gothic"/>
              </a:rPr>
              <a:t> </a:t>
            </a:r>
            <a:r>
              <a:rPr sz="2500" dirty="0" err="1">
                <a:solidFill>
                  <a:schemeClr val="dk1"/>
                </a:solidFill>
                <a:latin typeface="+mn-lt"/>
                <a:sym typeface="Didact Gothic"/>
              </a:rPr>
              <a:t>mở</a:t>
            </a:r>
            <a:r>
              <a:rPr sz="2500" dirty="0">
                <a:solidFill>
                  <a:schemeClr val="dk1"/>
                </a:solidFill>
                <a:latin typeface="+mn-lt"/>
                <a:sym typeface="Didact Gothic"/>
              </a:rPr>
              <a:t> </a:t>
            </a:r>
            <a:r>
              <a:rPr sz="2500" dirty="0" err="1">
                <a:solidFill>
                  <a:schemeClr val="dk1"/>
                </a:solidFill>
                <a:latin typeface="+mn-lt"/>
                <a:sym typeface="Didact Gothic"/>
              </a:rPr>
              <a:t>rộng</a:t>
            </a:r>
            <a:r>
              <a:rPr sz="2500" dirty="0">
                <a:solidFill>
                  <a:schemeClr val="dk1"/>
                </a:solidFill>
                <a:latin typeface="+mn-lt"/>
                <a:sym typeface="Didact Gothic"/>
              </a:rPr>
              <a:t> </a:t>
            </a:r>
            <a:r>
              <a:rPr sz="2500" dirty="0" err="1">
                <a:solidFill>
                  <a:schemeClr val="dk1"/>
                </a:solidFill>
                <a:latin typeface="+mn-lt"/>
                <a:sym typeface="Didact Gothic"/>
              </a:rPr>
              <a:t>phù</a:t>
            </a:r>
            <a:r>
              <a:rPr sz="2500" dirty="0">
                <a:solidFill>
                  <a:schemeClr val="dk1"/>
                </a:solidFill>
                <a:latin typeface="+mn-lt"/>
                <a:sym typeface="Didact Gothic"/>
              </a:rPr>
              <a:t> </a:t>
            </a:r>
            <a:r>
              <a:rPr sz="2500" dirty="0" err="1">
                <a:solidFill>
                  <a:schemeClr val="dk1"/>
                </a:solidFill>
                <a:latin typeface="+mn-lt"/>
                <a:sym typeface="Didact Gothic"/>
              </a:rPr>
              <a:t>hợp</a:t>
            </a:r>
            <a:endParaRPr lang="en-US" sz="2500" dirty="0">
              <a:latin typeface="+mn-lt"/>
            </a:endParaRPr>
          </a:p>
          <a:p>
            <a:pPr marL="0" indent="0" algn="l" rtl="0">
              <a:buClr>
                <a:schemeClr val="dk1"/>
              </a:buClr>
              <a:buSzPts val="1200"/>
              <a:buNone/>
            </a:pPr>
            <a:r>
              <a:rPr lang="vi-VN" sz="2500" dirty="0">
                <a:solidFill>
                  <a:schemeClr val="dk1"/>
                </a:solidFill>
                <a:latin typeface="+mn-lt"/>
                <a:sym typeface="Wingdings" panose="05000000000000000000" pitchFamily="2" charset="2"/>
              </a:rPr>
              <a:t></a:t>
            </a:r>
            <a:r>
              <a:rPr lang="en-US" sz="2500" dirty="0">
                <a:solidFill>
                  <a:schemeClr val="dk1"/>
                </a:solidFill>
                <a:latin typeface="+mn-lt"/>
                <a:sym typeface="Wingdings" panose="05000000000000000000" pitchFamily="2" charset="2"/>
              </a:rPr>
              <a:t>C</a:t>
            </a:r>
            <a:r>
              <a:rPr lang="vi-VN" sz="2500" dirty="0">
                <a:solidFill>
                  <a:schemeClr val="dk1"/>
                </a:solidFill>
                <a:latin typeface="+mn-lt"/>
                <a:sym typeface="Didact Gothic"/>
              </a:rPr>
              <a:t>ần quan tâm</a:t>
            </a:r>
            <a:r>
              <a:rPr lang="en-US" sz="2500" dirty="0">
                <a:solidFill>
                  <a:schemeClr val="dk1"/>
                </a:solidFill>
                <a:latin typeface="+mn-lt"/>
                <a:sym typeface="Didact Gothic"/>
              </a:rPr>
              <a:t> </a:t>
            </a:r>
            <a:r>
              <a:rPr lang="vi-VN" sz="2500" dirty="0">
                <a:solidFill>
                  <a:schemeClr val="dk1"/>
                </a:solidFill>
                <a:latin typeface="+mn-lt"/>
                <a:sym typeface="Didact Gothic"/>
              </a:rPr>
              <a:t>đến việc phát triển nhóm khách hàng trung bình</a:t>
            </a:r>
            <a:r>
              <a:rPr lang="en-US" sz="2500" dirty="0">
                <a:solidFill>
                  <a:schemeClr val="dk1"/>
                </a:solidFill>
                <a:latin typeface="+mn-lt"/>
                <a:sym typeface="Didact Gothic"/>
              </a:rPr>
              <a:t>, </a:t>
            </a:r>
            <a:r>
              <a:rPr lang="en-US" sz="2500" dirty="0" err="1">
                <a:solidFill>
                  <a:schemeClr val="dk1"/>
                </a:solidFill>
                <a:latin typeface="+mn-lt"/>
                <a:sym typeface="Didact Gothic"/>
              </a:rPr>
              <a:t>nơi</a:t>
            </a:r>
            <a:r>
              <a:rPr lang="vi-VN" sz="2500" dirty="0">
                <a:solidFill>
                  <a:schemeClr val="dk1"/>
                </a:solidFill>
                <a:latin typeface="+mn-lt"/>
                <a:sym typeface="Didact Gothic"/>
              </a:rPr>
              <a:t> tạo ra</a:t>
            </a:r>
            <a:r>
              <a:rPr lang="en-US" sz="2500" dirty="0">
                <a:solidFill>
                  <a:schemeClr val="dk1"/>
                </a:solidFill>
                <a:latin typeface="+mn-lt"/>
                <a:sym typeface="Didact Gothic"/>
              </a:rPr>
              <a:t> </a:t>
            </a:r>
            <a:r>
              <a:rPr lang="vi-VN" sz="2500" dirty="0">
                <a:solidFill>
                  <a:schemeClr val="dk1"/>
                </a:solidFill>
                <a:latin typeface="+mn-lt"/>
                <a:sym typeface="Didact Gothic"/>
              </a:rPr>
              <a:t>nguồn doanh thu ổn định hơn trong dài hạn.</a:t>
            </a:r>
            <a:endParaRPr sz="2500" dirty="0">
              <a:solidFill>
                <a:schemeClr val="dk1"/>
              </a:solidFill>
              <a:latin typeface="+mn-lt"/>
              <a:sym typeface="Didact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C61CF9A1-3489-BA85-870C-051EA2B99F7E}"/>
              </a:ext>
            </a:extLst>
          </p:cNvPr>
          <p:cNvPicPr>
            <a:picLocks noChangeAspect="1"/>
          </p:cNvPicPr>
          <p:nvPr/>
        </p:nvPicPr>
        <p:blipFill>
          <a:blip r:embed="rId2"/>
          <a:stretch>
            <a:fillRect/>
          </a:stretch>
        </p:blipFill>
        <p:spPr>
          <a:xfrm>
            <a:off x="275121" y="412967"/>
            <a:ext cx="8593758" cy="3606943"/>
          </a:xfrm>
          <a:prstGeom prst="rect">
            <a:avLst/>
          </a:prstGeom>
        </p:spPr>
      </p:pic>
      <p:sp>
        <p:nvSpPr>
          <p:cNvPr id="7" name="TextBox 6">
            <a:extLst>
              <a:ext uri="{FF2B5EF4-FFF2-40B4-BE49-F238E27FC236}">
                <a16:creationId xmlns="" xmlns:a16="http://schemas.microsoft.com/office/drawing/2014/main" id="{A6CA0F40-8CAC-ACCE-B65B-D7089E4FE6AD}"/>
              </a:ext>
            </a:extLst>
          </p:cNvPr>
          <p:cNvSpPr txBox="1"/>
          <p:nvPr/>
        </p:nvSpPr>
        <p:spPr>
          <a:xfrm>
            <a:off x="474453" y="4019910"/>
            <a:ext cx="8394426" cy="830997"/>
          </a:xfrm>
          <a:prstGeom prst="rect">
            <a:avLst/>
          </a:prstGeom>
          <a:noFill/>
        </p:spPr>
        <p:txBody>
          <a:bodyPr wrap="square">
            <a:spAutoFit/>
          </a:bodyPr>
          <a:lstStyle/>
          <a:p>
            <a:r>
              <a:rPr lang="vi-VN" sz="1600" dirty="0"/>
              <a:t>Hình 7. Đường tích lũy doanh thu theo khách hàng (Pareto/Lorenz) trên các giao dịch bán. Đường cong cho thấy mức độ tập trung doanh thu và gợi ý chiến lược ưu tiên nhóm khách hàng giá trị cao.</a:t>
            </a:r>
            <a:endParaRPr lang="en-US" sz="1600" dirty="0"/>
          </a:p>
        </p:txBody>
      </p:sp>
    </p:spTree>
    <p:extLst>
      <p:ext uri="{BB962C8B-B14F-4D97-AF65-F5344CB8AC3E}">
        <p14:creationId xmlns="" xmlns:p14="http://schemas.microsoft.com/office/powerpoint/2010/main" val="318611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pPr algn="ctr">
              <a:buSzPts val="2800"/>
            </a:pP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r>
              <a:rPr sz="4400" dirty="0">
                <a:latin typeface="Aptos Display" panose="020B0004020202020204" pitchFamily="34" charset="0"/>
              </a:rPr>
              <a:t> </a:t>
            </a:r>
            <a:r>
              <a:rPr sz="4400" dirty="0" err="1">
                <a:latin typeface="Aptos Display" panose="020B0004020202020204" pitchFamily="34" charset="0"/>
              </a:rPr>
              <a:t>theo</a:t>
            </a:r>
            <a:r>
              <a:rPr sz="4400" dirty="0">
                <a:latin typeface="Aptos Display" panose="020B0004020202020204" pitchFamily="34" charset="0"/>
              </a:rPr>
              <a:t> </a:t>
            </a:r>
            <a:r>
              <a:rPr sz="4400" dirty="0" err="1">
                <a:latin typeface="Aptos Display" panose="020B0004020202020204" pitchFamily="34" charset="0"/>
              </a:rPr>
              <a:t>quốc</a:t>
            </a:r>
            <a:r>
              <a:rPr sz="4400" dirty="0">
                <a:latin typeface="Aptos Display" panose="020B0004020202020204" pitchFamily="34" charset="0"/>
              </a:rPr>
              <a:t> </a:t>
            </a:r>
            <a:r>
              <a:rPr sz="4400" dirty="0" err="1">
                <a:latin typeface="Aptos Display" panose="020B0004020202020204" pitchFamily="34" charset="0"/>
              </a:rPr>
              <a:t>gia</a:t>
            </a:r>
            <a:endParaRPr sz="4400" dirty="0">
              <a:latin typeface="Aptos Display" panose="020B0004020202020204" pitchFamily="34" charset="0"/>
            </a:endParaRPr>
          </a:p>
        </p:txBody>
      </p:sp>
      <p:sp>
        <p:nvSpPr>
          <p:cNvPr id="4" name="Picture Placeholder 3"/>
          <p:cNvSpPr>
            <a:spLocks noGrp="1"/>
          </p:cNvSpPr>
          <p:nvPr>
            <p:ph type="pic" idx="4294967295"/>
          </p:nvPr>
        </p:nvSpPr>
        <p:spPr>
          <a:xfrm>
            <a:off x="623943" y="1697878"/>
            <a:ext cx="7718425" cy="2300288"/>
          </a:xfrm>
          <a:noFill/>
          <a:ln>
            <a:noFill/>
          </a:ln>
        </p:spPr>
        <p:txBody>
          <a:bodyPr/>
          <a:lstStyle/>
          <a:p>
            <a:pPr marL="0" indent="0" algn="l" rtl="0">
              <a:buClr>
                <a:schemeClr val="dk1"/>
              </a:buClr>
              <a:buSzPts val="1200"/>
              <a:buNone/>
            </a:pPr>
            <a:r>
              <a:rPr sz="2500" dirty="0">
                <a:solidFill>
                  <a:schemeClr val="dk1"/>
                </a:solidFill>
                <a:latin typeface="+mn-lt"/>
                <a:sym typeface="Didact Gothic"/>
              </a:rPr>
              <a:t>Doanh </a:t>
            </a:r>
            <a:r>
              <a:rPr sz="2500" dirty="0" err="1">
                <a:solidFill>
                  <a:schemeClr val="dk1"/>
                </a:solidFill>
                <a:latin typeface="+mn-lt"/>
                <a:sym typeface="Didact Gothic"/>
              </a:rPr>
              <a:t>thu</a:t>
            </a:r>
            <a:r>
              <a:rPr sz="2500" dirty="0">
                <a:solidFill>
                  <a:schemeClr val="dk1"/>
                </a:solidFill>
                <a:latin typeface="+mn-lt"/>
                <a:sym typeface="Didact Gothic"/>
              </a:rPr>
              <a:t> </a:t>
            </a:r>
            <a:endParaRPr lang="en-US" sz="2500" dirty="0">
              <a:solidFill>
                <a:schemeClr val="dk1"/>
              </a:solidFill>
              <a:latin typeface="+mn-lt"/>
              <a:sym typeface="Didact Gothic"/>
            </a:endParaRPr>
          </a:p>
          <a:p>
            <a:pPr marL="0" indent="0" algn="l" rtl="0">
              <a:buClr>
                <a:schemeClr val="dk1"/>
              </a:buClr>
              <a:buSzPts val="1200"/>
              <a:buNone/>
            </a:pPr>
            <a:r>
              <a:rPr lang="en-US" sz="2500" dirty="0">
                <a:solidFill>
                  <a:schemeClr val="dk1"/>
                </a:solidFill>
                <a:latin typeface="+mn-lt"/>
                <a:sym typeface="Symbol" panose="05050102010706020507" pitchFamily="18" charset="2"/>
              </a:rPr>
              <a:t> </a:t>
            </a:r>
            <a:r>
              <a:rPr lang="en-US" sz="2500" dirty="0" err="1">
                <a:solidFill>
                  <a:schemeClr val="dk1"/>
                </a:solidFill>
                <a:latin typeface="+mn-lt"/>
                <a:sym typeface="Didact Gothic"/>
              </a:rPr>
              <a:t>C</a:t>
            </a:r>
            <a:r>
              <a:rPr sz="2500" dirty="0" err="1">
                <a:solidFill>
                  <a:schemeClr val="dk1"/>
                </a:solidFill>
                <a:latin typeface="+mn-lt"/>
                <a:sym typeface="Didact Gothic"/>
              </a:rPr>
              <a:t>hủ</a:t>
            </a:r>
            <a:r>
              <a:rPr sz="2500" dirty="0">
                <a:solidFill>
                  <a:schemeClr val="dk1"/>
                </a:solidFill>
                <a:latin typeface="+mn-lt"/>
                <a:sym typeface="Didact Gothic"/>
              </a:rPr>
              <a:t> </a:t>
            </a:r>
            <a:r>
              <a:rPr sz="2500" dirty="0" err="1">
                <a:solidFill>
                  <a:schemeClr val="dk1"/>
                </a:solidFill>
                <a:latin typeface="+mn-lt"/>
                <a:sym typeface="Didact Gothic"/>
              </a:rPr>
              <a:t>yếu</a:t>
            </a:r>
            <a:r>
              <a:rPr sz="2500" dirty="0">
                <a:solidFill>
                  <a:schemeClr val="dk1"/>
                </a:solidFill>
                <a:latin typeface="+mn-lt"/>
                <a:sym typeface="Didact Gothic"/>
              </a:rPr>
              <a:t> </a:t>
            </a:r>
            <a:r>
              <a:rPr sz="2500" dirty="0" err="1">
                <a:solidFill>
                  <a:schemeClr val="dk1"/>
                </a:solidFill>
                <a:latin typeface="+mn-lt"/>
                <a:sym typeface="Didact Gothic"/>
              </a:rPr>
              <a:t>tập</a:t>
            </a:r>
            <a:r>
              <a:rPr sz="2500" dirty="0">
                <a:solidFill>
                  <a:schemeClr val="dk1"/>
                </a:solidFill>
                <a:latin typeface="+mn-lt"/>
                <a:sym typeface="Didact Gothic"/>
              </a:rPr>
              <a:t> </a:t>
            </a:r>
            <a:r>
              <a:rPr sz="2500" dirty="0" err="1">
                <a:solidFill>
                  <a:schemeClr val="dk1"/>
                </a:solidFill>
                <a:latin typeface="+mn-lt"/>
                <a:sym typeface="Didact Gothic"/>
              </a:rPr>
              <a:t>trung</a:t>
            </a:r>
            <a:r>
              <a:rPr sz="2500" dirty="0">
                <a:solidFill>
                  <a:schemeClr val="dk1"/>
                </a:solidFill>
                <a:latin typeface="+mn-lt"/>
                <a:sym typeface="Didact Gothic"/>
              </a:rPr>
              <a:t> </a:t>
            </a:r>
            <a:r>
              <a:rPr sz="2500" dirty="0" err="1">
                <a:solidFill>
                  <a:schemeClr val="dk1"/>
                </a:solidFill>
                <a:latin typeface="+mn-lt"/>
                <a:sym typeface="Didact Gothic"/>
              </a:rPr>
              <a:t>tại</a:t>
            </a:r>
            <a:r>
              <a:rPr sz="2500" dirty="0">
                <a:solidFill>
                  <a:schemeClr val="dk1"/>
                </a:solidFill>
                <a:latin typeface="+mn-lt"/>
                <a:sym typeface="Didact Gothic"/>
              </a:rPr>
              <a:t> </a:t>
            </a:r>
            <a:r>
              <a:rPr sz="2500" dirty="0" err="1">
                <a:solidFill>
                  <a:schemeClr val="dk1"/>
                </a:solidFill>
                <a:latin typeface="+mn-lt"/>
                <a:sym typeface="Didact Gothic"/>
              </a:rPr>
              <a:t>thị</a:t>
            </a:r>
            <a:r>
              <a:rPr sz="2500" dirty="0">
                <a:solidFill>
                  <a:schemeClr val="dk1"/>
                </a:solidFill>
                <a:latin typeface="+mn-lt"/>
                <a:sym typeface="Didact Gothic"/>
              </a:rPr>
              <a:t> </a:t>
            </a:r>
            <a:r>
              <a:rPr sz="2500" dirty="0" err="1">
                <a:solidFill>
                  <a:schemeClr val="dk1"/>
                </a:solidFill>
                <a:latin typeface="+mn-lt"/>
                <a:sym typeface="Didact Gothic"/>
              </a:rPr>
              <a:t>trường</a:t>
            </a:r>
            <a:r>
              <a:rPr sz="2500" dirty="0">
                <a:solidFill>
                  <a:schemeClr val="dk1"/>
                </a:solidFill>
                <a:latin typeface="+mn-lt"/>
                <a:sym typeface="Didact Gothic"/>
              </a:rPr>
              <a:t> United Kingdom </a:t>
            </a:r>
            <a:endParaRPr lang="en-US" sz="2500" dirty="0">
              <a:solidFill>
                <a:schemeClr val="dk1"/>
              </a:solidFill>
              <a:latin typeface="+mn-lt"/>
              <a:sym typeface="Didact Gothic"/>
            </a:endParaRPr>
          </a:p>
          <a:p>
            <a:pPr marL="0" indent="0" algn="l" rtl="0">
              <a:buClr>
                <a:schemeClr val="dk1"/>
              </a:buClr>
              <a:buSzPts val="1200"/>
              <a:buNone/>
            </a:pPr>
            <a:r>
              <a:rPr lang="en-US" sz="2500" dirty="0">
                <a:solidFill>
                  <a:schemeClr val="dk1"/>
                </a:solidFill>
                <a:latin typeface="+mn-lt"/>
                <a:sym typeface="Symbol" panose="05050102010706020507" pitchFamily="18" charset="2"/>
              </a:rPr>
              <a:t> </a:t>
            </a:r>
            <a:r>
              <a:rPr lang="en-US" sz="2500" dirty="0">
                <a:solidFill>
                  <a:schemeClr val="dk1"/>
                </a:solidFill>
                <a:latin typeface="+mn-lt"/>
                <a:sym typeface="Didact Gothic"/>
              </a:rPr>
              <a:t>C</a:t>
            </a:r>
            <a:r>
              <a:rPr sz="2500" dirty="0">
                <a:solidFill>
                  <a:schemeClr val="dk1"/>
                </a:solidFill>
                <a:latin typeface="+mn-lt"/>
                <a:sym typeface="Didact Gothic"/>
              </a:rPr>
              <a:t>ác </a:t>
            </a:r>
            <a:r>
              <a:rPr sz="2500" dirty="0" err="1">
                <a:solidFill>
                  <a:schemeClr val="dk1"/>
                </a:solidFill>
                <a:latin typeface="+mn-lt"/>
                <a:sym typeface="Didact Gothic"/>
              </a:rPr>
              <a:t>thị</a:t>
            </a:r>
            <a:r>
              <a:rPr sz="2500" dirty="0">
                <a:solidFill>
                  <a:schemeClr val="dk1"/>
                </a:solidFill>
                <a:latin typeface="+mn-lt"/>
                <a:sym typeface="Didact Gothic"/>
              </a:rPr>
              <a:t> </a:t>
            </a:r>
            <a:r>
              <a:rPr sz="2500" dirty="0" err="1">
                <a:solidFill>
                  <a:schemeClr val="dk1"/>
                </a:solidFill>
                <a:latin typeface="+mn-lt"/>
                <a:sym typeface="Didact Gothic"/>
              </a:rPr>
              <a:t>trường</a:t>
            </a:r>
            <a:r>
              <a:rPr sz="2500" dirty="0">
                <a:solidFill>
                  <a:schemeClr val="dk1"/>
                </a:solidFill>
                <a:latin typeface="+mn-lt"/>
                <a:sym typeface="Didact Gothic"/>
              </a:rPr>
              <a:t> </a:t>
            </a:r>
            <a:r>
              <a:rPr sz="2500" dirty="0" err="1">
                <a:solidFill>
                  <a:schemeClr val="dk1"/>
                </a:solidFill>
                <a:latin typeface="+mn-lt"/>
                <a:sym typeface="Didact Gothic"/>
              </a:rPr>
              <a:t>khác</a:t>
            </a:r>
            <a:r>
              <a:rPr sz="2500" dirty="0">
                <a:solidFill>
                  <a:schemeClr val="dk1"/>
                </a:solidFill>
                <a:latin typeface="+mn-lt"/>
                <a:sym typeface="Didact Gothic"/>
              </a:rPr>
              <a:t> </a:t>
            </a:r>
            <a:r>
              <a:rPr sz="2500" dirty="0" err="1">
                <a:solidFill>
                  <a:schemeClr val="dk1"/>
                </a:solidFill>
                <a:latin typeface="+mn-lt"/>
                <a:sym typeface="Didact Gothic"/>
              </a:rPr>
              <a:t>đóng</a:t>
            </a:r>
            <a:r>
              <a:rPr sz="2500" dirty="0">
                <a:solidFill>
                  <a:schemeClr val="dk1"/>
                </a:solidFill>
                <a:latin typeface="+mn-lt"/>
                <a:sym typeface="Didact Gothic"/>
              </a:rPr>
              <a:t> </a:t>
            </a:r>
            <a:r>
              <a:rPr sz="2500" dirty="0" err="1">
                <a:solidFill>
                  <a:schemeClr val="dk1"/>
                </a:solidFill>
                <a:latin typeface="+mn-lt"/>
                <a:sym typeface="Didact Gothic"/>
              </a:rPr>
              <a:t>góp</a:t>
            </a:r>
            <a:r>
              <a:rPr sz="2500" dirty="0">
                <a:solidFill>
                  <a:schemeClr val="dk1"/>
                </a:solidFill>
                <a:latin typeface="+mn-lt"/>
                <a:sym typeface="Didact Gothic"/>
              </a:rPr>
              <a:t> </a:t>
            </a:r>
            <a:r>
              <a:rPr sz="2500" dirty="0" err="1">
                <a:solidFill>
                  <a:schemeClr val="dk1"/>
                </a:solidFill>
                <a:latin typeface="+mn-lt"/>
                <a:sym typeface="Didact Gothic"/>
              </a:rPr>
              <a:t>tỷ</a:t>
            </a:r>
            <a:r>
              <a:rPr sz="2500" dirty="0">
                <a:solidFill>
                  <a:schemeClr val="dk1"/>
                </a:solidFill>
                <a:latin typeface="+mn-lt"/>
                <a:sym typeface="Didact Gothic"/>
              </a:rPr>
              <a:t> </a:t>
            </a:r>
            <a:r>
              <a:rPr sz="2500" dirty="0" err="1">
                <a:solidFill>
                  <a:schemeClr val="dk1"/>
                </a:solidFill>
                <a:latin typeface="+mn-lt"/>
                <a:sym typeface="Didact Gothic"/>
              </a:rPr>
              <a:t>trọng</a:t>
            </a:r>
            <a:r>
              <a:rPr sz="2500" dirty="0">
                <a:solidFill>
                  <a:schemeClr val="dk1"/>
                </a:solidFill>
                <a:latin typeface="+mn-lt"/>
                <a:sym typeface="Didact Gothic"/>
              </a:rPr>
              <a:t> </a:t>
            </a:r>
            <a:r>
              <a:rPr sz="2500" dirty="0" err="1">
                <a:solidFill>
                  <a:schemeClr val="dk1"/>
                </a:solidFill>
                <a:latin typeface="+mn-lt"/>
                <a:sym typeface="Didact Gothic"/>
              </a:rPr>
              <a:t>nhỏ</a:t>
            </a:r>
            <a:endParaRPr lang="en-US" sz="2500" dirty="0">
              <a:latin typeface="+mn-lt"/>
            </a:endParaRPr>
          </a:p>
          <a:p>
            <a:pPr marL="0" indent="0" algn="l" rtl="0">
              <a:buClr>
                <a:schemeClr val="dk1"/>
              </a:buClr>
              <a:buSzPts val="1200"/>
              <a:buNone/>
            </a:pPr>
            <a:r>
              <a:rPr lang="en-US" sz="2500" dirty="0">
                <a:solidFill>
                  <a:schemeClr val="dk1"/>
                </a:solidFill>
                <a:latin typeface="+mn-lt"/>
                <a:sym typeface="Wingdings" panose="05000000000000000000" pitchFamily="2" charset="2"/>
              </a:rPr>
              <a:t></a:t>
            </a:r>
            <a:r>
              <a:rPr sz="2500" dirty="0">
                <a:solidFill>
                  <a:schemeClr val="dk1"/>
                </a:solidFill>
                <a:latin typeface="+mn-lt"/>
                <a:sym typeface="Didact Gothic"/>
              </a:rPr>
              <a:t> </a:t>
            </a:r>
            <a:r>
              <a:rPr sz="2500" dirty="0" err="1">
                <a:solidFill>
                  <a:schemeClr val="dk1"/>
                </a:solidFill>
                <a:latin typeface="+mn-lt"/>
                <a:sym typeface="Didact Gothic"/>
              </a:rPr>
              <a:t>Sự</a:t>
            </a:r>
            <a:r>
              <a:rPr sz="2500" dirty="0">
                <a:solidFill>
                  <a:schemeClr val="dk1"/>
                </a:solidFill>
                <a:latin typeface="+mn-lt"/>
                <a:sym typeface="Didact Gothic"/>
              </a:rPr>
              <a:t> </a:t>
            </a:r>
            <a:r>
              <a:rPr sz="2500" dirty="0" err="1">
                <a:solidFill>
                  <a:schemeClr val="dk1"/>
                </a:solidFill>
                <a:latin typeface="+mn-lt"/>
                <a:sym typeface="Didact Gothic"/>
              </a:rPr>
              <a:t>tập</a:t>
            </a:r>
            <a:r>
              <a:rPr sz="2500" dirty="0">
                <a:solidFill>
                  <a:schemeClr val="dk1"/>
                </a:solidFill>
                <a:latin typeface="+mn-lt"/>
                <a:sym typeface="Didact Gothic"/>
              </a:rPr>
              <a:t> </a:t>
            </a:r>
            <a:r>
              <a:rPr sz="2500" dirty="0" err="1">
                <a:solidFill>
                  <a:schemeClr val="dk1"/>
                </a:solidFill>
                <a:latin typeface="+mn-lt"/>
                <a:sym typeface="Didact Gothic"/>
              </a:rPr>
              <a:t>trung</a:t>
            </a:r>
            <a:r>
              <a:rPr sz="2500" dirty="0">
                <a:solidFill>
                  <a:schemeClr val="dk1"/>
                </a:solidFill>
                <a:latin typeface="+mn-lt"/>
                <a:sym typeface="Didact Gothic"/>
              </a:rPr>
              <a:t> </a:t>
            </a:r>
            <a:r>
              <a:rPr sz="2500" dirty="0" err="1">
                <a:solidFill>
                  <a:schemeClr val="dk1"/>
                </a:solidFill>
                <a:latin typeface="+mn-lt"/>
                <a:sym typeface="Didact Gothic"/>
              </a:rPr>
              <a:t>này</a:t>
            </a:r>
            <a:r>
              <a:rPr sz="2500" dirty="0">
                <a:solidFill>
                  <a:schemeClr val="dk1"/>
                </a:solidFill>
                <a:latin typeface="+mn-lt"/>
                <a:sym typeface="Didact Gothic"/>
              </a:rPr>
              <a:t> </a:t>
            </a:r>
            <a:r>
              <a:rPr sz="2500" dirty="0" err="1">
                <a:solidFill>
                  <a:schemeClr val="dk1"/>
                </a:solidFill>
                <a:latin typeface="+mn-lt"/>
                <a:sym typeface="Didact Gothic"/>
              </a:rPr>
              <a:t>mang</a:t>
            </a:r>
            <a:r>
              <a:rPr sz="2500" dirty="0">
                <a:solidFill>
                  <a:schemeClr val="dk1"/>
                </a:solidFill>
                <a:latin typeface="+mn-lt"/>
                <a:sym typeface="Didact Gothic"/>
              </a:rPr>
              <a:t> </a:t>
            </a:r>
            <a:r>
              <a:rPr sz="2500" dirty="0" err="1">
                <a:solidFill>
                  <a:schemeClr val="dk1"/>
                </a:solidFill>
                <a:latin typeface="+mn-lt"/>
                <a:sym typeface="Didact Gothic"/>
              </a:rPr>
              <a:t>lại</a:t>
            </a:r>
            <a:r>
              <a:rPr sz="2500" dirty="0">
                <a:solidFill>
                  <a:schemeClr val="dk1"/>
                </a:solidFill>
                <a:latin typeface="+mn-lt"/>
                <a:sym typeface="Didact Gothic"/>
              </a:rPr>
              <a:t> </a:t>
            </a:r>
            <a:r>
              <a:rPr sz="2500" dirty="0" err="1">
                <a:solidFill>
                  <a:schemeClr val="dk1"/>
                </a:solidFill>
                <a:latin typeface="+mn-lt"/>
                <a:sym typeface="Didact Gothic"/>
              </a:rPr>
              <a:t>lợi</a:t>
            </a:r>
            <a:r>
              <a:rPr sz="2500" dirty="0">
                <a:solidFill>
                  <a:schemeClr val="dk1"/>
                </a:solidFill>
                <a:latin typeface="+mn-lt"/>
                <a:sym typeface="Didact Gothic"/>
              </a:rPr>
              <a:t> </a:t>
            </a:r>
            <a:r>
              <a:rPr sz="2500" dirty="0" err="1">
                <a:solidFill>
                  <a:schemeClr val="dk1"/>
                </a:solidFill>
                <a:latin typeface="+mn-lt"/>
                <a:sym typeface="Didact Gothic"/>
              </a:rPr>
              <a:t>thế</a:t>
            </a:r>
            <a:r>
              <a:rPr sz="2500" dirty="0">
                <a:solidFill>
                  <a:schemeClr val="dk1"/>
                </a:solidFill>
                <a:latin typeface="+mn-lt"/>
                <a:sym typeface="Didact Gothic"/>
              </a:rPr>
              <a:t> </a:t>
            </a:r>
            <a:r>
              <a:rPr sz="2500" dirty="0" err="1">
                <a:solidFill>
                  <a:schemeClr val="dk1"/>
                </a:solidFill>
                <a:latin typeface="+mn-lt"/>
                <a:sym typeface="Didact Gothic"/>
              </a:rPr>
              <a:t>vận</a:t>
            </a:r>
            <a:r>
              <a:rPr sz="2500" dirty="0">
                <a:solidFill>
                  <a:schemeClr val="dk1"/>
                </a:solidFill>
                <a:latin typeface="+mn-lt"/>
                <a:sym typeface="Didact Gothic"/>
              </a:rPr>
              <a:t> </a:t>
            </a:r>
            <a:r>
              <a:rPr sz="2500" dirty="0" err="1">
                <a:solidFill>
                  <a:schemeClr val="dk1"/>
                </a:solidFill>
                <a:latin typeface="+mn-lt"/>
                <a:sym typeface="Didact Gothic"/>
              </a:rPr>
              <a:t>hành</a:t>
            </a:r>
            <a:r>
              <a:rPr sz="2500" dirty="0">
                <a:solidFill>
                  <a:schemeClr val="dk1"/>
                </a:solidFill>
                <a:latin typeface="+mn-lt"/>
                <a:sym typeface="Didact Gothic"/>
              </a:rPr>
              <a:t> </a:t>
            </a:r>
            <a:r>
              <a:rPr sz="2500" dirty="0" err="1">
                <a:solidFill>
                  <a:schemeClr val="dk1"/>
                </a:solidFill>
                <a:latin typeface="+mn-lt"/>
                <a:sym typeface="Didact Gothic"/>
              </a:rPr>
              <a:t>nhưng</a:t>
            </a:r>
            <a:r>
              <a:rPr sz="2500" dirty="0">
                <a:solidFill>
                  <a:schemeClr val="dk1"/>
                </a:solidFill>
                <a:latin typeface="+mn-lt"/>
                <a:sym typeface="Didact Gothic"/>
              </a:rPr>
              <a:t> </a:t>
            </a:r>
            <a:r>
              <a:rPr sz="2500" dirty="0" err="1">
                <a:solidFill>
                  <a:schemeClr val="dk1"/>
                </a:solidFill>
                <a:latin typeface="+mn-lt"/>
                <a:sym typeface="Didact Gothic"/>
              </a:rPr>
              <a:t>đồng</a:t>
            </a:r>
            <a:r>
              <a:rPr sz="2500" dirty="0">
                <a:solidFill>
                  <a:schemeClr val="dk1"/>
                </a:solidFill>
                <a:latin typeface="+mn-lt"/>
                <a:sym typeface="Didact Gothic"/>
              </a:rPr>
              <a:t> </a:t>
            </a:r>
            <a:r>
              <a:rPr sz="2500" dirty="0" err="1">
                <a:solidFill>
                  <a:schemeClr val="dk1"/>
                </a:solidFill>
                <a:latin typeface="+mn-lt"/>
                <a:sym typeface="Didact Gothic"/>
              </a:rPr>
              <a:t>thời</a:t>
            </a:r>
            <a:r>
              <a:rPr sz="2500" dirty="0">
                <a:solidFill>
                  <a:schemeClr val="dk1"/>
                </a:solidFill>
                <a:latin typeface="+mn-lt"/>
                <a:sym typeface="Didact Gothic"/>
              </a:rPr>
              <a:t> </a:t>
            </a:r>
            <a:r>
              <a:rPr sz="2500" dirty="0" err="1">
                <a:solidFill>
                  <a:schemeClr val="dk1"/>
                </a:solidFill>
                <a:latin typeface="+mn-lt"/>
                <a:sym typeface="Didact Gothic"/>
              </a:rPr>
              <a:t>làm</a:t>
            </a:r>
            <a:r>
              <a:rPr sz="2500" dirty="0">
                <a:solidFill>
                  <a:schemeClr val="dk1"/>
                </a:solidFill>
                <a:latin typeface="+mn-lt"/>
                <a:sym typeface="Didact Gothic"/>
              </a:rPr>
              <a:t> </a:t>
            </a:r>
            <a:r>
              <a:rPr sz="2500" dirty="0" err="1">
                <a:solidFill>
                  <a:schemeClr val="dk1"/>
                </a:solidFill>
                <a:latin typeface="+mn-lt"/>
                <a:sym typeface="Didact Gothic"/>
              </a:rPr>
              <a:t>gia</a:t>
            </a:r>
            <a:r>
              <a:rPr sz="2500" dirty="0">
                <a:solidFill>
                  <a:schemeClr val="dk1"/>
                </a:solidFill>
                <a:latin typeface="+mn-lt"/>
                <a:sym typeface="Didact Gothic"/>
              </a:rPr>
              <a:t> </a:t>
            </a:r>
            <a:r>
              <a:rPr sz="2500" dirty="0" err="1">
                <a:solidFill>
                  <a:schemeClr val="dk1"/>
                </a:solidFill>
                <a:latin typeface="+mn-lt"/>
                <a:sym typeface="Didact Gothic"/>
              </a:rPr>
              <a:t>tăng</a:t>
            </a:r>
            <a:r>
              <a:rPr sz="2500" dirty="0">
                <a:solidFill>
                  <a:schemeClr val="dk1"/>
                </a:solidFill>
                <a:latin typeface="+mn-lt"/>
                <a:sym typeface="Didact Gothic"/>
              </a:rPr>
              <a:t> </a:t>
            </a:r>
            <a:r>
              <a:rPr sz="2500" dirty="0" err="1">
                <a:solidFill>
                  <a:schemeClr val="dk1"/>
                </a:solidFill>
                <a:latin typeface="+mn-lt"/>
                <a:sym typeface="Didact Gothic"/>
              </a:rPr>
              <a:t>rủi</a:t>
            </a:r>
            <a:r>
              <a:rPr sz="2500" dirty="0">
                <a:solidFill>
                  <a:schemeClr val="dk1"/>
                </a:solidFill>
                <a:latin typeface="+mn-lt"/>
                <a:sym typeface="Didact Gothic"/>
              </a:rPr>
              <a:t> </a:t>
            </a:r>
            <a:r>
              <a:rPr sz="2500" dirty="0" err="1">
                <a:solidFill>
                  <a:schemeClr val="dk1"/>
                </a:solidFill>
                <a:latin typeface="+mn-lt"/>
                <a:sym typeface="Didact Gothic"/>
              </a:rPr>
              <a:t>ro</a:t>
            </a:r>
            <a:r>
              <a:rPr sz="2500" dirty="0">
                <a:solidFill>
                  <a:schemeClr val="dk1"/>
                </a:solidFill>
                <a:latin typeface="+mn-lt"/>
                <a:sym typeface="Didact Gothic"/>
              </a:rPr>
              <a:t> </a:t>
            </a:r>
            <a:r>
              <a:rPr sz="2500" dirty="0" err="1">
                <a:solidFill>
                  <a:schemeClr val="dk1"/>
                </a:solidFill>
                <a:latin typeface="+mn-lt"/>
                <a:sym typeface="Didact Gothic"/>
              </a:rPr>
              <a:t>phụ</a:t>
            </a:r>
            <a:r>
              <a:rPr sz="2500" dirty="0">
                <a:solidFill>
                  <a:schemeClr val="dk1"/>
                </a:solidFill>
                <a:latin typeface="+mn-lt"/>
                <a:sym typeface="Didact Gothic"/>
              </a:rPr>
              <a:t> </a:t>
            </a:r>
            <a:r>
              <a:rPr sz="2500" dirty="0" err="1">
                <a:solidFill>
                  <a:schemeClr val="dk1"/>
                </a:solidFill>
                <a:latin typeface="+mn-lt"/>
                <a:sym typeface="Didact Gothic"/>
              </a:rPr>
              <a:t>thuộc</a:t>
            </a:r>
            <a:r>
              <a:rPr sz="2500" dirty="0">
                <a:solidFill>
                  <a:schemeClr val="dk1"/>
                </a:solidFill>
                <a:latin typeface="+mn-lt"/>
                <a:sym typeface="Didact Gothic"/>
              </a:rPr>
              <a:t> </a:t>
            </a:r>
            <a:r>
              <a:rPr sz="2500" dirty="0" err="1">
                <a:solidFill>
                  <a:schemeClr val="dk1"/>
                </a:solidFill>
                <a:latin typeface="+mn-lt"/>
                <a:sym typeface="Didact Gothic"/>
              </a:rPr>
              <a:t>thị</a:t>
            </a:r>
            <a:r>
              <a:rPr sz="2500" dirty="0">
                <a:solidFill>
                  <a:schemeClr val="dk1"/>
                </a:solidFill>
                <a:latin typeface="+mn-lt"/>
                <a:sym typeface="Didact Gothic"/>
              </a:rPr>
              <a:t> </a:t>
            </a:r>
            <a:r>
              <a:rPr sz="2500" dirty="0" err="1">
                <a:solidFill>
                  <a:schemeClr val="dk1"/>
                </a:solidFill>
                <a:latin typeface="+mn-lt"/>
                <a:sym typeface="Didact Gothic"/>
              </a:rPr>
              <a:t>trường</a:t>
            </a:r>
            <a:r>
              <a:rPr sz="2500" dirty="0">
                <a:solidFill>
                  <a:schemeClr val="dk1"/>
                </a:solidFill>
                <a:latin typeface="+mn-lt"/>
                <a:sym typeface="Didact Gothic"/>
              </a:rPr>
              <a:t> </a:t>
            </a:r>
            <a:r>
              <a:rPr sz="2500" dirty="0" err="1">
                <a:solidFill>
                  <a:schemeClr val="dk1"/>
                </a:solidFill>
                <a:latin typeface="+mn-lt"/>
                <a:sym typeface="Didact Gothic"/>
              </a:rPr>
              <a:t>chính</a:t>
            </a:r>
            <a:r>
              <a:rPr sz="2500" dirty="0">
                <a:solidFill>
                  <a:schemeClr val="dk1"/>
                </a:solidFill>
                <a:latin typeface="+mn-lt"/>
                <a:sym typeface="Didact Gothic"/>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A03F9A9C-AA92-A321-A222-A0AB3CBB2D70}"/>
              </a:ext>
            </a:extLst>
          </p:cNvPr>
          <p:cNvPicPr>
            <a:picLocks noChangeAspect="1"/>
          </p:cNvPicPr>
          <p:nvPr/>
        </p:nvPicPr>
        <p:blipFill>
          <a:blip r:embed="rId2"/>
          <a:stretch>
            <a:fillRect/>
          </a:stretch>
        </p:blipFill>
        <p:spPr>
          <a:xfrm>
            <a:off x="1437010" y="421402"/>
            <a:ext cx="6445079" cy="3592660"/>
          </a:xfrm>
          <a:prstGeom prst="rect">
            <a:avLst/>
          </a:prstGeom>
        </p:spPr>
      </p:pic>
      <p:sp>
        <p:nvSpPr>
          <p:cNvPr id="7" name="TextBox 6">
            <a:extLst>
              <a:ext uri="{FF2B5EF4-FFF2-40B4-BE49-F238E27FC236}">
                <a16:creationId xmlns="" xmlns:a16="http://schemas.microsoft.com/office/drawing/2014/main" id="{E01C538C-9260-D638-4E22-56C6D5132556}"/>
              </a:ext>
            </a:extLst>
          </p:cNvPr>
          <p:cNvSpPr txBox="1"/>
          <p:nvPr/>
        </p:nvSpPr>
        <p:spPr>
          <a:xfrm>
            <a:off x="1046136" y="3983064"/>
            <a:ext cx="6989735" cy="830997"/>
          </a:xfrm>
          <a:prstGeom prst="rect">
            <a:avLst/>
          </a:prstGeom>
          <a:noFill/>
        </p:spPr>
        <p:txBody>
          <a:bodyPr wrap="square">
            <a:spAutoFit/>
          </a:bodyPr>
          <a:lstStyle/>
          <a:p>
            <a:r>
              <a:rPr lang="vi-VN" sz="1600" dirty="0"/>
              <a:t>Hình 8. </a:t>
            </a:r>
            <a:endParaRPr lang="en-US" sz="1600" dirty="0"/>
          </a:p>
          <a:p>
            <a:r>
              <a:rPr lang="vi-VN" sz="1600" dirty="0"/>
              <a:t>Top 10 quốc gia theo doanh thu gộp. Kết quả phản ánh mức độ tập trung thị trường và là cơ sở để thảo luận rủi ro phụ thuộc thị trường chính.</a:t>
            </a:r>
            <a:endParaRPr lang="en-US" sz="1600" dirty="0"/>
          </a:p>
        </p:txBody>
      </p:sp>
    </p:spTree>
    <p:extLst>
      <p:ext uri="{BB962C8B-B14F-4D97-AF65-F5344CB8AC3E}">
        <p14:creationId xmlns="" xmlns:p14="http://schemas.microsoft.com/office/powerpoint/2010/main" val="21100854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pPr algn="ctr">
              <a:buSzPts val="2800"/>
            </a:pP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r>
              <a:rPr sz="4400" dirty="0">
                <a:latin typeface="Aptos Display" panose="020B0004020202020204" pitchFamily="34" charset="0"/>
              </a:rPr>
              <a:t> </a:t>
            </a:r>
            <a:r>
              <a:rPr sz="4400" dirty="0" err="1">
                <a:latin typeface="Aptos Display" panose="020B0004020202020204" pitchFamily="34" charset="0"/>
              </a:rPr>
              <a:t>theo</a:t>
            </a:r>
            <a:r>
              <a:rPr sz="4400" dirty="0">
                <a:latin typeface="Aptos Display" panose="020B0004020202020204" pitchFamily="34" charset="0"/>
              </a:rPr>
              <a:t> </a:t>
            </a:r>
            <a:r>
              <a:rPr lang="en-US" sz="4400" dirty="0" smtClean="0">
                <a:latin typeface="Aptos Display" panose="020B0004020202020204" pitchFamily="34" charset="0"/>
              </a:rPr>
              <a:t>Tier</a:t>
            </a:r>
            <a:endParaRPr sz="4400" dirty="0">
              <a:latin typeface="Aptos Display" panose="020B0004020202020204" pitchFamily="34" charset="0"/>
            </a:endParaRPr>
          </a:p>
        </p:txBody>
      </p:sp>
      <p:sp>
        <p:nvSpPr>
          <p:cNvPr id="5" name="TextBox 4"/>
          <p:cNvSpPr txBox="1"/>
          <p:nvPr/>
        </p:nvSpPr>
        <p:spPr>
          <a:xfrm>
            <a:off x="751668" y="1286359"/>
            <a:ext cx="6966488" cy="369332"/>
          </a:xfrm>
          <a:prstGeom prst="rect">
            <a:avLst/>
          </a:prstGeom>
          <a:noFill/>
        </p:spPr>
        <p:txBody>
          <a:bodyPr wrap="square" rtlCol="0">
            <a:spAutoFit/>
          </a:bodyPr>
          <a:lstStyle/>
          <a:p>
            <a:r>
              <a:rPr lang="en-US" sz="1800" dirty="0" err="1" smtClean="0"/>
              <a:t>Chia</a:t>
            </a:r>
            <a:r>
              <a:rPr lang="en-US" sz="1800" dirty="0" smtClean="0"/>
              <a:t> </a:t>
            </a:r>
            <a:r>
              <a:rPr lang="en-US" sz="1800" dirty="0" err="1" smtClean="0"/>
              <a:t>nhóm</a:t>
            </a:r>
            <a:r>
              <a:rPr lang="en-US" sz="1800" dirty="0" smtClean="0"/>
              <a:t> Tier </a:t>
            </a:r>
            <a:r>
              <a:rPr lang="en-US" sz="1800" dirty="0" err="1" smtClean="0"/>
              <a:t>thành</a:t>
            </a:r>
            <a:r>
              <a:rPr lang="en-US" sz="1800" dirty="0" smtClean="0"/>
              <a:t> Gold – Silver - Bronze</a:t>
            </a:r>
            <a:endParaRPr lang="en-US" sz="1800" dirty="0"/>
          </a:p>
        </p:txBody>
      </p:sp>
      <p:sp>
        <p:nvSpPr>
          <p:cNvPr id="4098" name="AutoShape 2" descr="data:image/png;base64,iVBORw0KGgoAAAANSUhEUgAABJ8AAAGACAYAAAADNcOYAAAAOXRFWHRTb2Z0d2FyZQBNYXRwbG90bGliIHZlcnNpb24zLjcuMiwgaHR0cHM6Ly9tYXRwbG90bGliLm9yZy8pXeV/AAAACXBIWXMAAA9hAAAPYQGoP6dpAACKb0lEQVR4nOzdeVRVZfv/8fdROCiaqeSQZuaEOICCY2rhAGo+aiL5NUktc8B5RNHIqTLHR8F5AHPMNDFNMy2tHAozNMdwKjLJFENyRJn27w9/nKcTpIjMfl5ruZbnnva1t6d17q5973ubDMMwEBERERERERERyQIFcjoAERERERERERHJv5R8EhERERERERGRLKPkk4iIiIiIiIiIZBkln0REREREREREJMso+SQiIiIiIiIiIllGyScREREREREREckySj6JiIiIiIiIiEiWUfJJRERERERERESyjJJPIpJvJCcn8/PPP3PhwoWcDkVERERERET+PyWfRCTf2LJlC+3atePQoUM5HYqIiIiIiIj8f0o+ieQTrq6u1K5dm969exMbG5vT4WS7xMREFixYwLBhw+jUqVNOhyMiIiI56HGfF4mI5DYmwzCMnA5CRB5dREQEly5dYuTIkQwbNow33njjvu0Nw8BkMmVPcJJl9O8oIiKSmuZFeUN2X3f9O4vkHK18EsmFxo4dS/Xq1e/7p2XLllZ9atSowffff4/JZKJu3br3Hf/cuXN069YtC88g+02bNo06derQqVMnbt269cD2LVu2ZOzYsf9aP2/ePKpXr/5QMfzf//0f7u7uXLly5aH69ejRgx49ejxUH4Ddu3fj7+9v+fz9999TvXp1vv/++4ceK7M86LqKiIg8LM2L7i8jc5bMlNHf/o8//pjp06dbPm/atInq1asTFRWVmeFZLFq0iJCQEMvnnL5uUVFRVK9enU2bNuVYDCLZySanAxCR1AYOHMirr75q+bxw4UJ++ukn5s+fbykzm82p+t25c4evvvqK4sWL33f8zz//nB9//DHT4s1pW7ZsYeXKlaxcuZKpU6cyatQoFi5cSIEC2Zdf/+abbzh79iwffvghpUqVypZjrlixIluOIyIikpM0L8qfFi1aRMOGDbPteIGBgQwePDjbjici1pR8EsmFnn32WZ599lnL55IlS2I2mx94527SpElZG1guVbduXXbs2EHFihVZvnw5V65cIT4+nkKFCmVbDLVr12bHjh2UKVMm244pIiLyONC8SEQk79NjdyJ52MGDB6levTrbt2+3Kj916hTVq1dn3759qfrMmzfPcqewevXqzJs3z/L3+fPn4+3tTb169Vi4cCEAv/76K0OHDqVp06bUrVuXHj16WL1NLmXJ8Oeff87QoUNxdXWlQYMGBAQEWD3+lpCQwKxZs3jxxRdxcXGhd+/ebN68+YHLq7/77ju6du1qGXfgwIH88ssvVm1OnjzJiBEjcHV1pX379qxZs4a7d+8+1LXcuHEjTk5OluuR4ptvvqFjx444OzvTpk0bNm/ebFV/6tQpBg8eTPv27WnZsiUvvPAC7733Hnfu3LE69wULFuDh4YGLiwv/+c9/CA0NtRrHMAyWLVtG8+bNcXFxoWvXrhw/fvxf4+3RowcHDx60fAf+/qjdL7/8Qu/evalTpw5NmzZl1qxZJCYmWuqTk5NZunQpnp6e1K5dmzZt2rB69epUx9i+fTudO3fG1dWVpk2bMmHCBK5du/bAa5mQkMCMGTMs35k333yT8+fPW7X5+OOP6dy5M3Xr1sXFxYWXX37Z6nu8adMmatasydGjR+natSvOzs40b96cZcuWWY0THR3NiBEjaNiwIQ0aNGDChAnMmTMn1eMXIiKS/z0O86K7d+8ydepUmjZtiqurK+PGjUtzzvPtt9/i4+NDvXr1aNSoEaNGjeKPP/6wavPDDz/Qu3dvGjRoQO3atWnZsiXz5s0jOTn5oc4l5Xwe9Nv/dy1btuT333/nk08+SXXOR48e5dVXX7X89v/9Ubl/e1Rt7Nix9/3tT3m8bv78+aketXvQXO+vv/5iwoQJNGnSBGdnZ/7v//6PsLAwqzZ3795lwYIFtG3bFmdnZ1q3bs3SpUst1/J+rly5Yrm+DRs2ZPz48dy+fdtSf+fOHf773//SunVrateujZubG7169SIiIsLq/N944w1CQ0Np06YNtWvXpmPHjuzZs8fqWD/++COvvfYadevWpXnz5qxcuZI33nhDWyZItlDySSQPa9iwIRUrVuTTTz+1Kv/kk08oW7YsTZs2TdWnS5cuvPLKKwCsX7+eLl26WOoWLVpEmzZtmD17Nq1ateLcuXN07tyZCxcu8PbbbzNr1ixMJhOvv/46Bw8etBp34sSJlC9fnoULF9KnTx9CQ0NZvHixpX7ChAmsXLmS7t27s2DBAp566inGjx9/3/O7cOECAwYMoFatWixatIj33nuPX375hX79+ll+zBcuXMiIESOoU6cOc+fOZdCgQezcuZMePXpYJYDuZ/v27YwfP57+/fszZMgQq7oJEybwxhtvsGjRIkqXLs3YsWM5deoUcC/x8dprrxEXF8e0adNYtmwZL730EqtXr7Z6JM7f35+lS5fyyiuvsGTJEtzd3XnrrbesJjeHDh3iyy+/ZPz48UyfPp3Lly/Tv39/q6TRP693zZo1qVmzJuvXr6dWrVqWuqlTp1KvXj0WL15M69atWbZsGR999JGlftKkScydO5eOHTuyePFi2rZty/vvv8+CBQssbR7lum7fvp2zZ88ybdo0JkyYwPHjxxkxYoSlfu3atUyYMIFWrVqxZMkSZs6cia2tLaNHj+bixYuWdsnJyQwfPpx27dqxdOlS6tWrx6xZsyz/8xAfH8/rr7/O4cOHeeutt5g6dSqnTp1i+fLl941PRETyp/w+LwIYPXo069evp2/fvgQGBnLt2rVUj+Fv2bKFN998kzJlyjB79mzGjRvHjz/+SNeuXYmJiQHuJeTeeOMNihcvzpw5c1i0aBFubm7Mnz+fzz777KHOBR782/9P8+fPp1SpUri7u7N+/XpKly5tqZs0aRLt27dnyZIluLi4MGPGDL7++usHXpv7Wb9+PQCvvPKK5e8p7jfXu3v3Lq+//jq7d+9mxIgRzJ8/n7Jly9KnTx9LAsowDPr3709wcDCvvPKKZW4VGBjIxIkTHxhbUFAQTz/9NAsXLqRnz55s2LDB6mbomDFj2LhxI/369WP58uWMHTuWM2fOMGLECP7+7rATJ04QEhLC0KFDWbBgATY2NgwdOtRy4/Dnn3+2bLw/e/ZshgwZwtKlS62SpyJZyhCRXM/f399o0aJFmnWLFi0yatasafz555+GYRhGQkKC0aRJE2P27Nn/Ot7cuXMNR0dHqzJHR0fj1VdftSobNmyY0bBhQ+P69euWsoSEBKNNmzbGK6+8YhiGYVy4cMFwdHQ0/Pz8rPr26NHDaN++vWEYhnH+/HmjevXqxvLly63avPnmm4ajo6Nx4cKFNOPctm2b4ejoaFy6dMlSdvToUWP27NnGjRs3jL/++suoXbu2ERAQYNXvhx9+MBwdHY21a9f+6zVo0aKF4e/vb3z11VdGrVq1Ul2vlGu0Z88eS9mvv/5qODo6GitXrjQMwzD27dtnvPbaa8aNGzes+rZv39548803DcMwjDNnzlj1STFs2DBj7NixhmEYRvfu3Q0XFxcjNjbWUr9hwwbD0dHRiIiI+Ndz6N69u9G9e3fL5wMHDhiOjo7GzJkzLWXJycmGu7u7MWjQIMMwDOOXX34xqlevbixZssRqrDlz5hjOzs7G1atXH/m6uru7G/Hx8Zay2bNnG46OjpbrNHXqVGPatGlW/U6cOGE4OjoaW7duNQzDMEJDQw1HR0djw4YNljZ37941nJ2djXfeeccwDMP4+OOPDUdHR+P48eOWNjdu3DAaNWr0r/+9iIhI3ve4zotS5hRr1qyxlCUlJRnt2rWzxJ+UlGQ0bdrUeOONN6z6nj9/3qhVq5YxY8YMwzAM45NPPjH69OljJCUlWY1Vr149Y/z48ek+F8NI329/WlLmYilSfvs//PBDS9mtW7eMWrVqGe+//75VTKGhoVZj3e87kcLR0dGYO3eu5XN65nrr1683HB0djSNHjljaJCcnG6+99prRuXNnwzAM45tvvjEcHR2NLVu2WB1vwYIFhqOjo3H27Nk040k5l+HDh1uVv/rqq0anTp0Mw7g39+ndu7dlfpRi+fLlhqOjo3H58mXL+Ts6Ohrnz5+3tDl48KDh6Oho7NixwzAMwxg9erTRpEkT4/bt25Y2hw8fNhwdHa3+HUSyilY+ieRxXl5eGIZhuUu1f/9+/vzzT7y8vB56LEdHR6vPBw8epEWLFjzxxBOWMhsbG/7zn/9w/PhxqyXX/9x3oWzZspYlw99//z2GYdC2bVurNu3bt79vPHXq1MHOzo5XXnmFqVOn8t133+Hk5MSIESMoWrQoR44cIT4+ng4dOlj1q1+/PuXLl3/gW99OnjzJsGHDKF26NMOGDUuzTf369S1/r1ChAgDXr18HoFmzZqxZswY7OzsiIyP5+uuvWbx4MVevXiU+Ph6A8PBwADw9Pa3GDQwMZOrUqZbPVatWtdoQ9ZlnngHgxo0b9z2HB8VsMpkoX768JeYDBw5gGAYtW7YkMTHR8qdly5bcvXuXQ4cOPfJ1dXFxwdbW1vL5n9dt7Nix+Pv7c+PGDY4fP87WrVtZu3YtcG/Z/t+5urpa/m42mylZsqTle3XgwAEqVKhA7dq1LW2KFi1KixYt0nehREQk38nP86KUOUWrVq0sZQUKFKBNmzaWz5GRkVy5ciXVb/izzz6Lq6ur5Te8U6dOLFu2jISEBM6ePcuuXbuYN28eSUlJqX6L73cuKR702/8w/j6Psbe356mnnsrQOBk53j/jDgsLo1SpUtSqVcsyZ0pKSqJFixacOHGCa9eucfDgQQoWLEi7du2sxu3YsSPAA+dNfz9+SgwpxzebzQQHB9O+fXuio6P54YcfWL9+vWUl2N//rUqWLGm1N1rZsmUBiIuLA+7Nm9zd3SlcuLCljaurK+XLl3/QJRLJFNpwXCSPK1OmDC+88AKbN2+mZ8+ebN68GTc3N5577rmHHuupp56y+nzt2rVUZSntDMPg5s2blrK//5DBvcmQ8f+XAl+9ehUABweH+x7vn5555hnWrFnD0qVL2bBhAytWrKBYsWL4+PgwbNgwyzLif4vxQYmbM2fO0KJFC77++mvWrFlDz549U7Wxt7e3OifAcl7JycnMnj2btWvXcvv2bZ5++mlcXFyws7Oz9Pnrr7/SPPf7Hefvx0rPXgH/dL9/i5R4/vOf/6TZ9/Lly5ZJdUav64PO5bfffmPChAkcOHAAGxsbKleubNl/wfjb8nEg1abxfz+X2NjYNK/rg75XIiKSf+XneVHKvKdkyZJW5X9/y27K7/y/xfnTTz8B9/YRevfdd9myZQuJiYk888wzuLq6YmNjk+q3+H7nkiK75jFZ4X5zvb/++osrV65YbW/wd1euXOHatWuUKFECGxvr/7VO+Xd50LzpQee7b98+3n//fX755ReKFClC9erVKVKkiFWcaY1jMpmA//0bXL16Nc15U3a9pVlEySeRfMDb25shQ4Zw5swZvv76a95+++1MGffJJ5/kzz//TFV+5coVAEqUKEF0dPQDx0l5A1xMTAxPP/20pTxl34H7cXFxYf78+cTHx3Po0CHWr1/P4sWLqV69Ok8++SQAf/75J1WqVEkVY8rdq3/TrFkzFi9ezKhRo5gzZw4eHh6UK1fugTGlWLp0KStWrGDSpEm0adPGkrRJ2TsCoFixYsC9H/yUO1Bwb1Pwq1evprrbldVS4lm5cqVl4vJ35cqV48SJE0DGr+v9JCcn069fP2xtbdmwYQM1a9bExsaGc+fOpdqj40HKlCmT5mam6fleiYhI/pVf50UlSpQA7v0+/32+kpJwAiyrqP8tzpQxpkyZws6dOwkMDKRJkyaWBMzzzz//wPhzUkpCJSkpyar8nyuxMssTTzzBc889x6xZs9Ksf+aZZ3jyySeJjY0lMTHRKgGV8l1IueYZ8dtvvzFo0CDLPpkpK5vWrl2b5gb691O2bNk0v2MxMTFUqlQpwzGKpJceuxPJB1q0aIGDgwPvvvsuJpOJl1566b7tU+7qPEiDBg34+uuvre7YJCUl8dlnn+Hs7IzZbE7XOPXq1aNgwYJ88cUXVuX//PxPK1asoGXLlsTHx2M2m3n++ed59913Afjjjz+oU6cOZrOZrVu3WvULDw/n4sWLuLm53Xf8lDs948aNw8bGhgkTJqTrfFIcOnSIqlWr8sorr1gST5cvX+bMmTOWu0z16tUDYNeuXVZ958yZYzmXjErvv+PfNWjQALi3asjZ2dny56+//iIwMJC//vrrka/r/cTGxhIZGckrr7yCi4uLZZK2d+9e4OHukDZs2JALFy5Yve3l7t27lrFEROTxlF/nRY0bNwZgx44dVuV/34y7UqVKlCpVKtVv+IULFzhy5IjlN/zQoUM0atQIDw8PS+LpxIkTXL16NUOrlTIiI/OYokWLAnDp0iVLWUJCAseOHcuS4zVs2JA//vgDBwcHq3lTWFgYwcHBFCxYkIYNG5KUlJTqLYspN9VS5oIZceLECe7evYuvr6/VI3UpiaeHWRHWoEED9u7da/V2xIiIiPu+XVEkM2nlk0g+YGtry8svv8zy5ct5+eWXLT/M/yZl9cu2bduoU6fOv65kGTx4MHv37qVnz57069cPs9nMmjVruHDhAsHBwemOr0KFCnh7ezN79mwSEhJwcnLiyy+/tEyW/m0y0LhxY2bNmsWgQYPo3r07BQsW5KOPPsJsNtOiRQuKFy9Ov379mD9/Pra2trRq1YqoqCiCgoKoWrUqnTt3Tld8Tz31FCNGjGDy5Mls2bKFl19+OV39XFxcWLhwIUuXLqVu3bqcP3+eJUuWEB8fb3m+3snJibZt2zJr1izu3LlDrVq12L9/P19++SWBgYHpOs6/KVasGD/++CNhYWHUrFkzXX0cHR3p2LEj48eP5/fff6d27dpERkYyZ84cnnnmGZ577jkKFiyYKdc1LQ4ODpQvX561a9dStmxZihUrxv79+1m5ciXwv30J0qN9+/YsXbqUQYMGMWzYMIoVK8by5cuJiYl5qBVsIiKSv+TXeVHFihXp2rUrc+bMITExkRo1arBlyxZOnz5taVOgQAFGjhzJuHHjGDFiBJ06dSI2Npb58+fz5JNP0qtXL+DeHObzzz9n3bp1VKlShVOnTrFo0SJMJtND/RY/imLFivHTTz9x8OBBXFxc0tXnySefxNXVlTVr1lCxYkVKlCjB6tWruXPnTqpH/9I63o8//sgPP/yQ7pXnnTt3Zs2aNfTq1Yv+/fvz9NNP891337Fs2TK6d++Ora0tL774Io0aNWLixIlER0dTs2ZNDh48yLJly/Dy8qJq1arpOlZaatWqhY2NDTNnzuTNN98kPj6eTZs28c033wAPt+Krf//+bN++nT59+vDmm29y/fp1goKCMJlMlhVlIllJK59E8onmzZsDpCsx0Lp1a5ydnRk7diwhISH/2q5atWp8+OGHPPXUU7z11luMHj0awzBYtWoVTZo0eaj4xo8fz6uvvsry5csZOHAgly5dYsCAAUDqfQJSODk5sXjxYm7evMnIkSMZPHgwf/31F8uXL6dy5coADBkyhEmTJnHw4EH69+/P/Pnzadu2LR9++GGqZ9/v59VXX8XFxYX333/fshfDg/j6+tKtWzdWrVpF3759CQkJ4eWXX2bw4MGcPXvWsjfDzJkz6dmzJ6tXr8bX15f9+/cTGBiYaqPRh/Xaa69ha2tL3759H2q1z9SpU+nVqxcfffQRffr0YfHixbRr147ly5dTsGBBIPOua1oWLlxImTJlGDt2LMOHD+fIkSMsWrSIypUrWzZTTQ8bGxtCQkKoWbMmkyZNYsyYMTg6OuLp6fnACaiIiORv+XFeBDBx4kT69u3LmjVrGDx4MHfu3KF///5WbTp37szcuXM5f/48gwYNYtq0abi6urJx40bLqu+xY8fi4eFBYGAgvr6+fPzxxwwYMID/+7//48cff0z1WFtWePPNN/nzzz/p3bu35ZH/9Jg2bRq1a9dm/PjxjB07lho1avD6668/sF///v05fvw4ffv25Y8//kjXsezt7Vm7di316tVj5syZ9O3bly+++IJRo0Yxbtw44N6jgEuWLOHVV19l1apV9OvXjx07djBixAimTJmS7vNKS8WKFfnvf//L5cuXGTBggGWV/urVqzGZTA81b6pYsSIhISHcvXuXoUOHMmfOHPr27UupUqXS3IpBJLOZjKzcvU1Ess2MGTPYtWsXO3fuzJK7FymTkJTkxMP466+/2Lt3Ly+88ILVc+/Tp09n06ZND3wLiORfiYmJFChQIENL4c+ePcsvv/xC69atrb7z3t7ePP3008yfPz8zQxURkTxE8yLJbwzDICkpiYIFC2boOx0WFoatra3Vqq9r167RtGlTxowZk+aLd0Qykx67E8nj1q1bx88//8y6deuYOHFili2b9fT0pHz58qxevfqh+xYuXJgpU6ZY7kzZ29tz+PBhVq9enepunTxeatWqhZeXF9OmTXvovrdv32bYsGH4+Pjg6elJUlIS27Zt4+TJk4wePToLohURkdxO8yLJrw4ePEjPnj2ZOnVqhrZAOHnyJHPnzmXkyJHUqlWL2NhYli9fzhNPPEH79u2zIGIRa1r5JJLHjR07lh07dvDyyy8zceLEDK0gSY/Tp09ja2tredztYUVERBAYGMiRI0eIi4vj2Wef5dVXX+W1117Tc+aPsePHj1OiRAmeeeaZDPXfsWMHISEh/PzzzxiGQc2aNRkwYADNmjXL5EhFRCQv0LxI8qubN28SGRnJM888k6E36CUnJ7N48WK2bNnCH3/8gb29PQ0bNmTUqFFUrFgxCyIWsabkk4iIiEgelpCQwPz589myZQvXrl2jRo0a+Pn5Wd5qFRERwZQpUzhx4gTFixenR48e9O7d29J/3759TJo0iRs3buDt7Y2/v7+l7vLly3h5ebF161YcHByy/dxEREQkf9CG4yIiIiJ52KJFiwgNDeW9995j8+bNVK5cmb59+3L58mViY2Pp1asXzz33HKGhoQwZMoSgoCBCQ0OBe3fC/f396devH6tWrWL79u3s2bPHMnZgYCA+Pj5KPImIiMgj0Z5PIiIiInnY7t27ad++veVx07Fjx/Lxxx9z5MgRfv31V8xmM5MmTcLGxoYqVapw/vx5li1bhre3N7GxscTExODl5YXZbMbNzY2zZ8/i7u7O6dOn2b9/Pzt37szhMxQREZG8TiufRERERPKw4sWL8/XXXxMVFUVSUhLr16/HbDZTo0YNwsPDadCgATY2/7vf2LhxYyIjI4mJiaFEiRIUKVKEQ4cOcevWLU6dOkWFChUAmDlzJgMHDrzva99FRERE0kMrnzLJjz/+iGEY2Nra5nQoIiIikkkSEhIwmUy4urrmdCj/KiAggBEjRtCqVSsKFixIgQIFCAoK4tlnn+XSpUs4OjpatS9dujQAFy9exMHBgfHjx+Pr60tiYiIeHh54enoSFhZGVFQUXbp0ybQ4NVcSERHJf9I7V1LyKZMYhoH2bhcREclf8sJv+88//0yxYsVYsGABZcqU4eOPP8bf3581a9Zw584dzGazVXs7OzsA7t69C4CXlxft2rUjLi6O4sWLYxgGM2fOZNSoUURHR+Pv709UVBQdO3ZkxIgRGY4zZa4UHx+f8ZMVERGRPEnJp0ySchfP2dk5hyMRERGRzHL8+PGcDuG+fv/9d0aPHs2KFSuoX78+cG8ucu7cOebNm0ehQoVSJXtSkk5/f5zOzs7OkpTaunUrZrMZT09PBgwYQLNmzejRowc+Pj44Ozvj4eGRoVhtbW0xDIOqVatmqL+IiIjkPufOncNkMj2wnZJPIiIiInnUsWPHSEhISHXzq06dOuzdu5dy5coRHR1tVZfyuUyZMqnGi4+PJygoiBkzZgBw8OBB/Pz8sLe3p2nTpoSHh2c4+QRgMpm0h5SIiEg+kp7EE2jDcREREZE86+mnnwbg9OnTVuVnzpyhYsWKNGjQgEOHDpGUlGSpCwsLo1KlSjg4OKQab82aNTg5OVGvXj0AChQoQGJiInBvT4fk5OSsOhURERHJx5R8EhEREcmjXFxcqF+/Pv7+/hw4cIBff/2VwMBAwsLC6NevH97e3ty8eZOAgADOnTvHpk2bWLlyJb6+vqnGun79OsHBwYwcOdJq/HXr1nHmzBl2796Nm5tbdp6eiIiI5BNKPomIiIjkUQUKFGDhwoU0btyYcePG0blzZw4cOMCKFSuoW7cuDg4OBAcHExkZiZeXF/Pnz2fMmDF4eXmlGmvx4sV4eHhQpUoVS1lAQADHjh3Dx8eHFi1a0KZNm+w8PREREcknTEZeeI1LHpCyIak2HBcREck/9PueeXQtRURE8p/0/r5r5ZOIiIiIiIiIiGQZJZ9ERERERERERCTLKPkkIiIiIiIiIiJZRsknERERERERERHJMko+iYiIiIiIiIhIllHySUREREREREREsoySTyIiIiIiIiIikmWUfBIRERERERERkSyj5JOIiIiIiIiIiGQZJZ9ERERERERERCTLKPkkIiIiIiIiIiJZRsknERERERERERHJMko+iYiIiIiIiIhIllHySUREREREREREsoySTyIiIiIiIiIikmVyVfJp4cKF9OjRw6osIiKC7t27U7duXZo3b05ISIhVfXJyMnPnzuWFF16gTp06vPnmm5w/f95Sf/fuXUaOHImbmxteXl6cOnXKqv+7777LzJkzs+6kREREREREREQeY7km+bRixQrmzp1rVRYbG0uvXr147rnnCA0NZciQIQQFBREaGmpps3DhQj766CPee+891q9fj8lkom/fvsTHxwOwceNGIiMj2bhxI+7u7owfP97S97fffmPHjh34+vpmz0mKiIiIiIiIiDxmcjz5dPnyZfr06UNQUBCVKlWyqtuwYQNms5lJkyZRpUoVvL29eeONN1i2bBkA8fHxLF++nCFDhuDu7o6TkxNz5szh8uXLfPnllwCcPXuWZs2aUblyZTp06MDZs2ct48+aNYvevXtTrFix7DthEREREREREZHHSI4nn06ePMmTTz7Jp59+Sp06dazqwsPDadCgATY2Npayxo0bExkZSUxMDKdOneLWrVs0btzYUl+sWDFq1qzJDz/8AECFChU4duwY8fHxHD58mAoVKgBw9OhRTpw4Qffu3bPhLEVERB5eUlISPXr0YOzYsf/aZs+ePXTo0IG6devy0ksv8fXXX1vVf/jhh3h6euLq6kqHDh0s9eHh4bi6ulr9qV27NtWrV+fy5ctZel4iIiIif/eoc574+HhmzpzJiy++SIMGDRg0aBB//PGHpT4qKorBgwfTuHFjGjVqxMCBA7lw4cJ9j9WpUydcXV3p2LGjZXFLipdeeok6depYzaN+/vln4N4TXGPHjqVp06Y0aNCA119/nYiIiIxemnzD5sFNslbLli1p2bJlmnWXLl3C0dHRqqx06dIAXLx4kUuXLgHw9NNPp2qT8kXr2rUrO3fupG7dujzxxBMEBgYCMGPGDIYNG4bZbM60czEMg9u3b2faeCIi8nhbuHAh4eHhlClTJs3fl/PnzzNkyBCmTp3KCy+8wFdffcXw4cPZsmULpUuX5tNPP2X+/PkEBgZSq1YtduzYwZAhQ9i2bRs1a9bk22+/tYx169YtevbsSdu2bXniiSf0e/b/GYaByWTK6TBERETytfnz5xMeHk758uXTrP/1118ZMmQIs2fPpnnz5nzxxRcMHz6cL774gjJlyvDf//6Xr776ipCQECpWrEhgYCC9evXi008/xWw2M2jQIGrXrs1XX32FYRhMmTKFgQMHsnXr1lTHOnnyJIMGDWLixIl4eXlx5MgR+vXrR7FixWjUqBE3b94kMjKS3bt3pxlvQEAASUlJbNu2jSJFirBo0SL69OnDl19+ib29faZfu7wix5NP93Pnzp1UySE7Ozvg3kbicXFxAGm2uXbtGgBFixZlw4YN/PnnnxQvXhwbGxt27drFrVu36NixIyEhIaxdu5ZSpUrx7rvvpkp2PYyEhARlNEVEJFOcPHmS7du306BBA65du5bm78uGDRtwdHSkbNmynD17lgoVKlC9enWWLFnCK6+8QnBwMF5eXhQsWJBTp07x3HPPMWnSJH7//XdiYmKsxlq8eDFFihShWbNm+i37h8y8USUiIiLWwsLC+OKLL2jduvW/tvnkk0+oX78+Hh4eALRr145Nmzaxfv16hg4dyrZt2xg9ejTVqlUDYNSoUaxbt46wsDDq1q3LU089xbBhwyzJn549e/Lyyy9z7do1nnzySatjff7557i5udGlSxcA6tevT4cOHVi3bh2NGjXixIkTFC9ePM3EU8pNq2HDhlGiRAkAevfuzcKFC/n111+pWbPmo1+wPCpXJ58KFSpk2Tg8xd27dwGwt7enUKFCwL0ldil/T2lTuHBhq35PPfUUcG853+zZs3nrrbeIiIhg5cqVbN68mf379zNmzBg2b96c4XhtbW2pWrVqhvuLiIgAXL16FT8/P2bPns3atWsBqFGjRqp2165do06dOlZ1zs7OREVF8dxzzxEVFUX58uWZOXMmv/zyCxUrVmTYsGG4urpajXP48GG+//57Nm3aRLly5bL25PKYc+fO5XQIIiIi+VZMTAwBAQEsXLiQFStW/Gu7c+fOpVooUrVqVcvb7JOSkqxyACmrliMjI3F3dyckJMSq786dOylfvnyqxFPKWP9coVSgQAF++eUXAI4fP07hwoXp3r07Z8+epXz58gwZMoQWLVpgMplYsGCBVd8dO3Zgb2+fao/rx02uTj6VLVuW6Ohoq7KUz2XKlCExMdFS9uyzz1q1cXJySnPMjz/+mDJlytCsWTNWrFiBm5sbJUuWpHXr1owePZqbN29StGjRDMVrMpke62V0IiLy6JKTk5kwYQJvvvkmrq6urF+/HiDN35c7d+5QrFgxq7onnniCu3fvkpiYiGEYrFmzhqCgICpWrMiGDRsYMmQIW7du5ZlnnrH0WbZsGd26ddMNlDTokTsREZGskZyczOjRo+nVq9e//v97ilu3bqVaYFKoUCHLNgGtW7dm8eLF1KhRgzJlyrBw4ULu3r3LnTt3Uo21bt06li9fzqJFi9I8lqenJz179mTnzp20atWKo0ePsn37dooXLw7cmxs4OzszcuRIypUrZ9nWYM2aNdStW9dqrN27d/Pee+8xadKkVPE/bnJ8w/H7adCgAYcOHSIpKclSFhYWRqVKlXBwcMDJyYmiRYvy/fffW+qvX7/OTz/9RP369VONd/v2bRYsWMDo0aOBe1+alLETEhKAe/8BiIiI5JQlS5ZgNpvp0aPHA9sWLlw41aTqzp07FClSBFtbWwB69epFtWrVMJvNdO/enXLlyrFnzx5L+99++42DBw+m63giIiIimSWz5jwAY8eOxdXVlddee422bdtiNptxdHS0erN9fHw8kydPJjAwkCVLltCkSZM0j+Xm5saMGTOYP38+TZs2JSQkhM6dO1vG6tOnD3PnzuW5557DbDbTsWNHmjRpws6dOy1jGIbBwoUL8fPz4/3336dTp04Pe3nynVy98snb25vg4GACAgLo06cPx44dY+XKlUyePBnAMpGeNWsWJUuWtDxaULZsWTw9PVONt3z5cho1amR5zrJOnTrMnz+fY8eO8e2331KtWjWrL6eIiEh227JlC9HR0ZabKCkTrV27dhEeHm7V1tHRkZMnT1qVnTt3jtq1a1OyZEkcHBxSPb7+9xs6cG/ZuZubm9VKKBEREZGslllzHoDLly8zYMAAJkyYANzbmmDJkiWW+qtXrzJgwADi4+PZuHEjFSpU+Ne4/vrrL6pVq2a1Gfnw4cMtY4WEhFCzZk2ef/55S318fLxlf+q4uDhGjBjB2bNnWbt27WO9z9Pf5eqVTw4ODgQHBxMZGYmXlxfz589nzJgxeHl5WdoMHTqUV155hbfffptu3bpRsGBBQkJCUm0OGhMTw+rVqxk+fLilrG7dunTv3p0+ffqwfft2pk2bll2nJiIikqYdO3Zw+PBhwsPDCQ8Pp3379rRv3z7VJAygY8eOHDx4kO3bt5OYmMj27ds5ePAgL7/8MgCvvvoqCxYsICIigsTERFatWsXly5ctm3UCHDp0KM3VwpJ3fP/991SvXj3NP61atQIgIiKC7t27U7duXZo3b55q74t9+/bRqlUrGjZsyPTp063qLl++TJMmTVJtUi8iIvIoMnPOs2LFCsaOHcutW7e4du0akydPplatWri4uJCQkECfPn0oWrQo69atu2/iCe69Tfj//u//OHXqlOVYX3/9NT4+PgD88ccfTJ48mQsXLpCYmMjGjRv58ccfLXmKESNGcOnSJUJDQ5V4+huTYRhGTgeRHxw/fhy4t9GriIhIZhk7diyA5QaJq6srkydPpmPHjsC9pMGsWbP47bffKF++PKNHj8bd3R249yj5ihUrWL9+PdHR0VSuXJlx48ZZJZvat2+Pj4+PZUIl1vLC73t8fLzlLb8pzpw5Q79+/Zg0aRIeHh689NJLeHh40KtXL44cOcLkyZOZOHEi3t7eJCcn06xZM4YNG0adOnXw9fXlnXfesXyPxo0bR/ny5Rk8ePAjxZkXrqWIiOScR5nz3Lx5k4kTJ7J//34AmjVrxttvv02JEiX44osvGDJkCHZ2dhQsWNDqmJ999hnlypXjP//5Dx06dKB///7AvX2hli1bRmxsLJUrV8bPz8+y0ik+Pp5Zs2bx+eefc+PGDapWrcro0aNp1KgRJ0+epHPnzpjNZmxsrB80W7ZsWb684Zfe33clnzKJJlQiIpIdPvroI5588kleeumlnA7lsZAXf98TEhLw8vKiWrVqzJkzhyVLlrB27Vq++uory0R49uzZfPHFF+zYsYOYmBiaNGnC8ePHMZvNjBgxglq1atGnTx9Onz5Nnz592Llz5yO/VCUvXksREck52Tnn2bdvn+U3Tx5Oen/fc/VjdyIiIvI/hmFw/PhxXnzxxZwORXKxtWvX8scffzBu3DgAwsPDadCggdUd2MaNGxMZGUlMTAwlSpSgSJEiHDp0iFu3bnHq1CnLIwkzZ85k4MCBepuviIhkq+ye8+zdu5cOHTpky7EeV7l6w3ERERH5H5PJxJQpU3I6DMnF7t69y+LFi3n99dcpXbo0AJcuXcLR0dGqXUrdxYsXcXBwYPz48fj6+pKYmIiHhweenp6EhYURFRVFly5dMi0+wzAsr8UWERG5n4CAAIBs+d0YMWJEth0rvzEMA5PJ9MB2Sj6JiIiI5BNbtmzh7t27Vq+tvnPnTqoXsaS8kefu3bsAeHl50a5dO+Li4ihevDiGYTBz5kxGjRpFdHQ0/v7+REVF0bFjR8sEPSMSEhKIiIjIcH8RERHJff45z0iLkk8iIiIi+cTmzZtp3bo1JUqUsJQVKlSI+Ph4q3YpSae/P05nZ2dnSUpt3boVs9mMp6cnAwYMoFmzZvTo0QMfHx+cnZ2t3pj4MGxtbalatWqG+oqIiEjuc+7cuXS1U/JJREREJB+4evUqP/74I76+vlblZcuWJTo62qos5XOZMmVSjRMfH09QUBAzZswA4ODBg/j5+WFvb0/Tpk0JDw/PcPLJZDJp/ygREZF8JD2P3IE2HBcRkXzCSE7K6RAkF3qcvheHDx/GZDLRsGFDq/IGDRpw6NAhkpL+dy3CwsKoVKkSDg4OqcZZs2YNTk5O1KtXD4ACBQqQmJgI3HtsLjk5OQvPQkREssrj9Jso6Zdd3wutfBIRkXzBVKAgx0OncevP33I6FMklijz1LM7eY3M6jGyT8pa6woULW5V7e3sTHBxMQEAAffr04dixY6xcuZLJkyenGuP69esEBwezevVqS5mLiwvr1q3Dx8eH3bt3M3r06Cw/FxERyXyaK8k/ZedcScknERHJN279+Rs3/kjfc+ci+c2ff/5J8eLFU5U7ODgQHBzMlClT8PLyolSpUowZMwYvL69UbRcvXoyHhwdVqlSxlAUEBODn58e2bdvo1KkTbdq0ycrTEBGRLKS5kuQUJZ9ERERE8oFJkyb9a52Liwvr169/4BhjxoxJVVa5cmU2bdr0KKGJiIjIY057PomIiIiIiIiISJZR8klERERERERERLKMkk8iIiIiIiIiIpJllHwSEREREREREZEso+STiIiIiIiIiIhkGSWfREREREREREQkyyj5JCIiIiIiIiIiWUbJJxERERERERERyTJKPomIiIiIiIiISJZR8klERERERERERLKMkk8iIiIiIiIiIpJllHwSEREREREREZEso+STiIiIiIiIiIhkGSWfREREREREREQkyyj5JCIiIiIiIiIiWUbJJxERERERERERyTJKPomIiIiIiIiISJZR8klERERERERERLKMkk8iIiIiIiIiIpJllHwSEREREREREZEso+STiIiIiIiIiIhkGSWfREREREREREQkyyj5JCIiIiIiIiIiWUbJJxERERERERERyTJKPomIiIjkcZs3b6Zdu3Y4Ozvzn//8h88//9xSFxERQffu3albty7NmzcnJCTEqu++ffto1aoVDRs2ZPr06VZ1ly9fpkmTJsTExGTLeYiIiEj+pOSTiIiISB62ZcsW3nrrLbp27cq2bdto164dI0eO5McffyQ2NpZevXrx3HPPERoaypAhQwgKCiI0NBSA5ORk/P396devH6tWrWL79u3s2bPHMnZgYCA+Pj44ODjk1OmJiIhIPmCT0wGIiIiISMYYhkFQUBCvv/46r7/+OgCDBg3i8OHDHDx4kIMHD2I2m5k0aRI2NjZUqVKF8+fPs2zZMry9vYmNjSUmJgYvLy/MZjNubm6cPXsWd3d3Tp8+zf79+9m5c2cOn6WIiIjkdVr5JCIiIpJH/fLLL/z+++906NDBqjwkJARfX1/Cw8Np0KABNjb/u9/YuHFjIiMjiYmJoUSJEhQpUoRDhw5x69YtTp06RYUKFQCYOXMmAwcOxN7ePlvPSURERPIfJZ9ERERE8qhff/0VgNu3b9O7d2+ef/55unTpwldffQXApUuXKFu2rFWf0qVLA3Dx4kUKFCjA+PHj8fX1pUGDBlSrVg1PT0/CwsKIioqiS5cu2Xo+IiIikj/psTsRERGRPOrmzZsA+Pv7M3jwYPz8/Ni5cycDBw7kgw8+4M6dO5jNZqs+dnZ2ANy9excALy8v2rVrR1xcHMWLF8cwDGbOnMmoUaOIjo7G39+fqKgoOnbsyIgRIx4pXsMwuH379iONISIiD89kMlG4cOGcDkNyqbi4OAzDyFBfwzAwmUwPbKfkk4iIiEgeZWtrC0Dv3r3x8vICoEaNGvz000988MEHFCpUiPj4eKs+KUmnvz9OZ2dnZ0lKbd26FbPZjKenJwMGDKBZs2b06NEDHx8fnJ2d8fDwyHC8CQkJREREZLi/iIhkTOHChalZs2ZOhyG5VGRkJHFxcRnu/88bXWnJE8mnhIQE5s+fz5YtW7h27Ro1atTAz88PNzc34N4rhKdMmcKJEycoXrw4PXr0oHfv3pb++/btY9KkSdy4cQNvb2/8/f0tdZcvX8bLy4utW7fqTS4iIiKSp6Q8Uufo6GhVXrVqVb755hvKly9PdHS0VV3K5zJlyqQaLz4+nqCgIGbMmAHAwYMH8fPzw97enqZNmxIeHv5IySdbW1uqVq2a4f4iIpIx6VmZIo+vSpUqZXjl07lz59LVLk8knxYtWkRoaCjTpk2jQoUKLFu2jL59+7J9+3bMZjO9evXCw8ODyZMnc+TIESZPnkzx4sXx9va2vEJ42LBh1KlTB19fXxo3boy7uzugVwiLiIhI3lWzZk2KFCnC0aNHqV+/vqX8zJkzPPvss7i5ufHRRx+RlJREwYIFAQgLC6NSpUppzn3WrFmDk5MT9erVA6BAgQIkJiYC924GPiqTyaQNzEVERHKZR3kkM72JzTyx4fju3btp3749zZo1o2LFiowdO5abN29y5MgRNmzYYHmFcJUqVfD29uaNN95g2bJlAFavEHZycrK8QhiwvEL4zTffzMnTExEREcmQQoUK0adPHxYsWMC2bdv47bffWLRoEd9++y29evXC29ubmzdvEhAQwLlz59i0aRMrV67E19c31VjXr18nODiYkSNHWspcXFxYt24dZ86cYffu3ZZV5yIiIiIPI08kn4oXL87XX39NVFQUSUlJrF+/HrPZTI0aNfQKYREREXmsDRw4kCFDhjBnzhzatWvHjh07mDdvHo0aNcLBwYHg4GAiIyPx8vJi/vz5jBkzxrI/1N8tXrwYDw8PqlSpYikLCAjg2LFj+Pj40KJFC9q0aZOdpyYiIiL5RJ547C4gIIARI0bQqlUrChYsSIECBQgKCuLZZ5/l0qVLqfY5+PsrhB0cHCyvEE5MTMTDwyPLXiGsN7iIiOQMvcFF7ic73uCS03r16kWvXr3SrHNxcWH9+vUPHGPMmDGpyipXrsymTZseOT4RERF5vOWJ5NPPP/9MsWLFWLBgAWXKlOHjjz/G39+fNWvW5KpXCOsNLiIiOUNvcJH7yY43uIiIiIjIv8v1yafff/+d0aNHs2LFCstGms7Ozpw7d4558+blqlcI6w0uIiI5Iy+sTJGckx1vcBERERGRf5frk0/Hjh0jISEBZ2dnq/I6deqwd+9eypUrl2teIaw3uIiIiOQ+2fEGFxERERH5d7l+w/Gnn34auPdmur87c+YMFStWpEGDBhw6dIikpCRL3aO8Qjg5OTmrTkVERERERERE5LGT65NPLi4u1K9fH39/fw4cOMCvv/5KYGAgYWFh9OvXT68QFhERERERERHJxXJ98qlAgQIsXLiQxo0bM27cODp37syBAwdYsWIFdevW1SuERURERERERERysVy/5xPAk08+ycSJE5k4cWKa9XqFsIiIiIiIiIhI7pTrVz6JiIiIiIiIiEjepeSTiIiIiIiIiIhkGSWfREREREREREQkyyj5JCIiIiIiIiIiWUbJJxERERERERERyTJKPomIiIiIiIiISJZR8klERERERERERLKMkk8iIiIiIiIiIpJllHwSEREREREREZEso+STiIiIiIiIiIhkGSWfREREREREREQkyyj5JCIiIiIiIiIiWUbJJxERERERERERyTJKPomIiIiIiIiISJZR8klERERERERERLKMTU4HICIiIvI42bx58wPbdOrUKcvjEBEREckuSj6JiIiIZKOxY8emWW4ymShYsCAFCxZU8klERETyFSWfRERERLLR7t27U5Xdvn2bQ4cOsXTpUhYsWJADUYmIiIhkHe35JCIiIpKNypcvn+pPtWrVePXVV+nVqxfvvvvuQ433+++/U7169VR/Pv74YwAiIiLo3r07devWpXnz5oSEhFj137dvH61ataJhw4ZMnz7dqu7y5cs0adKEmJiYRztpEREReaxp5ZOIiIhILuHo6MisWbMeqs/p06exs7Nj165dmEwmS/kTTzxBbGwsvXr1wsPDg8mTJ3PkyBEmT55M8eLF8fb2Jjk5GX9/f4YNG0adOnXw9fWlcePGuLu7AxAYGIiPjw8ODg6Zep4iIiLyeFHySURERCQXiI+PZ8OGDQ+d6Dlz5gyVKlWidOnSqepWrlyJ2Wxm0qRJ2NjYUKVKFc6fP8+yZcvw9vYmNjaWmJgYvLy8MJvNuLm5cfbsWdzd3Tl9+jT79+9n586dmXWKIiIi8phS8klEREQkG7Vs2dJqhRJAcnIysbGx3L17F39//4ca7/Tp01StWjXNuvDwcBo0aICNzf+mfI0bN2bJkiXExMRQokQJihQpwqFDh3BxceHUqVO0bdsWgJkzZzJw4EDs7e0f8gxFRERErCn5JCIiIpKNGjZsmCr5BFC0aFFatGhBkyZNHmq8M2fOUKpUKXx8fPj111+pWLEiAwcO5IUXXuDSpUs4OjpatU9ZIXXx4kUcHBwYP348vr6+JCYm4uHhgaenJ2FhYURFRdGlS5eMn2gaDMPg9u3bmTqmiIg8mMlkonDhwjkdhuRScXFxGIaRob6GYaQ5r/knJZ9EREREstG0adMybaz4+Hh+/fVXChcuzJgxY7C3t+fTTz+lb9++fPDBB9y5cwez2WzVx87ODoC7d+8C4OXlRbt27YiLi6N48eIYhsHMmTMZNWoU0dHR+Pv7ExUVRceOHRkxYsQjxZuQkEBERMQjjSEiIg+vcOHC1KxZM6fDkFwqMjKSuLi4DPf/51wjLUo+iYiIiOSAW7ducePGDZKTk1PVlStXLl1jmM1mfvjhB2xsbCwTv9q1a/Pzzz8TEhJCoUKFiI+Pt+qTknT6++N0dnZ2lqTU1q1bMZvNeHp6MmDAAJo1a0aPHj3w8fHB2dkZDw+PDJ0vgK2t7b8+IigiIlknPStT5PFVqVKlDK98OnfuXLraKfkkIiIiko1+++03Ro4cycmTJ/+1zcOsDkprTyZHR0f2799P2bJliY6OtqpL+VymTJlU/eLj4wkKCmLGjBkAHDx4ED8/P+zt7WnatCnh4eGPlHwymUzaQ0pERCSXeZRHMtOb2FTySURERCQbTZ48md9++w1fX18qVKhAgQIFMjzWqVOn6NatG8uWLaN+/fqW8hMnTlC1alVq1KjBRx99RFJSEgULFgQgLCyMSpUqpflWvTVr1uDk5ES9evUAKFCgAImJicC9R+ZEREREMkLJJxEREZFsdPjwYSZOnEinTp0eeSxHR0eqVavG5MmTmThxIiVKlGDDhg0cOXKEjRs38tRTTxEcHExAQAB9+vTh2LFjrFy5ksmTJ6ca6/r16wQHB7N69WpLmYuLC+vWrcPHx4fdu3czevToR45ZREREHj8Zv9UmIiIiIg+tSJEilCpVKlPGKlCgAIsXL8bZ2Znhw4fj5eXF0aNH+eCDD6hevToODg4EBwcTGRmJl5cX8+fPZ8yYMXh5eaUaa/HixXh4eFClShVLWUBAAMeOHcPHx4cWLVrQpk2bTIlbREREHi9a+SQiIiKSjV5++WVWrVpF48aNLY/CPYqSJUvy/vvv/2u9i4sL69evf+A4Y8aMSVVWuXJlNm3a9EjxiYiIiGQo+bRnzx4OHDjA9evXU72hxWQy3XcCJCIiIvK4GTdunOXviYmJ7Nu3D09PT1xcXFJt8qm5lIiIiOQ3D518Wr58OTNmzMDW1pannnoq1c7meoWjiIiIiLXvv//e6nPZsmUBOHbsWE6EIyIiIpKtHjr5tHr1atq2bcvUqVMf6XV8IiIiIo+Lr776KqdDEBEREckxD73heExMDF27dlXiSURERCQDxo0bx4ULF9Ks++WXX+jfv382RyQiIiKStR565VPNmjWJjIzk+eefz4p4RERERPKdixcvAmAYBp988gkeHh5pbja+d+9evvvuu+wOT0RERCRLpSv5lDJhAujZsyeTJ0/GxsaGevXqpbkCqly5cpkXoYiIiEge984777Bnzx7g3v6YgwcPTrOdYRg0bdo0O0MTERERyXLpSj61bNnSaiNxwzCYMGHCv24uHhERkTnRiYiIiOQDkydP5rvvvsMwDN566y0GDBjAs88+a9WmQIECFCtWjEaNGuVQlCIiIiJZI13Jp/fff19vsRMRERHJoDJlyuDl5QXcW/nUvHlzSpQokcNRiYiIiGSPdCWfOnfunKrsypUrlCpVCoC//vqLS5cu4eTklLnRiYiIiOQzKUkoERERkcfFQ7/t7vr16/Tq1YsePXpYyo4dO0anTp0YOHAgcXFxmRqgiIiIiIiIiIjkXQ+dfJo1axZnz55l5MiRlrLGjRuzcOFCTpw4wdy5czM1QBERERERERERybseOvn01Vdf4e/vT+vWrS1lZrOZli1bMnLkSD7//PNMDTDF5s2badeuHc7OzvznP/+xOk5ERATdu3enbt26NG/enJCQEKu++/bto1WrVjRs2JDp06db1V2+fJkmTZoQExOTJXGLiIiIiIiIiDzOHjr5dOvWLYoVK5ZmnYODA7GxsY8c1D9t2bKFt956i65du7Jt2zbatWvHyJEj+fHHH4mNjaVXr14899xzhIaGMmTIEIKCgggNDQUgOTkZf39/+vXrx6pVq9i+fbvlVccAgYGB+Pj44ODgkOlxi4iIiIiIiIg87tK14fjf1apVi9DQUNzd3VPVbdq0ierVq2dKYCkMwyAoKIjXX3+d119/HYBBgwZx+PBhDh48yMGDBzGbzUyaNAkbGxuqVKnC+fPnWbZsGd7e3sTGxhITE4OXlxdmsxk3NzfOnj2Lu7s7p0+fZv/+/ezcuTNTYxYRERG5nz179nDgwAGuX79OcnKyVZ3JZOL999/PochEREREMt9DJ58GDBhA37596dy5M56enjg4OHD16lV2797NyZMnWbx4caYG+Msvv/D777/ToUMHq/KUR+v69u1LgwYNsLH536k0btyYJUuWEBMTQ4kSJShSpAiHDh3CxcWFU6dO0bZtWwBmzpzJwIEDsbe3z9SYRURERP7N8uXLmTFjBra2tjz11FOYTCar+n9+FhEREcnrHjr51LRpUxYtWsTcuXOZO3cuhmFgMpmoUaMGCxcu5MUXX8zUAH/99VcAbt++Te/evfnpp5945plnGDBgAC1btuTSpUs4Ojpa9SldujQAFy9exMHBgfHjx+Pr60tiYiIeHh54enoSFhZGVFQUXbp0ydR4RURERO5n9erVtG3blqlTp1K4cOGcDkdEREQkyz108gnA3d0dd3d37t69y19//cUTTzyRZauHbt68CYC/vz+DBw/Gz8+PnTt3MnDgQD744APu3LmD2Wy26mNnZwfA3bt3AfDy8qJdu3bExcVRvHhxDMNg5syZjBo1iujoaPz9/YmKiqJjx46MGDEiw7EahsHt27cz3F9ERDLGZDLpf+LlX8XFxWEYRob6ptxky0wxMTF07dpV31kRERF5bGQo+QTw559/kpCQgGEY/PXXX1y9epW4uDjCw8Pp1q1bpgVoa2sLQO/evfHy8gKgRo0a/PTTT3zwwQcUKlSI+Ph4qz4pSae/J8Ts7OwsSamtW7diNpvx9PRkwIABNGvWjB49euDj44OzszMeHh4ZijUhIYGIiIgM9RURkYwrXLgwNWvWzOkwJJeKjIwkLi4uw/3/eZPrUdWsWZPIyEief/75TB1XREREJLd66OTTqVOnGDlyJJGRkWnWm0ymTE0+lS1bFiDVo3VVq1blm2++oXz58kRHR1vVpXwuU6ZMqvHi4+MJCgpixowZABw8eBA/Pz/s7e1p2rQp4eHhGU4+2draUrVq1Qz1FRGRjNMeOXI/lSpVyvDKp3PnzmVKDBcvXrT8vWfPnkyePBkbGxvq1auX5gqocuXKZcpxRURERHKDdCWftm7datnwe8aMGVy/fh1/f3++/vprzGYzLVq0YO/evezdu5dVq1ZlaoA1a9akSJEiHD16lPr161vKz5w5w7PPPoubmxsfffQRSUlJFCxYEICwsDAqVaqEg4NDqvHWrFmDk5MT9erVA6BAgQIkJiYC91YuPQqTyaTNy0VERHKZR3m8LbMSmy1btrQayzAMJkyY8K/jayW1iIiI5CfpSj6NHj2ayMhIhg4dytGjRxk7dixdunTB3t6eLVu24OPjg4+PD0OHDmX16tVWSaJHVahQIfr06cOCBQsoU6YMLi4ufPbZZ3z77besWLGCqlWrEhwcTEBAAH369OHYsWOsXLmSyZMnpxrr+vXrBAcHs3r1akuZi4sL69atw8fHh927dzN69OhMi11EREQE4P3339cKPREREXlspSv5NGHCBJYtW0aHDh2Ij4+nUqVKAFSuXJnTp09b2nXu3JmJEydmepADBw6kcOHCzJkzh8uXL1OlShXmzZtHo0aNAAgODmbKlCl4eXlRqlQpxowZY9kf6u8WL16Mh4cHVapUsZQFBATg5+fHtm3b6NSpE23atMn0+EVEROTx1rlz55wOQURERCTHpCv55OPjwyuvvALc24PgwoUL1K9fn4oVK3Lz5k2ioqJ45plnMJvNXLt2LUsC7dWrF7169UqzzsXFhfXr1z9wjDFjxqQqq1y5Mps2bXrk+ERERETS68aNGxw4cIDbt2+nuR9Vp06dsj8oERERkSyS7g3HU9700rp1a2bNmkXhwoVp27YtlStXZs6cOfTr14/ly5dToUKFLAtWREREJK/bs2cPw4cP/9c38JlMJiWfREREJF8p8LAdBg8eTL169QgNDQVg3Lhx7Nq1i06dOnHgwAGGDBmS6UGKiIiI5BezZ8+mcuXKrFmzhi+//JLdu3db/dm1a1eGx46MjMTV1dVqVXdERATdu3enbt26NG/enJCQEKs++/bto1WrVjRs2JDp06db1V2+fJkmTZoQExOT4ZhERERE0r3yKYWdnR1z5861vBnuhRdeYOvWrZw8eZJatWrx7LPPZnqQIiIiIvnFL7/8wsKFCzP1BS1w7629fn5+3L5921IWGxtLr1698PDwYPLkyRw5coTJkydTvHhxvL29SU5Oxt/fn2HDhlGnTh18fX1p3Lgx7u7uAAQGBuLj45PmG4RFRERE0uuhk08pbG1tLX9/9tlnlXQSERERSYdy5cpx8+bNTB933rx5FClSxKpsw4YNmM1mJk2ahI2NDVWqVOH8+fMsW7YMb29vYmNjiYmJwcvLC7PZjJubG2fPnsXd3Z3Tp0+zf/9+du7cmemxioiIyOPloZNPd+7cYe7cuRw4cIAbN26QnJxsVW8ymR5pubiIiIhIfubr68uCBQtwdnbmmWeeyZQxf/jhB9avX8/mzZtp3ry5pTw8PJwGDRpgY/O/KV/jxo1ZsmQJMTExlChRgiJFinDo0CFcXFw4deoUbdu2BWDmzJkMHDgQe3v7TIlRREREHl8PnXx6//332bBhA25ublSrVo0CBR562ygRERGRx9bWrVu5fPkynp6elCxZkkKFClnVP+yNvOvXrzNmzBjefvttnn76aau6S5cu4ejoaFVWunRpAC5evIiDgwPjx4/H19eXxMREPDw88PT0JCwsjKioKLp06ZLBsxQRERH5n4dOPu3cuZMhQ4YwaNCgrIhHREREJF8rW7YsZcuWzbTxJk2aRN26denQoUOqujt37ljeWJzCzs4OgLt37wLg5eVFu3btiIuLo3jx4hiGwcyZMxk1ahTR0dH4+/sTFRVFx44dGTFixCPFahiG1Z5UIiKSPUwmE4ULF87pMCSXiouLwzCMDPU1DAOTyfTAdg+dfEpISMj0DTJFREREHhdTp07NtLE2b95MeHg4W7duTbO+UKFCxMfHW5WlJJ3+/jidnZ2dJSm1detWzGYznp6eDBgwgGbNmtGjRw98fHxwdnbGw8Mjw/EmJCQQERGR4f4iIpIxhQsXpmbNmjkdhuRSkZGRxMXFZbj/P290peWhk08vvPAC33zzDY0aNcpQUCIiIiICf/75JwkJCZY7jcnJycTFxREeHk63bt3SNUZoaCgxMTFW+zwBTJw4kZCQEMqVK0d0dLRVXcrnMmXKpBovPj6eoKAgZsyYAcDBgwfx8/PD3t6epk2bEh4e/kjJJ1tbW6pWrZrh/iIikjHpWZkij69KlSpleOXTuXPn0tUuXcmnzZs3W/5eq1Yt5s6dS3R0NPXq1UtzE8pOnTql6+AiIiIij5tTp04xcuRIIiMj06w3mUzpTj7NmjWLO3fuWJW1bt2aoUOH0q5dOz777DM++ugjkpKSKFiwIABhYWFUqlQJBweHVOOtWbMGJycn6tWrB0CBAgVITEwE7q1aelQmk0kbmIuIiOQyj/JIZnoTm+lKPo0dOzZV2WeffcZnn32W5oGVfBIRERFJ24wZM7h+/Tr+/v58/fXXmM1mWrRowd69e9m7dy+rVq1K91hprV4CcHBwoHz58nh7exMcHExAQAB9+vTh2LFjrFy5ksmTJ6fqc/36dYKDg1m9erWlzMXFhXXr1uHj48Pu3bsZPXr0w5+wiIiIPPbSlXzavXt3VschIiIi8lg4evQoY8eOpUuXLtjb27NlyxZ8fHzw8fFh6NChrF69OtP213RwcCA4OJgpU6bg5eVFqVKlGDNmDF5eXqnaLl68GA8PD6pUqWIpCwgIwM/Pj23bttGpUyfatGmTKXGJiIjI4yVdyafy5ctb/n7jxg2eeOKJf237ySefpDmhEREREZF7+ypVqlQJgMqVK3P69GlLXefOnZk4ceIjjf/38eDe6qX169c/sN+YMWNSlVWuXJlNmzY9UjwiIiIiBR62w+uvv87169dTlUdFRdG7d2/eeuutTAlMREREJD8qV64cFy5cAKBixYrcvHmTqKgo4N7bYq5du5aT4YmIiIhkuodOPl29epU33njDMjEyDIMVK1bQoUMHjh07xttvv53pQYqIiIjkF61bt2bWrFns2LGDUqVKUblyZebMmcPp06dZvnw5FSpUyOkQRURERDLVQyefPvzwQ27evMkbb7zB999/T5cuXZg2bRotW7bk888/57XXXsuKOEVERETyhcGDB1OvXj1CQ0MBGDduHLt27aJTp04cOHCAIUOG5HCEIiIiIpkrXXs+/V25cuVYu3Ytb775Jm+88QbPPvssy5cvp0mTJlkRn4iIiEi+Ymdnx9y5c0lISADghRdeYNu2bZw4cYJatWrx7LPP5nCEIiIiIpnroZNPAKVKlWL16tX06dOHuLg4nJycMjsuERERkXwtLi6OsLAwbty4QYkSJXjhhRcoWrRoToclIiIikunSlXxycnLCZDKlKjcMA4CmTZtaykwmEz/99FMmhSciIiKS/yxdupSFCxdy9+5dy3zK1taW/v37M2jQoByOTkRERCRzpSv5NGjQoDSTTyIiIiLycEJDQ5k9ezavvPIKHTt25KmnnuLKlSts2bKF+fPnU65cOby8vHI6TBEREZFMk67kkza+FBEREckcK1asoFu3bkycONFSVrlyZRo1akShQoVYtWqVkk8iIiKSrzz02+5EREREJOPOnz+Ph4dHmnWtWrXil19+yeaIRERERLKWkk8iIiIi2ahMmTJERUWlWXfhwgVtOi4iIiL5jpJPIiIiItmoZcuWzJ07lyNHjliV//jjj8ybN4+WLVvmTGAiIiIiWSRdez6JiIiISOYYMmQI3333Hd26daNcuXKUKlWKK1eucPHiRapUqcKoUaNyOkQRERGRTKXkk4iIiEg2Klq0KBs3biQ0NJQffviBa9eu4eLiQu/evencuTOFChXK6RBFREREMtUjJZ/27NnDzp07+fPPP3FwcKBVq1b/uoGmiIiIiNxjZ2eHj48PPj4+OR2KiIiISJbLcPJpxYoVBAcH4+npSY0aNbhy5Qrjxo3jxIkTDB8+PBNDFBEREcnb5s+f/1DtBw8enEWRiIiIiGS/dCWfbt26RZEiRazKQkNDWbp0KTVr1rSUNW/enAkTJij5JCIiIvI3/0w+mUwmDMOgYMGClChRgmvXrpGQkICtrS1PPvmkkk8iIiKSr6TrbXeenp6sWrWKhIQES1mpUqXYuXMnsbGxJCcnc/nyZXbt2kWZMmWyLFgRERGRvOjUqVOWPx988AHFixdn9uzZHDt2jP3793P8+HGWLl1K8eLFGTduXE6HKyIiIpKp0pV8Wr58OXv27KFt27Z8+umnAEyePJm9e/fy/PPPU6tWLZo3b05ERATTp0/P0oBFRERE8rJ33nmHYcOG0a5dOwoWLGgpf/HFFxk+fDhz5szJwehEREREMl+6HrtzcnIiJCSE7777jlmzZhEcHMyoUaP45JNPuHDhAlevXqVkyZJUqFAhq+MVERERydP++OMPnn766TTrSpYsSUxMTDZHJCIiIpK10rXyKUWTJk3YtGkTffr04Z133qFHjx5cvXqVOnXqKPEkIiIikg5OTk6sWbPGajsDgLt37xIcHIyLi0sORSYiIiKSNR7qbXdxcXEkJSXRsWNH2rZty9q1a/H19aV+/fqMHDmSypUrZ1WcIiIiIvnCyJEj6d27N56enrzwwguULFmSP//8kz179hAXF8eaNWtyOkQRERGRTJWulU/nz5/n1Vdfxc3NjQYNGvDyyy/zyy+/0KtXL3bt2kXFihXx9vZm/PjxXL58OatjFhEREcmzGjZsyEcffYSLiwtff/01ISEh7N2717LCvEaNGjkdooiIiEimStfKp7fffpsSJUqwadMmbGxs2LRpE8OHD2fHjh0ULVqU0aNH06NHD4KCgnjppZc4fPhwVsctIiIikmfVqlWLuXPn5nQYIiIiItkiXSufTp48Sc+ePalRowbVqlVj4MCBnD9/njt37ljalC1blqlTp7J+/fosC1ZERERERERERPKWdK18qlOnDkFBQdy6dQuz2cynn36Ko6MjhQoVStW2WrVqmR6kiIiIiIiIiIjkTela+TR9+nRKly7NW2+9xejRo7lx4wbz5s3L6thERERE5AFiYmIYPXo0jRs3xtXVlX79+nHu3DlLfUREBN27d6du3bo0b96ckJAQq/779u2jVatWNGzYkOnTp1vVXb58mSZNmhATE5Mt5yIiIiL5U7pWPpUuXVr7EoiIiIjkQgMGDKBAgQIsW7YMe3t7goKCeOONN/jyyy+5c+cOvXr1wsPDg8mTJ3PkyBEmT55M8eLF8fb2Jjk5GX9/f4YNG0adOnXw9fWlcePGuLu7AxAYGIiPjw8ODg45fJYiIiKSl6Ur+SQiIiIiuU9sbCzPPPMMAwYMsGx9MHDgQF5++WXOnj1LWFgYZrOZSZMmYWNjQ5UqVTh//jzLli3D29ub2NhYYmJi8PLywmw24+bmxtmzZ3F3d+f06dPs37+fnTt35vBZioiISF6XrsfucovIyEhcXV3ZtGmTpUxLyUVERCSv2rNnD2+99Rb9+vVj3Lhx7Nq166H6lyhRgtmzZ1sST3/++SchISGULVuWqlWrEh4eToMGDbCx+d/9xsaNGxMZGUlMTAwlSpSgSJEiHDp0iFu3bnHq1CkqVKgAwMyZMxk4cCD29vaZd8IiIiLyWMozK58SEhLw8/Pj9u3blrLY2FgtJRcREZE8acWKFQQHB+Pp6UmNGjW4cuUK48aN48SJEwwfPvyhxxs/fjwbNmzAbDazaNEi7O3tuXTpEo6OjlbtSpcuDcDFixdxcHBg/Pjx+Pr6kpiYiIeHB56enoSFhREVFUWXLl0y41QtDMOwmsuJiEj2MJlMFC5cOKfDkFwqLi4OwzAy1NcwDEwm0wPb5Znk07x58yhSpIhVWcoES0vJRUREJDe7detWqnlMaGgoS5cupWbNmpay5s2bM2HChAwln15//XW6du3KunXrGDRoEB9++CF37tzBbDZbtbOzswPg7t27AHh5edGuXTvi4uIoXrw4hmEwc+ZMRo0aRXR0NP7+/kRFRdGxY0dGjBjx0HH9XUJCAhEREY80hoiIPLzChQtb/d6I/F1kZCRxcXEZ7v/PuUZa8kTy6YcffmD9+vVs3ryZ5s2bW8r/bSn5kiVLUi0ld3Fx4dSpU7Rt2xbQUnIRERHJPp6envTv359u3bpha2sLQKlSpdi5cydPP/00Tz75JFeuXGHXrl2UKVMmQ8eoWrUqAO+++y5HjhxhzZo1FCpUiPj4eKt2KUmnv8+B7OzsLEmprVu3Yjab8fT0ZMCAATRr1owePXrg4+ODs7MzHh4eGYoPwNbW1hKniIhkn/SsTJHHV6VKlTK88unvb9i9n1yffLp+/Tpjxozh7bff5umnn7aqy21LyUVERETSsnz5cmbOnMnKlSsZNmwYHTt2ZPLkyQwdOpQlS5ZY/qegatWqzJw5M93jxsTEEBYWxksvvUTBggUBKFCgAFWqVCE6OpqyZcsSHR1t1Sflc1pJrvj4eIKCgpgxYwYABw8exM/PD3t7e5o2bUp4ePgjJZ9MJpNu/ImIiOQyj/JIZnoTm7k++TRp0iTq1q1Lhw4dUtXltqXk2sdARCRnaB8DuZ/s2MfgQZycnAgJCeG7775j1qxZBAcHM2rUKD755BMuXLjA1atXKVmypGWz7/SKjo5m1KhRODg48PzzzwP3Hm376aefaNmyJU899RQfffQRSUlJluRUWFgYlSpVSnPPyzVr1uDk5ES9evWAe4msxMREy7giIiIiGZGrk0+bN28mPDycrVu3plmf25aSax8DEZGcoX0M5H6yYx+D9GrSpAmbNm3i008/5Z133qFcuXL4+flRp06dDI3n5OREs2bNmDx5Mu+99x7FihVj8eLFXL9+nTfeeAM7OzuCg4MJCAigT58+HDt2jJUrVzJ58uRUY12/fp3g4GBWr15tKXNxcWHdunX4+Piwe/duRo8eneFzFxERkcdXrk4+hYaGEhMTY7XPE8DEiRMJCQmhXLlyuWopufYxEBHJGdrHQO4nO/YxSK+4uDiSkpLo2LEjbdu2Ze3atfj6+lK/fn1GjhxJ5cqVH2o8k8lEYGAg//3vfxk+fDg3btygfv36rF27lnLlygEQHBzMlClT8PLyolSpUowZMwYvL69UYy1evBgPDw+qVKliKQsICMDPz49t27bRqVMn2rRp82gXQERERB5LuTr5NGvWLO7cuWNV1rp1a4YOHUq7du347LPPctVScu1jICIikvtkxz4GD3L+/Hn8/f05evQoAI6OjkyfPp1evXrRpUsXFi1ahLe3N+3bt2fw4MEPten4E088waRJk5g0aVKa9S4uLqxfv/6B44wZMyZVWeXKldm0aVO6YxERERFJS4GcDuB+ypQpQ8WKFa3+ADg4OFC+fHm8vb25efMmAQEBnDt3jk2bNrFy5Up8fX1TjZWylHzkyJGWspSl5GfOnGH37t24ubll27mJiIjI4+Ptt9+mRIkSlkfumjRpwvDhwwEoWrQoo0eP5vPPPycxMZGXXnopZ4MVERERyWS5Ovn0IA4ODgQHBxMZGYmXlxfz589/6KXkx44dw8fHhxYtWmgpuYiIiGSJkydP0rNnT2rUqEG1atUYOHAg58+ft1rhXbZsWaZOnZquVUoiIiIieUmufuwuLadPn7b6rKXkIiIiktvVqVOHoKAgbt26hdls5tNPP8XR0ZFChQqlalutWrUciFBEREQk6+TplU8iIiIiecH06dMpXbo0b731FqNHj+bGjRvMmzcvp8MSERERyRZ5buWTiIiISF5TunRp5s6dm9NhiIiIiOQIrXwSEREREREREZEso+STiIiIiIiIiIhkGSWfREREREREREQkyyj5JCIiIiIiIiIiWUbJJxERERERERERyTJKPomIiIiIiIiISJZR8klERERERERERLKMkk8iIiIiIiL53NWrV/H09OT777//1zbr1q2jTZs2uLq60qZNG9auXWupu3v3LlOmTOHFF1+kXr16dOnShQMHDqQaIy4ujq5du7Jp06b7xnPq1Clef/11XF1dadKkCVOnTiUxMdFSv3PnTtq3b0/dunXx9PRk48aNlrrk5GTmz5+Pu7s7rq6udOnShR9//PFhLoeIZDMln0RERERERPKxQ4cO0bVrV3777bd/bbNr1y5mz57N9OnTOXz4MNOmTSMwMJCdO3cCMGvWLA4fPsz69es5ePAgXbp0oX///ly8eNEyxtmzZ3nttdc4cuTIfeO5evUqb7zxBk2aNOHgwYNs2LCBb775hpUrVwJw4MABxo4dy+jRo/nxxx959913mTx5MseOHQNg4cKFbNu2jRUrVhAeHo6npyf9+/cnPj7+Ea+UiGQVJZ9ERERERETyqU8++QQ/Pz9GjBhx33aXL1+mb9++1K1bF5PJhKurK40aNeKHH34A7q18Gjp0KE8//TQFCxbk//7v/zCbzZw8eRKAsLAwXn/9dby8vChXrtx9j7V582aee+45fH19sbW15ZlnnmH58uW89NJLAKxYsYKePXvi7u6OyWSicePGhIaG8uyzz5KUlMTKlSsZP348lSpVomDBgvTu3Zvg4OBMuFoiklWUfBIREREREcmnmjVrxpdffkm7du3u2+61116jX79+ls8xMTH88MMP1K5dG4B33nkHd3d3S31YWBg3btzAyckJACcnJ77++mt69OiByWS677GOHTuGo6MjEyZMoGnTpnh4ePDpp59StmxZS33x4sXp168fjRo14uWXX+a3336jePHi/Prrr1y/fp3r16/TuXNnGjVqRJ8+fbCzs8NsNmfoGolI1lPySUREREREJJ8qVaoUNjY2D9XnypUr9O3bl9q1a9O+fftU9UeOHGH48OEMHjyYChUqAFCiRAns7OzSNf61a9fYtGkTLi4ufPPNN8yfP5/169fzwQcfWOpDQkIYMGAA3377LYMGDWLEiBEcPXqUv/76C4DVq1czb9489uzZQ61atejduzc3btx4qPMUkeyj5JOIiIiIiIgA9xJLr7zyCpUqVWLRokWpElcff/wxvXr1on///gwaNChDxzCbzTg7O/PKK69ga2uLk5MT3bt35/PPP7fUe3t74+rqio2NDa1bt+b5559n586dltVNgwcPpnz58hQqVIiRI0dy8+ZNDh8+/GgnLyJZ5uFS4CIiIiIiIpIvbdy4kffee4+hQ4fy5ptvWtUlJSUxefJkvvjiCxYsWECTJk0yfJwqVaqkeutecnIyhmFY6v+5eXhSUhKGYVCpUiVsbGys6g3DsPwRkdxJK59EREREREQeczt37mTSpEnMmzcvVeIJYOrUqezdu5fQ0NBHSjwBeHt7c+bMGZYtW0ZSUhKnT59mzZo1vPzyywB069aNdevW8d1335GcnMzOnTv5/vvvad++PUWLFqV9+/ZMnTqVqKgo4uPjmTVrFsWKFaNx48aPFJeIZB2tfBIREREREXkMubq6MnnyZDp27Mj8+fNJSkpi6NChVm06dOjA8OHDWbt2LQULFky1B1RK/wf5z3/+Q4cOHejfvz9VqlRhzZo1zJgxg6VLl1KoUCG6detGjx49gHvJqQIFClgSTOXLl2fOnDnUqlULgHfffZd58+bRs2dPYmNjqV27NiEhIRQqVCiTroyIZDYln0RERERERB4Dp0+ftvrs7++Pra0tAFu3br1v34iIiHQf56uvvkpVNnbsWKvj16lTh7Vr1/7rGF5eXnh5eaVZZzabGTVqFKNGjUp3TCKSs/TYnYiIiIiIyGPGMAyOHz/Oiy++mC3H27t3Lx06dMiWY4lI7qOVTyIiIiIiIo8Zk8nElClTsu14AQEB2XYsEcl9tPJJRERERERERESyjJJPIiIiInnYX3/9xYQJE3jxxRdxc3OjW7duhIeHW+ojIiLo3r07devWpXnz5oSEhFj137dvH61ataJhw4ZMnz7dqu7y5cs0adKEmJiYbDkXERERyZ+UfBIRERHJw0aOHMnRo0eZPXs2GzdupFatWvTu3Zuff/6Z2NhYevXqxXPPPUdoaChDhgwhKCiI0NBQAJKTk/H396dfv36sWrWK7du3s2fPHsvYgYGB+Pj44ODgkFOnJyIiIvmA9nwSERERyaPOnz/Pt99+y7p163BzcwPu7auyd+9etm3bRqFChTCbzUyaNAkbGxuqVKnC+fPnWbZsGd7e3sTGxhITE4OXlxdmsxk3NzfOnj2Lu7s7p0+fZv/+/ezcuTOHz1JERETyOq18EhEREcmjSpQowdKlS6ldu7alzGQyYRgG165dIzw8nAYNGmBj87/7jY0bNyYyMpKYmBhKlChBkSJFOHToELdu3eLUqVNUqFABgJkzZzJw4EDs7e2z/bxE8irDMHI6BMmF9L0Q0conERERkTyrWLFiuLu7W5V9/vnn/PbbbzRr1ow5c+bg6OhoVV+6dGkALl68iIODA+PHj8fX15fExEQ8PDzw9PQkLCyMqKgounTpkqnxGobB7du3M3VMkdzCZDJRuHBhIiIi9D0XC3t7e2rUqEFcXFyOJqFSvp8iaXmU76dhGJhMpge2U/JJREREJJ84dOgQb731Fq1ataJly5ZMnToVs9ls1cbOzg6Au3fvAuDl5UW7du2Ii4ujePHiGIbBzJkzGTVqFNHR0fj7+xMVFUXHjh0ZMWLEI8WXkJBARETEI40hklsVLlyYmjVrcvv2bW7evJnT4UguExkZSVxcXI4dP+X7KZKWR/1+/nOukRYln0RERETygV27duHn50edOnWYPXs2AIUKFSI+Pt6qXUrS6e+P09nZ2VmSUlu3bsVsNuPp6cmAAQNo1qwZPXr0wMfHB2dnZzw8PDIco62tLVWrVs1wf5HcLD13/uXxValSpRxf+STybx7l+3nu3Ll0tVPySURERCSPW7NmDVOmTMHT05NZs2ZZ7kCWLVuW6Ohoq7Ypn8uUKZNqnPj4eIKCgpgxYwYABw8exM/PD3t7e5o2bUp4ePgjJZ9MJpP2kBKRx5IeeZPc7FG+n+lNbGrDcREREZE87MMPP+Tdd9/ltddeIzAw0Grpe4MGDTh06BBJSUmWsrCwMCpVqoSDg0OqsdasWYOTkxP16tUDoECBAiQmJgL3HplLTk7O4rMRERGR/EjJJxEREZE8KjIykvfffx9PT098fX2JiYnhypUrXLlyhRs3buDt7c3NmzcJCAjg3LlzbNq0iZUrV+Lr65tqrOvXrxMcHMzIkSMtZS4uLqxbt44zZ86we/du3NzcsvP0REREJJ/QY3ciIiIiedTOnTtJSEjgyy+/5Msvv7Sq8/LyYtq0aQQHBzNlyhS8vLwoVaoUY8aMwcvLK9VYixcvxsPDgypVqljKAgIC8PPzY9u2bXTq1Ik2bdpk+TmJiIhI/qPkk4iIiEge1b9/f/r373/fNi4uLqxfv/6BY40ZMyZVWeXKldm0aVOG4xMREREBPXYnIiIiIiIiIiJZSMknERERERERERHJMko+iYiIiIiIiIhIllHySUREREREREREsoySTyIiIiIiIiIikmWUfBIRERERERERkSyj5JOIiIiIiIiIiGQZJZ9ERERERERERCTL5Prk019//cWECRN48cUXcXNzo1u3boSHh1vqIyIi6N69O3Xr1qV58+aEhIRY9d+3bx+tWrWiYcOGTJ8+3aru8uXLNGnShJiYmGw5FxERERERERGRx02uTz6NHDmSo0ePMnv2bDZu3EitWrXo3bs3P//8M7GxsfTq1YvnnnuO0NBQhgwZQlBQEKGhoQAkJyfj7+9Pv379WLVqFdu3b2fPnj2WsQMDA/Hx8cHBwSGnTk9EREREREREJF+zyekA7uf8+fN8++23rFu3Djc3NwACAgLYu3cv27Zto1ChQpjNZiZNmoSNjQ1VqlTh/PnzLFu2DG9vb2JjY4mJicHLywuz2Yybmxtnz57F3d2d06dPs3//fnbu3JnDZykiIiIiIiIikn/l6pVPJUqUYOnSpdSuXdtSZjKZMAyDa9euER4eToMGDbCx+V8OrXHjxkRGRhITE0OJEiUoUqQIhw4d4tatW5w6dYoKFSoAMHPmTAYOHIi9vX22n5eIiIiIiIiIyOMiV698KlasGO7u7lZln3/+Ob/99hvNmjVjzpw5ODo6WtWXLl0agIsXL+Lg4MD48ePx9fUlMTERDw8PPD09CQsLIyoqii5dumRqvIZhcPv27UwdU0REHsxkMlG4cOGcDkNyqbi4OAzDyFBfwzAwmUyZHJGIiIjI4yVXJ5/+6dChQ7z11lu0atWKli1bMnXqVMxms1UbOzs7AO7evQuAl5cX7dq1Iy4ujuLFi2MYBjNnzmTUqFFER0fj7+9PVFQUHTt2ZMSIEY8UX0JCAhEREY80hoiIPLzChQtTs2bNnA5DcqnIyEji4uIy3P+fcw2R9Prrr794//332bNnD8nJyTRo0IBJkyZRunRpjh49ynvvvce5c+coUaIEAwYMsNwYTU5OJigoiE8++YRbt25RpUoV/Pz8aNiwYZrHiYiIYOrUqZw8eRIbGxtefPFF3nrrLUqUKAHA77//zpQpUzh48CAFCxakefPmTJgwgSJFigDQp08fvv/+e6unCYKCgnjxxRez+AqJiMjjIs8kn3bt2oWfnx916tRh9uzZABQqVIj4+HirdilJp78/TmdnZ2dJSm3duhWz2YynpycDBgygWbNm9OjRAx8fH5ydnfHw8MhwjLa2tlStWjXD/UVEJGO0MkXup1KlShle+XTu3LlMjkYeJ0OGDOHJJ5/kyy+/pECBAowbN47x48czY8YM+vXrx9ChQ+natSs//PADgwYNonr16ri4uPDRRx+xa9cuPv74Y0qVKsWqVavw9fXlwIEDljltivj4ePr27Uu3bt1Yvnw5t2/fZujQoUybNo3p06cTHx/Pm2++SdOmTdm3bx9xcXEMHDiQ//73v0yYMAGAEydOEBIS8q/JLRERkUeVJ5JPa9asYcqUKXh6ejJr1izLHciyZcsSHR1t1Tblc5kyZVKNEx8fT1BQEDNmzADg4MGD+Pn5YW9vT9OmTQkPD3+k5JPJZNIeUiIiIrnMozySqcSmZNSJEyc4evQo3333HUWLFgXg3Xff5cqVK3zxxRcUL16c1157DYDnn3+eDh06sHbtWlxcXPjll19ITk4mOTnZ8uhnoUKF0jyO2Wzmiy++oFChQhQoUIBr164RFxdHyZIlAfj666+Jj48nICCAggULUrhwYebOnWvZKuLChQtcu3ZNq0dFRCRL5eoNxwE+/PBD3n33XV577TUCAwOtlr43aNCAQ4cOkZSUZCkLCwujUqVKODg4pBprzZo1ODk5Ua9ePQAKFChAYmIicO+RueTk5Cw+GxERERF5HBw7doyqVauyYcMGPD09adasGdOnT6dUqVKcPXs21b6lVatW5dSpUwC8+uqr3Llzh+bNm+Ps7ExgYCBz585Nteophb29PQUKFODVV1/Fw8ODmzdv0rt3b0scTk5OBAUF0bx5c5o3b05ISAhly5YF4Pjx4xQpUoQRI0bQuHFj2rdvz8aNG7PwyoiIyOMoVyefIiMjef/99/H09MTX15eYmBiuXLnClStXuHHjBt7e3ty8eZOAgADOnTvHpk2bWLlyJb6+vqnGun79OsHBwYwcOdJS5uLiwrp16zhz5gy7d+/Gzc0tO09PRERERPKpa9eucfr0aX799Vc++eQTNm/ezOXLl/H39+fWrVupVuQVKlTIshopISGBhg0b8vnnn3P48GH69OnD0KFDuXLlyn2PuWLFCg4ePIijoyO9evUiKSmJa9eusXfvXuzs7Ni5cyerV6/m+++/tzwJEB8fT926dRkxYgT79u1j7NixTJkyhc8//zxrLoyIiDyWcnXyaefOnSQkJPDll1/SrFkzqz9TpkzBwcGB4OBgIiMj8fLyYv78+YwZMwYvL69UYy1evBgPDw+qVKliKQsICODYsWP4+PjQokUL2rRpk52nJyIiIiL5VMpq/YCAAIoWLcpTTz3F8OHD2bNnD4ZhcOfOHav2d+7csWwAPmbMGF588UUqV65MoUKFGDRoEE888QQ7duy47zELFSrEk08+ydtvv82ZM2c4ffo0ZrOZp556ikGDBmFnZ0eFChXw9fW1JJc6depEcHAwNWvWxNbWlmbNmtGpUycln0REJFPl6j2f+vfvT//+/e/bxsXFhfXr1z9wrDFjxqQqq1y5Mps2bcpwfCIiIiIiaalatSrJyckkJCRYHpdL2eKhRo0afPjhh1btz507R7Vq1QC4ePFiqpfq2NjYYGtrm+o4UVFR9OzZk48++ojSpUsDWPo++eSTVKlShR07dpCcnEyBAgUscaRswr9x40aKFCnCSy+9ZBkzPj7+Xx/xExERyYhcvfJJRERERCQvatKkCRUqVOCtt97i1q1bXL16lTlz5uDh4UH79u35888/WbFiBQkJCRw4cICtW7fi7e0NQMuWLVm0aBEXLlwgISGBlStXcuXKFVq0aJHqOOXLl6d48eJMnTrVcpzJkyfz4osvUr58eV566SWSkpJ4//33iY+PJyoqisWLF/Pyyy8DcPPmTd59911++uknkpOT+eabb9i2bRtdu3bN1uslIiL5m5JPIiIiIiKZzNbWltWrV1OwYEHatGlDmzZtKFu2LO+//z4lSpRg+fLl7Nixg0aNGvH222/z9ttv07hxYwAmTZrEiy++yGuvvUaTJk348ssvCQkJsbzNefHixfznP/8B7r2RceHChSQmJtKyZUtefvllnn76aWbPng1AyZIlWbduHefPn+fFF1/klVde4fnnn2fUqFEAvP7663Tv3p3Bgwfj6urKrFmzmD59OvXr18+BqyYiIvmVyUhZcyuP5Pjx4wA4OzvncCQiIo+vA0sGcuOPczkdhuQSTzxdlca+Cx9pDP2+Zx5dy8xjGAZvvvkmH3zwQU6HImk4dOgQN2/ezOkwJJcoWrSo5W3ruYHmSvJ32TlX0sonEREREZE85Msvv+SVV17J6TBERETSTcknERERkXxi4cKF9OjRw6osIiKC7t27U7duXZo3b05ISIhV/b59+2jVqhUNGzZk+vTpVnWXL1+mSZMmxMTEZHnskn6tW7e2PHYnIiKSFyj5JCIiIpIPrFixgrlz51qVxcbG0qtXL5577jlCQ0MZMmQIQUFBhIaGAvfeeubv70+/fv1YtWoV27dvZ8+ePZb+gYGB+Pj44ODgkK3nIiIiIvmLTU4HICIiIiIZd/nyZQICAjh06BCVKlWyqtuwYQNms5lJkyZhY2NDlSpVOH/+PMuWLcPb25vY2FhiYmLw8vLCbDbj5ubG2bNncXd35/Tp0+zfv5+dO3fm0JmJiIhIfqGVTyIiIiJ52MmTJ3nyySf59NNPqVOnjlVdeHg4DRo0wMbmf/cbGzduTGRkJDExMZQoUYIiRYpw6NAhbt26xalTp6hQoQIAM2fOZODAgdjb22fr+YiIiEj+o5VPIiIiInlYy5YtadmyZZp1ly5dwtHR0aqsdOnSAFy8eBEHBwfGjx+Pr68viYmJeHh44OnpSVhYGFFRUXTp0iXL4xcREZH8T8knERERkXzqzp07mM1mqzI7OzsA7t69C4CXlxft2rUjLi6O4sWLYxgGM2fOZNSoUURHR+Pv709UVBQdO3ZkxIgRjxSPYRjcvn07Q31NJhN2dmYKFCj4SDFI/pScnMTdu/EYhpFjMZhMJgoXLpxjx5fcLS4uTt9PybUe5ftpGAYmk+mB7ZR8EhEREcmnChUqRHx8vFVZStLp74/T2dnZWZJSW7duxWw24+npyYABA2jWrBk9evTAx8cHZ2dnPDw8MhxPQkICERERGepbuHBhatasScR3s7h97UKGY5D8x/7JCtRo4kdkZCRxcXE5FkfKd1QkLfp+Sm72qN/Pf97oSouSTyIiIiL5VNmyZYmOjrYqS/lcpkyZVO3j4+MJCgpixowZABw8eBA/Pz/s7e1p2rQp4eHhj5R8srW1pWrVqhnqm3JX9fa1C9yM/TnDMUj+ValSpRxfWSLyb/T9lNzsUb6f586dS1c7JZ9ERERE8qkGDRrw0UcfkZSURMGC9x5XCwsLo1KlSjg4OKRqv2bNGpycnKhXrx4ABQoUIDExEbi3aulRmUwmbWAuWUaPFElupu+n5GaP8v1Mb2JTb7sTERERyae8vb25efMmAQEBnDt3jk2bNrFy5Up8fX1Ttb1+/TrBwcGMHDnSUubi4sK6des4c+YMu3fvxs3NLTvDFxERkXxCyScRERGRfMrBwYHg4GAiIyPx8vJi/vz5jBkzBi8vr1RtFy9ejIeHB1WqVLGUBQQEcOzYMXx8fGjRogVt2rTJzvBFREQkn9BjdyIiIiL5xLRp01KVubi4sH79+gf2HTNmTKqyypUrs2nTpkyJTURERB5fWvkkIiIiIiIiIiJZRsknERERERERERHJMko+iYiIiIiIiIhIllHySUQkDVevXsXT05Pvv/8egAkTJuDq6mr1p0aNGvTu3RsAwzBYsGABLVu2xM3NjQ4dOrBjx46cPAUREREREZFcQcknEZF/OHToEF27duW3336zlL3zzjv8+OOPlj/z5s2jWLFijB07FoCVK1eyadMmli1bxqFDhxgxYgRjxozh2LFjOXUaIiIiIiIiuYKSTyIif/PJJ5/g5+fHiBEj/rXN1atX8fPzIyAggGrVqgFw/fp1Bg0aRJUqVTCZTLRs2ZIqVapw+PDh7ApdREREREQkV7LJ6QBERHKTZs2a0aFDB2xsbP41ATVr1ixq165Nx44dLWVDhw61avPzzz9z9uxZatWqlaXxioiIiIiI5HZKPomI/E2pUqXuW3/hwgU+/fRTPv74439tExkZSd++fenYsSMNGjTI7BBFRERERETyFD12JyLyEEJDQy2bjaflq6++omvXrrRu3ZopU6Zkc3QiIiIiIiK5j1Y+iYg8hC+++II333wzzboFCxYQHBzMO++8Q4cOHbI5MhERERERkdxJyScRkXSKjY3l559/TvNRug8++IAPPviAtWvXUrNmzRyITkREREREJHfSY3eSKyQlJdGjRw/La+sB1q5dS+vWrXF1daV169asWbMmByMUgaioKADKlCljVW4YBgsWLCAuLo7XXnsNV1dXy5/FixfnRKgiIiIiIiK5hlY+Sa4wf/58wsPDKV++PHBv35ygoCCWL19O7dq1OXbsGN27d6dq1ao0btw4h6OVx8Xp06etPjs7O6cqAzCZTISHh2dXWCIiIiIiInmKkk+S48LCwvjiiy9o3bq1paxly5Z89dVXFC1alMTERGJjYzGZTBQrViwHIxURERERERGRh6XH7iRHxcTEEBAQwH//+18KFy5sVVe0aFF++eUXXFxc6NevH926ddNeOiIiIiIiIiJ5jJJPkmOSk5MZPXo0vXr1wsnJKc02FSpU4OjRo2zcuJHPPvuMpUuXZnOUIiIiIiIiIvIolHySHLNkyRLMZjM9evT41za2trbY2tri7OxMz5492bZtWzZGKCIiIiIiIiKPSns+SY7ZsmUL0dHR1K9fH4A7d+4AsGvXLgYPHsyRI0cIDAy0tI+Pj+fJJ5/MiVBFREREREREJIO08klyzI4dOzh8+DDh4eGEh4fTvn172rdvT3h4OPXr12fXrl1s376d5ORkDh06xKpVq+jWrVtOhy0iIiIiIiIiD0ErnyRXql27NnPnziUwMJC3336b8uXLExAQQLt27XI6NBERERERERF5CEo+Sa4xbdo0q88tW7akZcuWORSNpMUwDEwmU06HIbmMvhciIiIiInI/Sj6JSLqZTCYiIiK4fft2TociuYS9vT01atTI6TBERERERCQXU/JJRB7K7du3uXnzZk6HISIiIiIiInmENhwXEREREREREZEso+STiIiIiIiIiIhkmXyRfEpOTmbu3Lm88MIL1KlThzfffJPz588DcPfuXUaOHImbmxteXl6cOnXKqu+7777LzJkzcyJsERERkWyhuZKIiIjkpHyRfFq4cCEfffQR7733HuvXr8dkMtG3b1/i4+PZuHEjkZGRbNy4EXd3d8aPH2/p99tvv7Fjxw58fX1zMHoRERGRrKW5koiIiOSkPJ98io+PZ/ny5QwZMgR3d3ecnJyYM2cOly9f5ssvv+Ts2bM0a9aMypUr06FDB86ePWvpO2vWLHr37k2xYsVy8AxEREREso7mSiIiIpLT8nzy6dSpU9y6dYvGjRtbyooVK0bNmjX54YcfqFChAseOHSM+Pp7Dhw9ToUIFAI4ePcqJEyfo3r17ToWeJsNIzukQJBfS90JERDIqv82VREREJO+xyekAHtWlS5cAePrpp63KS5cuzR9//IGfnx87d+6kbt26PPHEEwQGBgIwY8YMhg0bhtlszpQ4EhISMAyDY8eOPdI4JpOJxPhbGEZSpsQleZ/JVBAbcxEMw8jpUDCZTJhMJooWLZrToUguYTKZOH78eK75ftrW6UYJ58ScDkVyCVMBm0f+fiYkJGAymTIxquyXn+ZKJpMJU6kuFHXQf+fyP5nx33qmxaK5kvyD5kqSm2XnXCnPJ5/i4uIAUk2M7OzsuHbtGkWLFmXDhg38+eefFC9eHBsbG3bt2sWtW7fo2LEjISEhrF27llKlSvHuu+/i6OiYoThSLnZmTFBtzEUeeQzJf3LL//zY2trmdAiSC+WW76e5SPGcDkFyoUf5fqb8j2Relt/mSrZ2Tz5Sf8m/cst/q5orSVpyy/dTcyVJS3bMlfJ88qlQoULAvf0MUv4O997cUrhwYcvnp556CoCkpCRmz57NW2+9RUREBCtXrmTz5s3s37+fMWPGsHnz5gzF4erqmvGTEBEREckimiuJiIhITsvzez6lLCGPjo62Ko+OjqZs2bKp2n/88ceUKVOGZs2acfDgQdzc3ChZsiStW7cmIiKCmzdvZkvcIiIiItlBcyURERHJaXk++eTk5ETRokX5/vvvLWXXr1/np59+on79+lZtb9++zYIFCxg9ejRwb3lYUtK9vZUSEhIASE7Wxs4iIiKSf2iuJCIiIjktzz92Zzab6d69O7NmzaJkyZKUL1+emTNnUrZsWTw9Pa3aLl++nEaNGlGzZk0A6tSpw/z58zl27Bjffvst1apV06uERUREJF/RXElERERyWp5PPgEMHTqUxMRE3n77be7cuUODBg0ICQmx2lgzJiaG1atXExoaaimrW7cu3bt3p0+fPpQpU4Zp06blRPgiIiIiWUpzJREREclJJiM3vPNRRERERERERETypTy/55OIiIiIiIiIiOReSj6JiIiIiIiIiEiWUfJJRERERERERET+X3v3H1NV/cdx/AUZisGXCZYpQ8lfyDICQX7oykSKhlNDM0WUFEGZUmH5gzl10yVC2rQkfySSIiT+AAmntmU2f0zEjCalIFqIGmqYWjp/Id7vH8379YpWfvN4L/B8bHfjfs7nHD4fdjy8ePs55xqG4hMAAAAAAAAMQ/EJAAAAAAAAhqH4BAAAAAAAAMNQfMIjYTKZlJ+fr1GjRik4OFjdu3dXWFiY5syZo7Nnz/7j4yQnJ2vUqFH33X7q1Cl5eXmpuLj4YQwbjdjmzZs1bNgw+fn5yc/PT0OGDFFubq55e2hoqBYvXixJWrx4sUJDQ601VDRSoaGh8vLyMr+6d++u8PBwZWRkWHtoAB4xchJsDTkJtoCs1Lg0s/YA0PjV1dVp4sSJKikpUUJCgmbNmqUnnnhCR48e1ZIlSzRkyBAVFBSodevW1h4qmoiNGzfq/fff1/Tp09WzZ0+ZTCYVFRVp7ty5OnfunBITE7Vx40Y1b97c2kNFIxcbG6vY2FhJ0rVr13Tw4EHNmDFDjo6Oio6OtvLoADwK5CTYGnISbAlZqfGg+ATDffbZZ9q9e7fWr1+vZ5991tzerl07BQYGKiIiQpmZmZo6daoVR4mm5PPPP9frr7+uN954w9zWsWNHnTlzRllZWUpMTJSrq6sVR4imomXLlnryySfN7z08PFRcXKy8vDwCFdBEkJNga8hJsCVkpcaD2+5gKJPJpJycHA0cONAiUN3m6Oio7OxsJSUlSZJOnz6tyZMnq3fv3vL19dXYsWN15MiR+x6/oqJCMTEx8vX1VXh4uPbt22fUVNCI2Nvbq6SkRL///rtFe3x8vNatWyfJcjn5nZKTkzV06FCLtjNnzsjb21tFRUWSpJKSEkVHR8vHx0cvvfSSZs+ercuXL5v7h4aGKiUlRREREQoKCuK8hQVHR0fz16NGjdL06dM1dOhQBQQEqKCgQJJUUFCggQMHysfHR6GhoVq2bJlu3bol6X+31Wzbtk1Dhw7Vc889p379+mnjxo0W2+/12rRpkyTp0qVLmjlzpoKDg+Xv76+YmBj98MMPj/YHATQB5CTYInISbB1ZqWGi+ARDnTp1StXV1erVq9d9+7i7u8vBwUGXL19WVFSUzp49q6VLlyo3N1ctW7bUyJEjVV1dXW+/S5cuafTo0XJyctKGDRs0a9YsLVmyxMjpoJGIj49XWVmZXnzxRY0bN06ffvqpSktL5ezsrGeeeeYv942MjFRpaamqqqrMbYWFhWrTpo2CgoJUXl6u0aNHq3fv3iosLNSCBQt06NAhxcbGymQymfdZu3atZsyYoYyMDPXo0cOwuaJhKS0tNT9n47b8/HzFxMRo7dq16tOnj1atWqWZM2dq2LBhKiws1KRJk7Ry5Up98MEHFsdKTU1VQkKCCgoKFBISopkzZ+rkyZNq27at9uzZY37t2rVLAQEB6tq1q15++WWZTCbFx8fr+PHjWr58udavXy9fX19FRUXp8OHDj/pHAjRq5CTYInISbBlZqeHitjsY6ty5c5JUb2luQkKCxcMu27Vrp+joaF24cEH5+fnm/gsWLFBYWJhycnI0ZcoUi2Ns2bJFV69eVVpampydndWlSxdNnz5dEydONHhWaOjCw8O1bt06rVmzRnv27NHOnTslSZ6enkpJSZG/v/999w0MDJSHh4c2b96sxMRESX8+lHPQoEGyt7fXypUrFRISogkTJpiP+eGHHyosLEz79+9XUFCQJKlPnz5/+ccGmobly5crMzNTklRbW6va2lo9//zzioiIMPfx9vbWgAEDJP25SmLFihUaOXKkeam5p6enLl68qLS0NIvr35gxY9SvXz9J0rRp07RhwwYdPHhQHh4eFsvX586dq8rKSm3YsEFOTk4qKirS999/r6KiIvO1+N1331VJSYmysrKUmppq7A8FaELISbBF5CTYErJS40HxCYZq1aqVJOnixYsW7bNnz9a1a9ckSWvWrNGOHTtUUVEhT09PiwDWvHlz+fj43HNJ+e3+zs7O5jY/Pz8DZoHGyMfHR/Pnz5fJZFJFRYV27typrKwsxcfH66uvvrrvfnZ2dnrttdfMoaqsrEwVFRX6+OOPJUmHDx9WVVXVPc/Fn376yRyqOnToYMzE0KAMHz7c/MlUN2/e1PHjx7Vw4UKNGDFCeXl5kizPlfPnz+vcuXP1gn/Pnj1VW1urn3/+WW5ubpKkTp06mbffvk7W1tZa7JeTk6Pc3FytXr1a7u7ukqRDhw5JkjmM3Xbjxg1dv379X88ZwP+Qk2CryEmwFWSlxoPiEwx1u2q8f/9+9e/f39zepk0b89cuLi6S/qxS29nZ1TtGXV2dmjW796l65/JcSfftB9x25swZrVixQuPGjVObNm1kZ2dnvoe7X79+ioiI0LfffvuXx4iMjFR6erpKS0u1bds2+fn5mZeh37p1SwMGDFBCQkK9/e78g6FFixYPd2JokFxcXCwCU6dOneTi4qLo6Gjt3btXkuW5cvc177a6ujpJltdABweHev3u3H/Xrl1KSUlRSkqKxS0Nt27dkpOTk/Lz8+vtf69jAvj/kZNga8hJsDVkpcaDZz7BUI899phiYmJUUFCg8vLye/Y5ffq0JKlr166qrKzUb7/9Zt52/fp1/fjjj+rcuXO9/by9vVVZWanz58+b23jIG/6Og4OD1q1bp8LCwnrbnJycJOlvP87a3d1dgYGB+vLLL7V161ZFRkaat3Xp0kVHjx5Vhw4dzK+6ujrNmzfPfK4D/8Tth2Leyc3NTW5ubvruu+8s2g8cOKDHH39c7du3/0fHPnLkiCZNmqS4uDgNGjTIYlvXrl11+fJl3bhxw+I8XrFihb7++uv/f0IA6iEnwdaQk9CQkJUaFopPMFxcXJz69u2rESNGaNmyZSovL9epU6e0Y8cOxcbGKi8vT8HBwRowYID+85//KCkpSaWlpSovL9eUKVN05coViwfK3da/f3+5ubnpvffeU3l5ufbv36+UlBQrzBANiaurq+Li4rRo0SItXLhQZWVlOnnypL755hslJiYqKChIAQEBf3ucwYMHKzc3VxcuXLC45zw2NlZlZWWaNWuWjh07poMHD2ry5MmqrKyUp6engTNDQ3TlyhXV1NSopqZGv/76qw4cOKCUlBQ99dRTCgkJqdffzs5OsbGxys7OVk5OjqqqqrR582alp6dr2LBhFrfX3E9NTY0SEhIUHBysN9980/z9a2pqdOnSJb3wwgvy9vZWUlKSioqKVFVVpbS0NOXl5VksTwfwcJCTYEvISbA1ZKXGg7W3MJy9vb0WLVqkbdu2KS8vT1lZWfrjjz/UunVrBQQEKDs7Wz179pQkZWdnKy0tTaNHj5Yk+fv7a+3atfLw8Kh33JYtWyorK0tz5sxRVFSUXFxc9M477yg5OflRTg8NUFJSkjw9PbV+/Xrl5OTo2rVratu2rSIiIjR+/Ph/dIzw8HDNmTNHYWFhFr/EfH19lZGRoY8++kiDBw+Wo6OjgoODNW3aNJbhop7MzEzzQzTt7e3VqlUr+fv7a8GCBRYfI3ynuLg4OTg4aPXq1Zo3b56efvppxcfHa+zYsf/oe+7evVvV1dWqrq7W9u3bLbZFRkYqNTVVmZmZmj9/viZNmqSrV6+qU6dOWrx48T1DHoB/h5wEW0NOgi0hKzUedqb73RQJAAAAAAAA/EvcdgcAAAAAAADDUHwCAAAAAACAYSg+AQAAAAAAwDAUnwAAAAAAAGAYik8AAAAAAAAwDMUnAAAAAAAAGIbiEwAAAAAAAAxD8QkAAAAAAACGaWbtAQCANSUnJ2vTpk1/2cfd3V2//PKLsrKyFBQU9IhGBgAAYH1kJQAPg53JZDJZexAAYC0nTpzQ+fPnze+XLFmiw4cPKz093dx248YNOTg4qHPnznJycrLGMAEAAKyCrATgYWDlE4AmrX379mrfvr35vaurqxwcHOTr62u9QQEAANgIshKAh4FnPgHA3yguLpaXl5eKi4vNbRUVFRo/frx69OihHj16aOLEiTp58mS9fXJzc9W3b1/16tVLe/bsscbwAQAADEVWAvB3WPkEAA+osrJSw4cPV8eOHZWamqq6ujotXbpUUVFR+uKLL+Tm5mbuu3DhQs2ePVvXr1/nfwgBAECTQFYCcDeKTwDwgNLT09WiRQutWrXK/FyDkJAQhYWFKSMjQ9OmTTP3HT58uF599VVrDRUAAOCRIysBuBvFJwB4QPv27VNQUJBatGihmzdvSpKcnJwUEBCgvXv3WvT18vKyxhABAACshqwE4G4UnwDgAV28eFFbt27V1q1b621zdXW1eH/nsnIAAICmgKwE4G4UnwDgATk7O6tXr14aM2ZMvW3NmnFZBQAATRtZCcDd+JcPAA8oMDBQx44dk7e3tzlAmUwmTZ48WR06dJC3t7eVRwgAAGA9ZCUAd7O39gAAoKGZMGGCTpw4ofHjx2v79u3avXu33nrrLW3ZskXdunWz9vAAAACsiqwE4G4UnwDgAXXr1k05OTmys7PT1KlT9fbbb6umpkaffPKJXnnlFWsPDwAAwKrISgDuZmcymUzWHgQAAAAAAAAaJ1Y+AQAAAAAAwDAUnwAAAAAAAGAYik8AAAAAAAAwDMUnAAAAAAAAGIbiEwAAAAAAAAxD8QkAAAAAAACGofgEAAAAAAAAw1B8AgAAAAAAgGEoPgEAAAAAAMAwFJ8AAAAAAABgGIpPAAAAAAAAMAzFJwAAAAAAABjmv87+y/CUmesl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descr="tier_img2.png"/>
          <p:cNvPicPr>
            <a:picLocks noChangeAspect="1"/>
          </p:cNvPicPr>
          <p:nvPr/>
        </p:nvPicPr>
        <p:blipFill>
          <a:blip r:embed="rId2"/>
          <a:stretch>
            <a:fillRect/>
          </a:stretch>
        </p:blipFill>
        <p:spPr>
          <a:xfrm>
            <a:off x="852408" y="1699869"/>
            <a:ext cx="7511367" cy="243817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749" y="167540"/>
            <a:ext cx="7704000" cy="572700"/>
          </a:xfrm>
          <a:noFill/>
          <a:ln>
            <a:noFill/>
          </a:ln>
        </p:spPr>
        <p:txBody>
          <a:bodyPr spcFirstLastPara="1" wrap="square" lIns="91425" tIns="91425" rIns="91425" bIns="91425" anchor="t" anchorCtr="0">
            <a:noAutofit/>
          </a:bodyPr>
          <a:lstStyle/>
          <a:p>
            <a:pPr algn="ctr">
              <a:buSzPts val="2800"/>
            </a:pP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r>
              <a:rPr sz="4400" dirty="0">
                <a:latin typeface="Aptos Display" panose="020B0004020202020204" pitchFamily="34" charset="0"/>
              </a:rPr>
              <a:t> </a:t>
            </a:r>
            <a:r>
              <a:rPr sz="4400" dirty="0" err="1">
                <a:latin typeface="Aptos Display" panose="020B0004020202020204" pitchFamily="34" charset="0"/>
              </a:rPr>
              <a:t>theo</a:t>
            </a:r>
            <a:r>
              <a:rPr sz="4400" dirty="0">
                <a:latin typeface="Aptos Display" panose="020B0004020202020204" pitchFamily="34" charset="0"/>
              </a:rPr>
              <a:t> </a:t>
            </a:r>
            <a:r>
              <a:rPr lang="en-US" sz="4400" dirty="0" smtClean="0">
                <a:latin typeface="Aptos Display" panose="020B0004020202020204" pitchFamily="34" charset="0"/>
              </a:rPr>
              <a:t>Tier</a:t>
            </a:r>
            <a:endParaRPr sz="4400" dirty="0">
              <a:latin typeface="Aptos Display" panose="020B0004020202020204" pitchFamily="34" charset="0"/>
            </a:endParaRPr>
          </a:p>
        </p:txBody>
      </p:sp>
      <p:pic>
        <p:nvPicPr>
          <p:cNvPr id="3" name="Picture 2" descr="tier_g2.png"/>
          <p:cNvPicPr>
            <a:picLocks noChangeAspect="1"/>
          </p:cNvPicPr>
          <p:nvPr/>
        </p:nvPicPr>
        <p:blipFill>
          <a:blip r:embed="rId2"/>
          <a:stretch>
            <a:fillRect/>
          </a:stretch>
        </p:blipFill>
        <p:spPr>
          <a:xfrm>
            <a:off x="1220619" y="883403"/>
            <a:ext cx="7066256" cy="426009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pPr algn="ctr">
              <a:buSzPts val="2800"/>
            </a:pP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r>
              <a:rPr sz="4400" dirty="0">
                <a:latin typeface="Aptos Display" panose="020B0004020202020204" pitchFamily="34" charset="0"/>
              </a:rPr>
              <a:t> </a:t>
            </a:r>
            <a:r>
              <a:rPr sz="4400" dirty="0" err="1">
                <a:latin typeface="Aptos Display" panose="020B0004020202020204" pitchFamily="34" charset="0"/>
              </a:rPr>
              <a:t>theo</a:t>
            </a:r>
            <a:r>
              <a:rPr sz="4400" dirty="0">
                <a:latin typeface="Aptos Display" panose="020B0004020202020204" pitchFamily="34" charset="0"/>
              </a:rPr>
              <a:t> </a:t>
            </a:r>
            <a:r>
              <a:rPr lang="en-US" sz="4400" dirty="0" err="1" smtClean="0">
                <a:latin typeface="Aptos Display" panose="020B0004020202020204" pitchFamily="34" charset="0"/>
              </a:rPr>
              <a:t>BuyerType</a:t>
            </a:r>
            <a:endParaRPr sz="4400" dirty="0">
              <a:latin typeface="Aptos Display" panose="020B0004020202020204" pitchFamily="34" charset="0"/>
            </a:endParaRPr>
          </a:p>
        </p:txBody>
      </p:sp>
      <p:sp>
        <p:nvSpPr>
          <p:cNvPr id="3" name="TextBox 2"/>
          <p:cNvSpPr txBox="1"/>
          <p:nvPr/>
        </p:nvSpPr>
        <p:spPr>
          <a:xfrm>
            <a:off x="604433" y="1286359"/>
            <a:ext cx="6966488" cy="369332"/>
          </a:xfrm>
          <a:prstGeom prst="rect">
            <a:avLst/>
          </a:prstGeom>
          <a:noFill/>
        </p:spPr>
        <p:txBody>
          <a:bodyPr wrap="square" rtlCol="0">
            <a:spAutoFit/>
          </a:bodyPr>
          <a:lstStyle/>
          <a:p>
            <a:r>
              <a:rPr lang="en-US" sz="1800" dirty="0" err="1" smtClean="0"/>
              <a:t>Nghi</a:t>
            </a:r>
            <a:r>
              <a:rPr lang="en-US" sz="1800" dirty="0" smtClean="0"/>
              <a:t> </a:t>
            </a:r>
            <a:r>
              <a:rPr lang="en-US" sz="1800" dirty="0" err="1" smtClean="0"/>
              <a:t>ngờ</a:t>
            </a:r>
            <a:r>
              <a:rPr lang="en-US" sz="1800" dirty="0" smtClean="0"/>
              <a:t> </a:t>
            </a:r>
            <a:r>
              <a:rPr lang="en-US" sz="1800" dirty="0" err="1" smtClean="0"/>
              <a:t>nhóm</a:t>
            </a:r>
            <a:r>
              <a:rPr lang="en-US" sz="1800" dirty="0" smtClean="0"/>
              <a:t> 5% </a:t>
            </a:r>
            <a:r>
              <a:rPr lang="en-US" sz="1800" dirty="0" err="1" smtClean="0"/>
              <a:t>là</a:t>
            </a:r>
            <a:r>
              <a:rPr lang="en-US" sz="1800" dirty="0" smtClean="0"/>
              <a:t> </a:t>
            </a:r>
            <a:r>
              <a:rPr lang="en-US" sz="1800" dirty="0" err="1" smtClean="0"/>
              <a:t>bán</a:t>
            </a:r>
            <a:r>
              <a:rPr lang="en-US" sz="1800" dirty="0" smtClean="0"/>
              <a:t> </a:t>
            </a:r>
            <a:r>
              <a:rPr lang="en-US" sz="1800" dirty="0" err="1" smtClean="0"/>
              <a:t>sỉ</a:t>
            </a:r>
            <a:endParaRPr lang="en-US" sz="1800" dirty="0"/>
          </a:p>
        </p:txBody>
      </p:sp>
      <p:pic>
        <p:nvPicPr>
          <p:cNvPr id="5" name="Picture 4" descr="buyer_img1.png"/>
          <p:cNvPicPr>
            <a:picLocks noChangeAspect="1"/>
          </p:cNvPicPr>
          <p:nvPr/>
        </p:nvPicPr>
        <p:blipFill>
          <a:blip r:embed="rId2"/>
          <a:stretch>
            <a:fillRect/>
          </a:stretch>
        </p:blipFill>
        <p:spPr>
          <a:xfrm>
            <a:off x="154983" y="1863234"/>
            <a:ext cx="4296479" cy="1918354"/>
          </a:xfrm>
          <a:prstGeom prst="rect">
            <a:avLst/>
          </a:prstGeom>
        </p:spPr>
      </p:pic>
      <p:pic>
        <p:nvPicPr>
          <p:cNvPr id="6" name="Picture 5" descr="buyer_img2.png"/>
          <p:cNvPicPr>
            <a:picLocks noChangeAspect="1"/>
          </p:cNvPicPr>
          <p:nvPr/>
        </p:nvPicPr>
        <p:blipFill>
          <a:blip r:embed="rId3"/>
          <a:stretch>
            <a:fillRect/>
          </a:stretch>
        </p:blipFill>
        <p:spPr>
          <a:xfrm>
            <a:off x="4595247" y="1870861"/>
            <a:ext cx="4223288" cy="227948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pPr algn="ctr">
              <a:buSzPts val="2800"/>
            </a:pP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r>
              <a:rPr sz="4400" dirty="0">
                <a:latin typeface="Aptos Display" panose="020B0004020202020204" pitchFamily="34" charset="0"/>
              </a:rPr>
              <a:t> </a:t>
            </a:r>
            <a:r>
              <a:rPr sz="4400" dirty="0" err="1">
                <a:latin typeface="Aptos Display" panose="020B0004020202020204" pitchFamily="34" charset="0"/>
              </a:rPr>
              <a:t>theo</a:t>
            </a:r>
            <a:r>
              <a:rPr sz="4400" dirty="0">
                <a:latin typeface="Aptos Display" panose="020B0004020202020204" pitchFamily="34" charset="0"/>
              </a:rPr>
              <a:t> </a:t>
            </a:r>
            <a:r>
              <a:rPr lang="en-US" sz="4400" dirty="0" err="1" smtClean="0">
                <a:latin typeface="Aptos Display" panose="020B0004020202020204" pitchFamily="34" charset="0"/>
              </a:rPr>
              <a:t>BuyerType</a:t>
            </a:r>
            <a:endParaRPr sz="4400" dirty="0">
              <a:latin typeface="Aptos Display" panose="020B0004020202020204" pitchFamily="34" charset="0"/>
            </a:endParaRPr>
          </a:p>
        </p:txBody>
      </p:sp>
      <p:sp>
        <p:nvSpPr>
          <p:cNvPr id="3" name="TextBox 2"/>
          <p:cNvSpPr txBox="1"/>
          <p:nvPr/>
        </p:nvSpPr>
        <p:spPr>
          <a:xfrm>
            <a:off x="604433" y="1286359"/>
            <a:ext cx="6966488" cy="369332"/>
          </a:xfrm>
          <a:prstGeom prst="rect">
            <a:avLst/>
          </a:prstGeom>
          <a:noFill/>
        </p:spPr>
        <p:txBody>
          <a:bodyPr wrap="square" rtlCol="0">
            <a:spAutoFit/>
          </a:bodyPr>
          <a:lstStyle/>
          <a:p>
            <a:r>
              <a:rPr lang="en-US" sz="1800" dirty="0" err="1" smtClean="0"/>
              <a:t>Chia</a:t>
            </a:r>
            <a:r>
              <a:rPr lang="en-US" sz="1800" dirty="0" smtClean="0"/>
              <a:t> </a:t>
            </a:r>
            <a:r>
              <a:rPr lang="en-US" sz="1800" dirty="0" err="1" smtClean="0"/>
              <a:t>nhóm</a:t>
            </a:r>
            <a:r>
              <a:rPr lang="en-US" sz="1800" dirty="0" smtClean="0"/>
              <a:t> </a:t>
            </a:r>
            <a:r>
              <a:rPr lang="en-US" sz="1800" dirty="0" err="1" smtClean="0"/>
              <a:t>Bán</a:t>
            </a:r>
            <a:r>
              <a:rPr lang="en-US" sz="1800" dirty="0" smtClean="0"/>
              <a:t> </a:t>
            </a:r>
            <a:r>
              <a:rPr lang="en-US" sz="1800" dirty="0" err="1" smtClean="0"/>
              <a:t>lẻ</a:t>
            </a:r>
            <a:r>
              <a:rPr lang="en-US" sz="1800" dirty="0" smtClean="0"/>
              <a:t> </a:t>
            </a:r>
            <a:r>
              <a:rPr lang="en-US" sz="1800" dirty="0" err="1" smtClean="0"/>
              <a:t>và</a:t>
            </a:r>
            <a:r>
              <a:rPr lang="en-US" sz="1800" dirty="0" smtClean="0"/>
              <a:t> </a:t>
            </a:r>
            <a:r>
              <a:rPr lang="en-US" sz="1800" dirty="0" err="1" smtClean="0"/>
              <a:t>nhóm</a:t>
            </a:r>
            <a:r>
              <a:rPr lang="en-US" sz="1800" dirty="0" smtClean="0"/>
              <a:t> </a:t>
            </a:r>
            <a:r>
              <a:rPr lang="en-US" sz="1800" dirty="0" err="1" smtClean="0"/>
              <a:t>Bán</a:t>
            </a:r>
            <a:r>
              <a:rPr lang="en-US" sz="1800" dirty="0" smtClean="0"/>
              <a:t> </a:t>
            </a:r>
            <a:r>
              <a:rPr lang="en-US" sz="1800" dirty="0" err="1" smtClean="0"/>
              <a:t>sỉ</a:t>
            </a:r>
            <a:endParaRPr lang="en-US" sz="1800" dirty="0"/>
          </a:p>
        </p:txBody>
      </p:sp>
      <p:pic>
        <p:nvPicPr>
          <p:cNvPr id="4" name="Picture 3" descr="buyer_img3.png"/>
          <p:cNvPicPr>
            <a:picLocks noChangeAspect="1"/>
          </p:cNvPicPr>
          <p:nvPr/>
        </p:nvPicPr>
        <p:blipFill>
          <a:blip r:embed="rId2"/>
          <a:stretch>
            <a:fillRect/>
          </a:stretch>
        </p:blipFill>
        <p:spPr>
          <a:xfrm>
            <a:off x="742971" y="1717438"/>
            <a:ext cx="7703607" cy="300628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wrap="square" lIns="91425" tIns="91425" rIns="91425" bIns="91425" anchor="t" anchorCtr="0">
            <a:noAutofit/>
          </a:bodyPr>
          <a:lstStyle/>
          <a:p>
            <a:pPr algn="ctr">
              <a:buSzPts val="2800"/>
            </a:pPr>
            <a:r>
              <a:rPr sz="4400" dirty="0" err="1">
                <a:latin typeface="Aptos Display" panose="020B0004020202020204" pitchFamily="34" charset="0"/>
              </a:rPr>
              <a:t>Phân</a:t>
            </a:r>
            <a:r>
              <a:rPr sz="4400" dirty="0">
                <a:latin typeface="Aptos Display" panose="020B0004020202020204" pitchFamily="34" charset="0"/>
              </a:rPr>
              <a:t> </a:t>
            </a:r>
            <a:r>
              <a:rPr sz="4400" dirty="0" err="1">
                <a:latin typeface="Aptos Display" panose="020B0004020202020204" pitchFamily="34" charset="0"/>
              </a:rPr>
              <a:t>tích</a:t>
            </a:r>
            <a:r>
              <a:rPr sz="4400" dirty="0">
                <a:latin typeface="Aptos Display" panose="020B0004020202020204" pitchFamily="34" charset="0"/>
              </a:rPr>
              <a:t> </a:t>
            </a:r>
            <a:r>
              <a:rPr sz="4400" dirty="0" err="1">
                <a:latin typeface="Aptos Display" panose="020B0004020202020204" pitchFamily="34" charset="0"/>
              </a:rPr>
              <a:t>theo</a:t>
            </a:r>
            <a:r>
              <a:rPr sz="4400" dirty="0">
                <a:latin typeface="Aptos Display" panose="020B0004020202020204" pitchFamily="34" charset="0"/>
              </a:rPr>
              <a:t> </a:t>
            </a:r>
            <a:r>
              <a:rPr lang="en-US" sz="4400" dirty="0" err="1" smtClean="0">
                <a:latin typeface="Aptos Display" panose="020B0004020202020204" pitchFamily="34" charset="0"/>
              </a:rPr>
              <a:t>BuyerType</a:t>
            </a:r>
            <a:endParaRPr sz="4400" dirty="0">
              <a:latin typeface="Aptos Display" panose="020B0004020202020204" pitchFamily="34" charset="0"/>
            </a:endParaRPr>
          </a:p>
        </p:txBody>
      </p:sp>
      <p:pic>
        <p:nvPicPr>
          <p:cNvPr id="3" name="Picture 2" descr="buyer_r3.png"/>
          <p:cNvPicPr>
            <a:picLocks noChangeAspect="1"/>
          </p:cNvPicPr>
          <p:nvPr/>
        </p:nvPicPr>
        <p:blipFill>
          <a:blip r:embed="rId2"/>
          <a:stretch>
            <a:fillRect/>
          </a:stretch>
        </p:blipFill>
        <p:spPr>
          <a:xfrm>
            <a:off x="519193" y="1951902"/>
            <a:ext cx="8108375" cy="2418620"/>
          </a:xfrm>
          <a:prstGeom prst="rect">
            <a:avLst/>
          </a:prstGeom>
        </p:spPr>
      </p:pic>
      <p:sp>
        <p:nvSpPr>
          <p:cNvPr id="4" name="TextBox 3"/>
          <p:cNvSpPr txBox="1"/>
          <p:nvPr/>
        </p:nvSpPr>
        <p:spPr>
          <a:xfrm>
            <a:off x="495946" y="1325105"/>
            <a:ext cx="5804115" cy="400110"/>
          </a:xfrm>
          <a:prstGeom prst="rect">
            <a:avLst/>
          </a:prstGeom>
          <a:noFill/>
        </p:spPr>
        <p:txBody>
          <a:bodyPr wrap="square" rtlCol="0">
            <a:spAutoFit/>
          </a:bodyPr>
          <a:lstStyle/>
          <a:p>
            <a:r>
              <a:rPr lang="en-US" sz="2000" dirty="0" err="1" smtClean="0"/>
              <a:t>Dự</a:t>
            </a:r>
            <a:r>
              <a:rPr lang="en-US" sz="2000" dirty="0" smtClean="0"/>
              <a:t> </a:t>
            </a:r>
            <a:r>
              <a:rPr lang="en-US" sz="2000" dirty="0" err="1" smtClean="0"/>
              <a:t>đoán</a:t>
            </a:r>
            <a:r>
              <a:rPr lang="en-US" sz="2000" dirty="0" smtClean="0"/>
              <a:t> </a:t>
            </a:r>
            <a:r>
              <a:rPr lang="en-US" sz="2000" dirty="0" err="1" smtClean="0"/>
              <a:t>nhóm</a:t>
            </a:r>
            <a:r>
              <a:rPr lang="en-US" sz="2000" dirty="0" smtClean="0"/>
              <a:t> </a:t>
            </a:r>
            <a:r>
              <a:rPr lang="en-US" sz="2000" dirty="0" err="1" smtClean="0"/>
              <a:t>doanh</a:t>
            </a:r>
            <a:r>
              <a:rPr lang="en-US" sz="2000" dirty="0" smtClean="0"/>
              <a:t> </a:t>
            </a:r>
            <a:r>
              <a:rPr lang="en-US" sz="2000" dirty="0" err="1" smtClean="0"/>
              <a:t>thu</a:t>
            </a:r>
            <a:r>
              <a:rPr lang="en-US" sz="2000" dirty="0" smtClean="0"/>
              <a:t> </a:t>
            </a:r>
            <a:r>
              <a:rPr lang="en-US" sz="2000" dirty="0" err="1" smtClean="0"/>
              <a:t>của</a:t>
            </a:r>
            <a:r>
              <a:rPr lang="en-US" sz="2000" dirty="0" smtClean="0"/>
              <a:t> </a:t>
            </a:r>
            <a:r>
              <a:rPr lang="en-US" sz="2000" dirty="0" err="1" smtClean="0"/>
              <a:t>tập</a:t>
            </a:r>
            <a:r>
              <a:rPr lang="en-US" sz="2000" dirty="0" smtClean="0"/>
              <a:t> </a:t>
            </a:r>
            <a:r>
              <a:rPr lang="en-US" sz="2000" dirty="0" err="1" smtClean="0"/>
              <a:t>bán</a:t>
            </a:r>
            <a:r>
              <a:rPr lang="en-US" sz="2000" dirty="0" smtClean="0"/>
              <a:t> </a:t>
            </a:r>
            <a:r>
              <a:rPr lang="en-US" sz="2000" dirty="0" err="1" smtClean="0"/>
              <a:t>lẻ</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47D201-2A69-4C72-A934-B1D7E3089FDB}"/>
              </a:ext>
            </a:extLst>
          </p:cNvPr>
          <p:cNvSpPr>
            <a:spLocks noGrp="1"/>
          </p:cNvSpPr>
          <p:nvPr>
            <p:ph type="title"/>
          </p:nvPr>
        </p:nvSpPr>
        <p:spPr>
          <a:xfrm>
            <a:off x="2317949" y="1307100"/>
            <a:ext cx="5239621" cy="2529300"/>
          </a:xfrm>
        </p:spPr>
        <p:txBody>
          <a:bodyPr/>
          <a:lstStyle/>
          <a:p>
            <a:r>
              <a:rPr lang="en-US" dirty="0"/>
              <a:t>4. INSIGHTS</a:t>
            </a:r>
          </a:p>
        </p:txBody>
      </p:sp>
    </p:spTree>
    <p:extLst>
      <p:ext uri="{BB962C8B-B14F-4D97-AF65-F5344CB8AC3E}">
        <p14:creationId xmlns="" xmlns:p14="http://schemas.microsoft.com/office/powerpoint/2010/main" val="40966274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B04C6A-C246-EFF2-F4E0-B57F852896D1}"/>
              </a:ext>
            </a:extLst>
          </p:cNvPr>
          <p:cNvSpPr>
            <a:spLocks noGrp="1"/>
          </p:cNvSpPr>
          <p:nvPr>
            <p:ph type="title"/>
          </p:nvPr>
        </p:nvSpPr>
        <p:spPr>
          <a:xfrm>
            <a:off x="2317949" y="1307100"/>
            <a:ext cx="5756375" cy="2529300"/>
          </a:xfrm>
          <a:noFill/>
          <a:ln>
            <a:noFill/>
          </a:ln>
        </p:spPr>
        <p:txBody>
          <a:bodyPr spcFirstLastPara="1" wrap="square" lIns="91425" tIns="91425" rIns="91425" bIns="91425" anchor="ctr" anchorCtr="0">
            <a:noAutofit/>
          </a:bodyPr>
          <a:lstStyle/>
          <a:p>
            <a:pPr>
              <a:spcBef>
                <a:spcPts val="300"/>
              </a:spcBef>
              <a:spcAft>
                <a:spcPts val="300"/>
              </a:spcAft>
            </a:pPr>
            <a:r>
              <a:rPr lang="en-US" sz="4000" dirty="0">
                <a:latin typeface="Montserrat" panose="00000500000000000000" pitchFamily="2" charset="0"/>
              </a:rPr>
              <a:t>4.1. NHẬN ĐỊNH VÀ </a:t>
            </a:r>
            <a:br>
              <a:rPr lang="en-US" sz="4000" dirty="0">
                <a:latin typeface="Montserrat" panose="00000500000000000000" pitchFamily="2" charset="0"/>
              </a:rPr>
            </a:br>
            <a:r>
              <a:rPr lang="en-US" sz="4000" dirty="0">
                <a:latin typeface="Montserrat" panose="00000500000000000000" pitchFamily="2" charset="0"/>
              </a:rPr>
              <a:t>RỦI RO </a:t>
            </a:r>
          </a:p>
        </p:txBody>
      </p:sp>
    </p:spTree>
    <p:extLst>
      <p:ext uri="{BB962C8B-B14F-4D97-AF65-F5344CB8AC3E}">
        <p14:creationId xmlns="" xmlns:p14="http://schemas.microsoft.com/office/powerpoint/2010/main" val="39292028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67566" y="366544"/>
            <a:ext cx="4573018" cy="913322"/>
          </a:xfrm>
          <a:noFill/>
          <a:ln>
            <a:noFill/>
          </a:ln>
        </p:spPr>
        <p:txBody>
          <a:bodyPr spcFirstLastPara="1" wrap="square" lIns="91425" tIns="91425" rIns="91425" bIns="91425" anchor="t" anchorCtr="0">
            <a:noAutofit/>
          </a:bodyPr>
          <a:lstStyle/>
          <a:p>
            <a:pPr algn="ctr"/>
            <a:r>
              <a:rPr sz="4000" dirty="0" err="1">
                <a:latin typeface="Aptos Display" panose="020B0004020202020204" pitchFamily="34" charset="0"/>
              </a:rPr>
              <a:t>Nhận</a:t>
            </a:r>
            <a:r>
              <a:rPr sz="4000" dirty="0">
                <a:latin typeface="Aptos Display" panose="020B0004020202020204" pitchFamily="34" charset="0"/>
              </a:rPr>
              <a:t> </a:t>
            </a:r>
            <a:r>
              <a:rPr sz="4000" dirty="0" err="1">
                <a:latin typeface="Aptos Display" panose="020B0004020202020204" pitchFamily="34" charset="0"/>
              </a:rPr>
              <a:t>định</a:t>
            </a:r>
            <a:r>
              <a:rPr sz="4000" dirty="0">
                <a:latin typeface="Aptos Display" panose="020B0004020202020204" pitchFamily="34" charset="0"/>
              </a:rPr>
              <a:t> </a:t>
            </a:r>
            <a:r>
              <a:rPr lang="en-US" sz="4000" dirty="0" err="1">
                <a:latin typeface="Aptos Display" panose="020B0004020202020204" pitchFamily="34" charset="0"/>
              </a:rPr>
              <a:t>chính</a:t>
            </a:r>
            <a:endParaRPr sz="4000" dirty="0">
              <a:latin typeface="Aptos Display" panose="020B0004020202020204" pitchFamily="34" charset="0"/>
            </a:endParaRPr>
          </a:p>
        </p:txBody>
      </p:sp>
      <p:sp>
        <p:nvSpPr>
          <p:cNvPr id="4" name="Picture Placeholder 3"/>
          <p:cNvSpPr>
            <a:spLocks noGrp="1"/>
          </p:cNvSpPr>
          <p:nvPr>
            <p:ph type="pic" idx="4294967295"/>
          </p:nvPr>
        </p:nvSpPr>
        <p:spPr>
          <a:xfrm>
            <a:off x="223268" y="1264368"/>
            <a:ext cx="8697461" cy="2306968"/>
          </a:xfrm>
          <a:noFill/>
          <a:ln>
            <a:noFill/>
          </a:ln>
        </p:spPr>
        <p:txBody>
          <a:bodyPr/>
          <a:lstStyle/>
          <a:p>
            <a:pPr marL="0" indent="0">
              <a:buNone/>
            </a:pPr>
            <a:r>
              <a:rPr sz="2500" dirty="0">
                <a:latin typeface="+mn-lt"/>
              </a:rPr>
              <a:t>Doanh </a:t>
            </a:r>
            <a:r>
              <a:rPr sz="2500" dirty="0" err="1">
                <a:latin typeface="+mn-lt"/>
              </a:rPr>
              <a:t>thu</a:t>
            </a:r>
            <a:r>
              <a:rPr sz="2500" dirty="0">
                <a:latin typeface="+mn-lt"/>
              </a:rPr>
              <a:t> </a:t>
            </a:r>
            <a:r>
              <a:rPr sz="2500" dirty="0" err="1">
                <a:latin typeface="+mn-lt"/>
              </a:rPr>
              <a:t>có</a:t>
            </a:r>
            <a:r>
              <a:rPr sz="2500" dirty="0">
                <a:latin typeface="+mn-lt"/>
              </a:rPr>
              <a:t> xu </a:t>
            </a:r>
            <a:r>
              <a:rPr sz="2500" dirty="0" err="1">
                <a:latin typeface="+mn-lt"/>
              </a:rPr>
              <a:t>hướng</a:t>
            </a:r>
            <a:r>
              <a:rPr sz="2500" dirty="0">
                <a:latin typeface="+mn-lt"/>
              </a:rPr>
              <a:t> </a:t>
            </a:r>
            <a:r>
              <a:rPr sz="2500" dirty="0" err="1">
                <a:latin typeface="+mn-lt"/>
              </a:rPr>
              <a:t>tăng</a:t>
            </a:r>
            <a:r>
              <a:rPr sz="2500" dirty="0">
                <a:latin typeface="+mn-lt"/>
              </a:rPr>
              <a:t> </a:t>
            </a:r>
            <a:r>
              <a:rPr sz="2500" dirty="0" err="1">
                <a:latin typeface="+mn-lt"/>
              </a:rPr>
              <a:t>trưởng</a:t>
            </a:r>
            <a:r>
              <a:rPr sz="2500" dirty="0">
                <a:latin typeface="+mn-lt"/>
              </a:rPr>
              <a:t> </a:t>
            </a:r>
            <a:r>
              <a:rPr sz="2500" dirty="0" err="1">
                <a:latin typeface="+mn-lt"/>
              </a:rPr>
              <a:t>tích</a:t>
            </a:r>
            <a:r>
              <a:rPr sz="2500" dirty="0">
                <a:latin typeface="+mn-lt"/>
              </a:rPr>
              <a:t> </a:t>
            </a:r>
            <a:r>
              <a:rPr sz="2500" dirty="0" err="1">
                <a:latin typeface="+mn-lt"/>
              </a:rPr>
              <a:t>cực</a:t>
            </a:r>
            <a:r>
              <a:rPr sz="2500" dirty="0">
                <a:latin typeface="+mn-lt"/>
              </a:rPr>
              <a:t> </a:t>
            </a:r>
            <a:r>
              <a:rPr sz="2500" dirty="0" err="1">
                <a:latin typeface="+mn-lt"/>
              </a:rPr>
              <a:t>nhưng</a:t>
            </a:r>
            <a:r>
              <a:rPr sz="2500" dirty="0">
                <a:latin typeface="+mn-lt"/>
              </a:rPr>
              <a:t> </a:t>
            </a:r>
            <a:r>
              <a:rPr sz="2500" dirty="0" err="1">
                <a:latin typeface="+mn-lt"/>
              </a:rPr>
              <a:t>phụ</a:t>
            </a:r>
            <a:r>
              <a:rPr sz="2500" dirty="0">
                <a:latin typeface="+mn-lt"/>
              </a:rPr>
              <a:t> </a:t>
            </a:r>
            <a:r>
              <a:rPr sz="2500" dirty="0" err="1">
                <a:latin typeface="+mn-lt"/>
              </a:rPr>
              <a:t>thuộc</a:t>
            </a:r>
            <a:r>
              <a:rPr sz="2500" dirty="0">
                <a:latin typeface="+mn-lt"/>
              </a:rPr>
              <a:t> </a:t>
            </a:r>
            <a:r>
              <a:rPr sz="2500" dirty="0" err="1">
                <a:latin typeface="+mn-lt"/>
              </a:rPr>
              <a:t>vào</a:t>
            </a:r>
            <a:r>
              <a:rPr sz="2500" dirty="0">
                <a:latin typeface="+mn-lt"/>
              </a:rPr>
              <a:t> </a:t>
            </a:r>
            <a:r>
              <a:rPr sz="2500" dirty="0" err="1">
                <a:latin typeface="+mn-lt"/>
              </a:rPr>
              <a:t>một</a:t>
            </a:r>
            <a:r>
              <a:rPr sz="2500" dirty="0">
                <a:latin typeface="+mn-lt"/>
              </a:rPr>
              <a:t> </a:t>
            </a:r>
            <a:r>
              <a:rPr sz="2500" dirty="0" err="1">
                <a:latin typeface="+mn-lt"/>
              </a:rPr>
              <a:t>số</a:t>
            </a:r>
            <a:r>
              <a:rPr sz="2500" dirty="0">
                <a:latin typeface="+mn-lt"/>
              </a:rPr>
              <a:t> </a:t>
            </a:r>
            <a:r>
              <a:rPr sz="2500" dirty="0" err="1">
                <a:latin typeface="+mn-lt"/>
              </a:rPr>
              <a:t>sản</a:t>
            </a:r>
            <a:r>
              <a:rPr sz="2500" dirty="0">
                <a:latin typeface="+mn-lt"/>
              </a:rPr>
              <a:t> </a:t>
            </a:r>
            <a:r>
              <a:rPr sz="2500" dirty="0" err="1">
                <a:latin typeface="+mn-lt"/>
              </a:rPr>
              <a:t>phẩm</a:t>
            </a:r>
            <a:r>
              <a:rPr sz="2500" dirty="0">
                <a:latin typeface="+mn-lt"/>
              </a:rPr>
              <a:t> </a:t>
            </a:r>
            <a:r>
              <a:rPr sz="2500" dirty="0" err="1">
                <a:latin typeface="+mn-lt"/>
              </a:rPr>
              <a:t>và</a:t>
            </a:r>
            <a:r>
              <a:rPr sz="2500" dirty="0">
                <a:latin typeface="+mn-lt"/>
              </a:rPr>
              <a:t> </a:t>
            </a:r>
            <a:r>
              <a:rPr sz="2500" dirty="0" err="1">
                <a:latin typeface="+mn-lt"/>
              </a:rPr>
              <a:t>khách</a:t>
            </a:r>
            <a:r>
              <a:rPr sz="2500" dirty="0">
                <a:latin typeface="+mn-lt"/>
              </a:rPr>
              <a:t> </a:t>
            </a:r>
            <a:r>
              <a:rPr sz="2500" dirty="0" err="1">
                <a:latin typeface="+mn-lt"/>
              </a:rPr>
              <a:t>hàng</a:t>
            </a:r>
            <a:r>
              <a:rPr sz="2500" dirty="0">
                <a:latin typeface="+mn-lt"/>
              </a:rPr>
              <a:t> </a:t>
            </a:r>
            <a:r>
              <a:rPr sz="2500" dirty="0" err="1">
                <a:latin typeface="+mn-lt"/>
              </a:rPr>
              <a:t>chủ</a:t>
            </a:r>
            <a:r>
              <a:rPr sz="2500" dirty="0">
                <a:latin typeface="+mn-lt"/>
              </a:rPr>
              <a:t> </a:t>
            </a:r>
            <a:r>
              <a:rPr sz="2500" dirty="0" err="1">
                <a:latin typeface="+mn-lt"/>
              </a:rPr>
              <a:t>chốt</a:t>
            </a:r>
            <a:r>
              <a:rPr sz="2500" dirty="0">
                <a:latin typeface="+mn-lt"/>
              </a:rPr>
              <a:t>. </a:t>
            </a:r>
            <a:endParaRPr lang="en-US" sz="2500" dirty="0">
              <a:latin typeface="+mn-lt"/>
            </a:endParaRPr>
          </a:p>
          <a:p>
            <a:pPr marL="0" indent="0">
              <a:buNone/>
            </a:pPr>
            <a:r>
              <a:rPr sz="2500" dirty="0" err="1">
                <a:latin typeface="+mn-lt"/>
              </a:rPr>
              <a:t>Yếu</a:t>
            </a:r>
            <a:r>
              <a:rPr sz="2500" dirty="0">
                <a:latin typeface="+mn-lt"/>
              </a:rPr>
              <a:t> </a:t>
            </a:r>
            <a:r>
              <a:rPr sz="2500" dirty="0" err="1">
                <a:latin typeface="+mn-lt"/>
              </a:rPr>
              <a:t>tố</a:t>
            </a:r>
            <a:r>
              <a:rPr sz="2500" dirty="0">
                <a:latin typeface="+mn-lt"/>
              </a:rPr>
              <a:t> </a:t>
            </a:r>
            <a:r>
              <a:rPr sz="2500" dirty="0" err="1">
                <a:latin typeface="+mn-lt"/>
              </a:rPr>
              <a:t>mùa</a:t>
            </a:r>
            <a:r>
              <a:rPr sz="2500" dirty="0">
                <a:latin typeface="+mn-lt"/>
              </a:rPr>
              <a:t> </a:t>
            </a:r>
            <a:r>
              <a:rPr sz="2500" dirty="0" err="1">
                <a:latin typeface="+mn-lt"/>
              </a:rPr>
              <a:t>vụ</a:t>
            </a:r>
            <a:r>
              <a:rPr sz="2500" dirty="0">
                <a:latin typeface="+mn-lt"/>
              </a:rPr>
              <a:t> </a:t>
            </a:r>
            <a:r>
              <a:rPr sz="2500" dirty="0" err="1">
                <a:latin typeface="+mn-lt"/>
              </a:rPr>
              <a:t>đóng</a:t>
            </a:r>
            <a:r>
              <a:rPr sz="2500" dirty="0">
                <a:latin typeface="+mn-lt"/>
              </a:rPr>
              <a:t> </a:t>
            </a:r>
            <a:r>
              <a:rPr sz="2500" dirty="0" err="1">
                <a:latin typeface="+mn-lt"/>
              </a:rPr>
              <a:t>vai</a:t>
            </a:r>
            <a:r>
              <a:rPr sz="2500" dirty="0">
                <a:latin typeface="+mn-lt"/>
              </a:rPr>
              <a:t> </a:t>
            </a:r>
            <a:r>
              <a:rPr sz="2500" dirty="0" err="1">
                <a:latin typeface="+mn-lt"/>
              </a:rPr>
              <a:t>trò</a:t>
            </a:r>
            <a:r>
              <a:rPr sz="2500" dirty="0">
                <a:latin typeface="+mn-lt"/>
              </a:rPr>
              <a:t> </a:t>
            </a:r>
            <a:r>
              <a:rPr sz="2500" dirty="0" err="1">
                <a:latin typeface="+mn-lt"/>
              </a:rPr>
              <a:t>quan</a:t>
            </a:r>
            <a:r>
              <a:rPr sz="2500" dirty="0">
                <a:latin typeface="+mn-lt"/>
              </a:rPr>
              <a:t> </a:t>
            </a:r>
            <a:r>
              <a:rPr sz="2500" dirty="0" err="1">
                <a:latin typeface="+mn-lt"/>
              </a:rPr>
              <a:t>trọng</a:t>
            </a:r>
            <a:r>
              <a:rPr sz="2500" dirty="0">
                <a:latin typeface="+mn-lt"/>
              </a:rPr>
              <a:t> </a:t>
            </a:r>
            <a:r>
              <a:rPr sz="2500" dirty="0" err="1">
                <a:latin typeface="+mn-lt"/>
              </a:rPr>
              <a:t>trong</a:t>
            </a:r>
            <a:r>
              <a:rPr sz="2500" dirty="0">
                <a:latin typeface="+mn-lt"/>
              </a:rPr>
              <a:t> </a:t>
            </a:r>
            <a:r>
              <a:rPr sz="2500" dirty="0" err="1">
                <a:latin typeface="+mn-lt"/>
              </a:rPr>
              <a:t>việc</a:t>
            </a:r>
            <a:r>
              <a:rPr sz="2500" dirty="0">
                <a:latin typeface="+mn-lt"/>
              </a:rPr>
              <a:t> </a:t>
            </a:r>
            <a:r>
              <a:rPr sz="2500" dirty="0" err="1">
                <a:latin typeface="+mn-lt"/>
              </a:rPr>
              <a:t>hình</a:t>
            </a:r>
            <a:r>
              <a:rPr sz="2500" dirty="0">
                <a:latin typeface="+mn-lt"/>
              </a:rPr>
              <a:t> </a:t>
            </a:r>
            <a:r>
              <a:rPr sz="2500" dirty="0" err="1">
                <a:latin typeface="+mn-lt"/>
              </a:rPr>
              <a:t>thành</a:t>
            </a:r>
            <a:r>
              <a:rPr sz="2500" dirty="0">
                <a:latin typeface="+mn-lt"/>
              </a:rPr>
              <a:t> </a:t>
            </a:r>
            <a:r>
              <a:rPr sz="2500" dirty="0" err="1">
                <a:latin typeface="+mn-lt"/>
              </a:rPr>
              <a:t>các</a:t>
            </a:r>
            <a:r>
              <a:rPr sz="2500" dirty="0">
                <a:latin typeface="+mn-lt"/>
              </a:rPr>
              <a:t> </a:t>
            </a:r>
            <a:r>
              <a:rPr sz="2500" dirty="0" err="1">
                <a:latin typeface="+mn-lt"/>
              </a:rPr>
              <a:t>pha</a:t>
            </a:r>
            <a:r>
              <a:rPr sz="2500" dirty="0">
                <a:latin typeface="+mn-lt"/>
              </a:rPr>
              <a:t> </a:t>
            </a:r>
            <a:r>
              <a:rPr sz="2500" dirty="0" err="1">
                <a:latin typeface="+mn-lt"/>
              </a:rPr>
              <a:t>tăng</a:t>
            </a:r>
            <a:r>
              <a:rPr sz="2500" dirty="0">
                <a:latin typeface="+mn-lt"/>
              </a:rPr>
              <a:t> – </a:t>
            </a:r>
            <a:r>
              <a:rPr sz="2500" dirty="0" err="1">
                <a:latin typeface="+mn-lt"/>
              </a:rPr>
              <a:t>giảm</a:t>
            </a:r>
            <a:r>
              <a:rPr sz="2500" dirty="0">
                <a:latin typeface="+mn-lt"/>
              </a:rPr>
              <a:t> </a:t>
            </a:r>
            <a:r>
              <a:rPr sz="2500" dirty="0" err="1">
                <a:latin typeface="+mn-lt"/>
              </a:rPr>
              <a:t>doanh</a:t>
            </a:r>
            <a:r>
              <a:rPr sz="2500" dirty="0">
                <a:latin typeface="+mn-lt"/>
              </a:rPr>
              <a:t> </a:t>
            </a:r>
            <a:r>
              <a:rPr sz="2500" dirty="0" err="1">
                <a:latin typeface="+mn-lt"/>
              </a:rPr>
              <a:t>thu</a:t>
            </a:r>
            <a:r>
              <a:rPr sz="2500" dirty="0">
                <a:latin typeface="+mn-lt"/>
              </a:rPr>
              <a:t> </a:t>
            </a:r>
            <a:r>
              <a:rPr sz="2500" dirty="0" err="1">
                <a:latin typeface="+mn-lt"/>
              </a:rPr>
              <a:t>trong</a:t>
            </a:r>
            <a:r>
              <a:rPr sz="2500" dirty="0">
                <a:latin typeface="+mn-lt"/>
              </a:rPr>
              <a:t> </a:t>
            </a:r>
            <a:r>
              <a:rPr sz="2500" dirty="0" err="1">
                <a:latin typeface="+mn-lt"/>
              </a:rPr>
              <a:t>năm</a:t>
            </a:r>
            <a:r>
              <a:rPr sz="2500" dirty="0">
                <a:latin typeface="+mn-lt"/>
              </a:rPr>
              <a:t>, </a:t>
            </a:r>
            <a:r>
              <a:rPr sz="2500" dirty="0" err="1">
                <a:latin typeface="+mn-lt"/>
              </a:rPr>
              <a:t>cho</a:t>
            </a:r>
            <a:r>
              <a:rPr sz="2500" dirty="0">
                <a:latin typeface="+mn-lt"/>
              </a:rPr>
              <a:t> </a:t>
            </a:r>
            <a:r>
              <a:rPr sz="2500" dirty="0" err="1">
                <a:latin typeface="+mn-lt"/>
              </a:rPr>
              <a:t>thấy</a:t>
            </a:r>
            <a:r>
              <a:rPr sz="2500" dirty="0">
                <a:latin typeface="+mn-lt"/>
              </a:rPr>
              <a:t> </a:t>
            </a:r>
            <a:r>
              <a:rPr sz="2500" dirty="0" err="1">
                <a:latin typeface="+mn-lt"/>
              </a:rPr>
              <a:t>cơ</a:t>
            </a:r>
            <a:r>
              <a:rPr sz="2500" dirty="0">
                <a:latin typeface="+mn-lt"/>
              </a:rPr>
              <a:t> </a:t>
            </a:r>
            <a:r>
              <a:rPr sz="2500" dirty="0" err="1">
                <a:latin typeface="+mn-lt"/>
              </a:rPr>
              <a:t>cấu</a:t>
            </a:r>
            <a:r>
              <a:rPr sz="2500" dirty="0">
                <a:latin typeface="+mn-lt"/>
              </a:rPr>
              <a:t> </a:t>
            </a:r>
            <a:r>
              <a:rPr sz="2500" dirty="0" err="1">
                <a:latin typeface="+mn-lt"/>
              </a:rPr>
              <a:t>doanh</a:t>
            </a:r>
            <a:r>
              <a:rPr sz="2500" dirty="0">
                <a:latin typeface="+mn-lt"/>
              </a:rPr>
              <a:t> </a:t>
            </a:r>
            <a:r>
              <a:rPr sz="2500" dirty="0" err="1">
                <a:latin typeface="+mn-lt"/>
              </a:rPr>
              <a:t>thu</a:t>
            </a:r>
            <a:r>
              <a:rPr sz="2500" dirty="0">
                <a:latin typeface="+mn-lt"/>
              </a:rPr>
              <a:t> </a:t>
            </a:r>
            <a:r>
              <a:rPr sz="2500" dirty="0" err="1">
                <a:latin typeface="+mn-lt"/>
              </a:rPr>
              <a:t>chưa</a:t>
            </a:r>
            <a:r>
              <a:rPr sz="2500" dirty="0">
                <a:latin typeface="+mn-lt"/>
              </a:rPr>
              <a:t> </a:t>
            </a:r>
            <a:r>
              <a:rPr sz="2500" dirty="0" err="1">
                <a:latin typeface="+mn-lt"/>
              </a:rPr>
              <a:t>thực</a:t>
            </a:r>
            <a:r>
              <a:rPr sz="2500" dirty="0">
                <a:latin typeface="+mn-lt"/>
              </a:rPr>
              <a:t> </a:t>
            </a:r>
            <a:r>
              <a:rPr sz="2500" dirty="0" err="1">
                <a:latin typeface="+mn-lt"/>
              </a:rPr>
              <a:t>sự</a:t>
            </a:r>
            <a:r>
              <a:rPr sz="2500" dirty="0">
                <a:latin typeface="+mn-lt"/>
              </a:rPr>
              <a:t> </a:t>
            </a:r>
            <a:r>
              <a:rPr sz="2500" dirty="0" err="1">
                <a:latin typeface="+mn-lt"/>
              </a:rPr>
              <a:t>cân</a:t>
            </a:r>
            <a:r>
              <a:rPr sz="2500" dirty="0">
                <a:latin typeface="+mn-lt"/>
              </a:rPr>
              <a:t> </a:t>
            </a:r>
            <a:r>
              <a:rPr sz="2500" dirty="0" err="1">
                <a:latin typeface="+mn-lt"/>
              </a:rPr>
              <a:t>bằng</a:t>
            </a:r>
            <a:r>
              <a:rPr sz="2500" dirty="0">
                <a:latin typeface="+mn-lt"/>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84930" y="184133"/>
            <a:ext cx="5413293" cy="1211263"/>
          </a:xfrm>
          <a:noFill/>
          <a:ln>
            <a:noFill/>
          </a:ln>
        </p:spPr>
        <p:txBody>
          <a:bodyPr spcFirstLastPara="1" wrap="square" lIns="91425" tIns="91425" rIns="91425" bIns="91425" anchor="t" anchorCtr="0">
            <a:noAutofit/>
          </a:bodyPr>
          <a:lstStyle/>
          <a:p>
            <a:pPr algn="ctr"/>
            <a:r>
              <a:rPr sz="4000" dirty="0" err="1">
                <a:latin typeface="Aptos Display" panose="020B0004020202020204" pitchFamily="34" charset="0"/>
              </a:rPr>
              <a:t>Rủi</a:t>
            </a:r>
            <a:r>
              <a:rPr sz="4000" dirty="0">
                <a:latin typeface="Aptos Display" panose="020B0004020202020204" pitchFamily="34" charset="0"/>
              </a:rPr>
              <a:t> </a:t>
            </a:r>
            <a:r>
              <a:rPr sz="4000" dirty="0" err="1">
                <a:latin typeface="Aptos Display" panose="020B0004020202020204" pitchFamily="34" charset="0"/>
              </a:rPr>
              <a:t>ro</a:t>
            </a:r>
            <a:r>
              <a:rPr sz="4000" dirty="0">
                <a:latin typeface="Aptos Display" panose="020B0004020202020204" pitchFamily="34" charset="0"/>
              </a:rPr>
              <a:t> </a:t>
            </a:r>
            <a:r>
              <a:rPr sz="4000" dirty="0" err="1">
                <a:latin typeface="Aptos Display" panose="020B0004020202020204" pitchFamily="34" charset="0"/>
              </a:rPr>
              <a:t>tiềm</a:t>
            </a:r>
            <a:r>
              <a:rPr sz="4000" dirty="0">
                <a:latin typeface="Aptos Display" panose="020B0004020202020204" pitchFamily="34" charset="0"/>
              </a:rPr>
              <a:t> </a:t>
            </a:r>
            <a:r>
              <a:rPr sz="4000" dirty="0" err="1">
                <a:latin typeface="Aptos Display" panose="020B0004020202020204" pitchFamily="34" charset="0"/>
              </a:rPr>
              <a:t>ẩn</a:t>
            </a:r>
            <a:endParaRPr sz="4000" dirty="0">
              <a:latin typeface="Aptos Display" panose="020B0004020202020204" pitchFamily="34" charset="0"/>
            </a:endParaRPr>
          </a:p>
        </p:txBody>
      </p:sp>
      <p:sp>
        <p:nvSpPr>
          <p:cNvPr id="4" name="Picture Placeholder 3"/>
          <p:cNvSpPr>
            <a:spLocks noGrp="1"/>
          </p:cNvSpPr>
          <p:nvPr>
            <p:ph type="pic" idx="4294967295"/>
          </p:nvPr>
        </p:nvSpPr>
        <p:spPr>
          <a:xfrm>
            <a:off x="319177" y="1144677"/>
            <a:ext cx="8505645" cy="2854145"/>
          </a:xfrm>
          <a:noFill/>
          <a:ln>
            <a:noFill/>
          </a:ln>
        </p:spPr>
        <p:txBody>
          <a:bodyPr/>
          <a:lstStyle/>
          <a:p>
            <a:pPr marL="0" indent="0">
              <a:buNone/>
            </a:pPr>
            <a:r>
              <a:rPr sz="2500" dirty="0" err="1">
                <a:latin typeface="+mn-lt"/>
              </a:rPr>
              <a:t>Mức</a:t>
            </a:r>
            <a:r>
              <a:rPr sz="2500" dirty="0">
                <a:latin typeface="+mn-lt"/>
              </a:rPr>
              <a:t> </a:t>
            </a:r>
            <a:r>
              <a:rPr sz="2500" dirty="0" err="1">
                <a:latin typeface="+mn-lt"/>
              </a:rPr>
              <a:t>độ</a:t>
            </a:r>
            <a:r>
              <a:rPr sz="2500" dirty="0">
                <a:latin typeface="+mn-lt"/>
              </a:rPr>
              <a:t> </a:t>
            </a:r>
            <a:r>
              <a:rPr sz="2500" dirty="0" err="1">
                <a:latin typeface="+mn-lt"/>
              </a:rPr>
              <a:t>tập</a:t>
            </a:r>
            <a:r>
              <a:rPr sz="2500" dirty="0">
                <a:latin typeface="+mn-lt"/>
              </a:rPr>
              <a:t> </a:t>
            </a:r>
            <a:r>
              <a:rPr sz="2500" dirty="0" err="1">
                <a:latin typeface="+mn-lt"/>
              </a:rPr>
              <a:t>trung</a:t>
            </a:r>
            <a:r>
              <a:rPr sz="2500" dirty="0">
                <a:latin typeface="+mn-lt"/>
              </a:rPr>
              <a:t> </a:t>
            </a:r>
            <a:r>
              <a:rPr sz="2500" dirty="0" err="1">
                <a:latin typeface="+mn-lt"/>
              </a:rPr>
              <a:t>doanh</a:t>
            </a:r>
            <a:r>
              <a:rPr sz="2500" dirty="0">
                <a:latin typeface="+mn-lt"/>
              </a:rPr>
              <a:t> </a:t>
            </a:r>
            <a:r>
              <a:rPr sz="2500" dirty="0" err="1">
                <a:latin typeface="+mn-lt"/>
              </a:rPr>
              <a:t>thu</a:t>
            </a:r>
            <a:r>
              <a:rPr sz="2500" dirty="0">
                <a:latin typeface="+mn-lt"/>
              </a:rPr>
              <a:t> </a:t>
            </a:r>
            <a:r>
              <a:rPr sz="2500" dirty="0" err="1">
                <a:latin typeface="+mn-lt"/>
              </a:rPr>
              <a:t>cao</a:t>
            </a:r>
            <a:r>
              <a:rPr sz="2500" dirty="0">
                <a:latin typeface="+mn-lt"/>
              </a:rPr>
              <a:t> </a:t>
            </a:r>
            <a:r>
              <a:rPr sz="2500" dirty="0" err="1">
                <a:latin typeface="+mn-lt"/>
              </a:rPr>
              <a:t>làm</a:t>
            </a:r>
            <a:r>
              <a:rPr sz="2500" dirty="0">
                <a:latin typeface="+mn-lt"/>
              </a:rPr>
              <a:t> </a:t>
            </a:r>
            <a:r>
              <a:rPr sz="2500" dirty="0" err="1">
                <a:latin typeface="+mn-lt"/>
              </a:rPr>
              <a:t>gia</a:t>
            </a:r>
            <a:r>
              <a:rPr sz="2500" dirty="0">
                <a:latin typeface="+mn-lt"/>
              </a:rPr>
              <a:t> </a:t>
            </a:r>
            <a:r>
              <a:rPr sz="2500" dirty="0" err="1">
                <a:latin typeface="+mn-lt"/>
              </a:rPr>
              <a:t>tăng</a:t>
            </a:r>
            <a:r>
              <a:rPr sz="2500" dirty="0">
                <a:latin typeface="+mn-lt"/>
              </a:rPr>
              <a:t> </a:t>
            </a:r>
            <a:r>
              <a:rPr sz="2500" dirty="0" err="1">
                <a:latin typeface="+mn-lt"/>
              </a:rPr>
              <a:t>rủi</a:t>
            </a:r>
            <a:r>
              <a:rPr sz="2500" dirty="0">
                <a:latin typeface="+mn-lt"/>
              </a:rPr>
              <a:t> </a:t>
            </a:r>
            <a:r>
              <a:rPr sz="2500" dirty="0" err="1">
                <a:latin typeface="+mn-lt"/>
              </a:rPr>
              <a:t>ro</a:t>
            </a:r>
            <a:r>
              <a:rPr sz="2500" dirty="0">
                <a:latin typeface="+mn-lt"/>
              </a:rPr>
              <a:t> </a:t>
            </a:r>
            <a:r>
              <a:rPr sz="2500" dirty="0" err="1">
                <a:latin typeface="+mn-lt"/>
              </a:rPr>
              <a:t>khi</a:t>
            </a:r>
            <a:r>
              <a:rPr sz="2500" dirty="0">
                <a:latin typeface="+mn-lt"/>
              </a:rPr>
              <a:t> </a:t>
            </a:r>
            <a:r>
              <a:rPr sz="2500" dirty="0" err="1">
                <a:latin typeface="+mn-lt"/>
              </a:rPr>
              <a:t>mất</a:t>
            </a:r>
            <a:r>
              <a:rPr sz="2500" dirty="0">
                <a:latin typeface="+mn-lt"/>
              </a:rPr>
              <a:t> </a:t>
            </a:r>
            <a:r>
              <a:rPr sz="2500" dirty="0" err="1">
                <a:latin typeface="+mn-lt"/>
              </a:rPr>
              <a:t>khách</a:t>
            </a:r>
            <a:r>
              <a:rPr sz="2500" dirty="0">
                <a:latin typeface="+mn-lt"/>
              </a:rPr>
              <a:t> </a:t>
            </a:r>
            <a:r>
              <a:rPr sz="2500" dirty="0" err="1">
                <a:latin typeface="+mn-lt"/>
              </a:rPr>
              <a:t>hàng</a:t>
            </a:r>
            <a:r>
              <a:rPr sz="2500" dirty="0">
                <a:latin typeface="+mn-lt"/>
              </a:rPr>
              <a:t> </a:t>
            </a:r>
            <a:r>
              <a:rPr sz="2500" dirty="0" err="1">
                <a:latin typeface="+mn-lt"/>
              </a:rPr>
              <a:t>lớn</a:t>
            </a:r>
            <a:r>
              <a:rPr sz="2500" dirty="0">
                <a:latin typeface="+mn-lt"/>
              </a:rPr>
              <a:t> </a:t>
            </a:r>
            <a:r>
              <a:rPr sz="2500" dirty="0" err="1">
                <a:latin typeface="+mn-lt"/>
              </a:rPr>
              <a:t>hoặc</a:t>
            </a:r>
            <a:r>
              <a:rPr sz="2500" dirty="0">
                <a:latin typeface="+mn-lt"/>
              </a:rPr>
              <a:t> </a:t>
            </a:r>
            <a:r>
              <a:rPr sz="2500" dirty="0" err="1">
                <a:latin typeface="+mn-lt"/>
              </a:rPr>
              <a:t>khi</a:t>
            </a:r>
            <a:r>
              <a:rPr sz="2500" dirty="0">
                <a:latin typeface="+mn-lt"/>
              </a:rPr>
              <a:t> </a:t>
            </a:r>
            <a:r>
              <a:rPr sz="2500" dirty="0" err="1">
                <a:latin typeface="+mn-lt"/>
              </a:rPr>
              <a:t>nhu</a:t>
            </a:r>
            <a:r>
              <a:rPr sz="2500" dirty="0">
                <a:latin typeface="+mn-lt"/>
              </a:rPr>
              <a:t> </a:t>
            </a:r>
            <a:r>
              <a:rPr sz="2500" dirty="0" err="1">
                <a:latin typeface="+mn-lt"/>
              </a:rPr>
              <a:t>cầu</a:t>
            </a:r>
            <a:r>
              <a:rPr sz="2500" dirty="0">
                <a:latin typeface="+mn-lt"/>
              </a:rPr>
              <a:t> </a:t>
            </a:r>
            <a:r>
              <a:rPr sz="2500" dirty="0" err="1">
                <a:latin typeface="+mn-lt"/>
              </a:rPr>
              <a:t>sản</a:t>
            </a:r>
            <a:r>
              <a:rPr sz="2500" dirty="0">
                <a:latin typeface="+mn-lt"/>
              </a:rPr>
              <a:t> </a:t>
            </a:r>
            <a:r>
              <a:rPr sz="2500" dirty="0" err="1">
                <a:latin typeface="+mn-lt"/>
              </a:rPr>
              <a:t>phẩm</a:t>
            </a:r>
            <a:r>
              <a:rPr sz="2500" dirty="0">
                <a:latin typeface="+mn-lt"/>
              </a:rPr>
              <a:t> </a:t>
            </a:r>
            <a:r>
              <a:rPr sz="2500" dirty="0" err="1">
                <a:latin typeface="+mn-lt"/>
              </a:rPr>
              <a:t>chủ</a:t>
            </a:r>
            <a:r>
              <a:rPr sz="2500" dirty="0">
                <a:latin typeface="+mn-lt"/>
              </a:rPr>
              <a:t> </a:t>
            </a:r>
            <a:r>
              <a:rPr sz="2500" dirty="0" err="1">
                <a:latin typeface="+mn-lt"/>
              </a:rPr>
              <a:t>lực</a:t>
            </a:r>
            <a:r>
              <a:rPr sz="2500" dirty="0">
                <a:latin typeface="+mn-lt"/>
              </a:rPr>
              <a:t> </a:t>
            </a:r>
            <a:r>
              <a:rPr sz="2500" dirty="0" err="1">
                <a:latin typeface="+mn-lt"/>
              </a:rPr>
              <a:t>suy</a:t>
            </a:r>
            <a:r>
              <a:rPr sz="2500" dirty="0">
                <a:latin typeface="+mn-lt"/>
              </a:rPr>
              <a:t> </a:t>
            </a:r>
            <a:r>
              <a:rPr sz="2500" dirty="0" err="1">
                <a:latin typeface="+mn-lt"/>
              </a:rPr>
              <a:t>giảm</a:t>
            </a:r>
            <a:r>
              <a:rPr sz="2500" dirty="0">
                <a:latin typeface="+mn-lt"/>
              </a:rPr>
              <a:t>. </a:t>
            </a:r>
            <a:endParaRPr lang="en-US" sz="2500" dirty="0">
              <a:latin typeface="+mn-lt"/>
            </a:endParaRPr>
          </a:p>
          <a:p>
            <a:pPr marL="0" indent="0">
              <a:buNone/>
            </a:pPr>
            <a:r>
              <a:rPr sz="2500" dirty="0">
                <a:latin typeface="+mn-lt"/>
              </a:rPr>
              <a:t>Danh </a:t>
            </a:r>
            <a:r>
              <a:rPr sz="2500" dirty="0" err="1">
                <a:latin typeface="+mn-lt"/>
              </a:rPr>
              <a:t>mục</a:t>
            </a:r>
            <a:r>
              <a:rPr sz="2500" dirty="0">
                <a:latin typeface="+mn-lt"/>
              </a:rPr>
              <a:t> </a:t>
            </a:r>
            <a:r>
              <a:rPr sz="2500" dirty="0" err="1">
                <a:latin typeface="+mn-lt"/>
              </a:rPr>
              <a:t>sản</a:t>
            </a:r>
            <a:r>
              <a:rPr sz="2500" dirty="0">
                <a:latin typeface="+mn-lt"/>
              </a:rPr>
              <a:t> </a:t>
            </a:r>
            <a:r>
              <a:rPr sz="2500" dirty="0" err="1">
                <a:latin typeface="+mn-lt"/>
              </a:rPr>
              <a:t>phẩm</a:t>
            </a:r>
            <a:r>
              <a:rPr sz="2500" dirty="0">
                <a:latin typeface="+mn-lt"/>
              </a:rPr>
              <a:t> </a:t>
            </a:r>
            <a:r>
              <a:rPr sz="2500" dirty="0" err="1">
                <a:latin typeface="+mn-lt"/>
              </a:rPr>
              <a:t>phân</a:t>
            </a:r>
            <a:r>
              <a:rPr sz="2500" dirty="0">
                <a:latin typeface="+mn-lt"/>
              </a:rPr>
              <a:t> </a:t>
            </a:r>
            <a:r>
              <a:rPr sz="2500" dirty="0" err="1">
                <a:latin typeface="+mn-lt"/>
              </a:rPr>
              <a:t>tán</a:t>
            </a:r>
            <a:r>
              <a:rPr sz="2500" dirty="0">
                <a:latin typeface="+mn-lt"/>
              </a:rPr>
              <a:t> </a:t>
            </a:r>
            <a:r>
              <a:rPr sz="2500" dirty="0" err="1">
                <a:latin typeface="+mn-lt"/>
              </a:rPr>
              <a:t>với</a:t>
            </a:r>
            <a:r>
              <a:rPr sz="2500" dirty="0">
                <a:latin typeface="+mn-lt"/>
              </a:rPr>
              <a:t> </a:t>
            </a:r>
            <a:r>
              <a:rPr sz="2500" dirty="0" err="1">
                <a:latin typeface="+mn-lt"/>
              </a:rPr>
              <a:t>nhiều</a:t>
            </a:r>
            <a:r>
              <a:rPr sz="2500" dirty="0">
                <a:latin typeface="+mn-lt"/>
              </a:rPr>
              <a:t> </a:t>
            </a:r>
            <a:r>
              <a:rPr sz="2500" dirty="0" err="1">
                <a:latin typeface="+mn-lt"/>
              </a:rPr>
              <a:t>sản</a:t>
            </a:r>
            <a:r>
              <a:rPr sz="2500" dirty="0">
                <a:latin typeface="+mn-lt"/>
              </a:rPr>
              <a:t> </a:t>
            </a:r>
            <a:r>
              <a:rPr sz="2500" dirty="0" err="1">
                <a:latin typeface="+mn-lt"/>
              </a:rPr>
              <a:t>phẩm</a:t>
            </a:r>
            <a:r>
              <a:rPr sz="2500" dirty="0">
                <a:latin typeface="+mn-lt"/>
              </a:rPr>
              <a:t> </a:t>
            </a:r>
            <a:r>
              <a:rPr sz="2500" dirty="0" err="1">
                <a:latin typeface="+mn-lt"/>
              </a:rPr>
              <a:t>hiệu</a:t>
            </a:r>
            <a:r>
              <a:rPr sz="2500" dirty="0">
                <a:latin typeface="+mn-lt"/>
              </a:rPr>
              <a:t> </a:t>
            </a:r>
            <a:r>
              <a:rPr sz="2500" dirty="0" err="1">
                <a:latin typeface="+mn-lt"/>
              </a:rPr>
              <a:t>quả</a:t>
            </a:r>
            <a:r>
              <a:rPr sz="2500" dirty="0">
                <a:latin typeface="+mn-lt"/>
              </a:rPr>
              <a:t> </a:t>
            </a:r>
            <a:r>
              <a:rPr sz="2500" dirty="0" err="1">
                <a:latin typeface="+mn-lt"/>
              </a:rPr>
              <a:t>thấp</a:t>
            </a:r>
            <a:r>
              <a:rPr sz="2500" dirty="0">
                <a:latin typeface="+mn-lt"/>
              </a:rPr>
              <a:t> </a:t>
            </a:r>
            <a:r>
              <a:rPr sz="2500" dirty="0" err="1">
                <a:latin typeface="+mn-lt"/>
              </a:rPr>
              <a:t>có</a:t>
            </a:r>
            <a:r>
              <a:rPr sz="2500" dirty="0">
                <a:latin typeface="+mn-lt"/>
              </a:rPr>
              <a:t> </a:t>
            </a:r>
            <a:r>
              <a:rPr sz="2500" dirty="0" err="1">
                <a:latin typeface="+mn-lt"/>
              </a:rPr>
              <a:t>thể</a:t>
            </a:r>
            <a:r>
              <a:rPr sz="2500" dirty="0">
                <a:latin typeface="+mn-lt"/>
              </a:rPr>
              <a:t> </a:t>
            </a:r>
            <a:r>
              <a:rPr sz="2500" dirty="0" err="1">
                <a:latin typeface="+mn-lt"/>
              </a:rPr>
              <a:t>làm</a:t>
            </a:r>
            <a:r>
              <a:rPr sz="2500" dirty="0">
                <a:latin typeface="+mn-lt"/>
              </a:rPr>
              <a:t> </a:t>
            </a:r>
            <a:r>
              <a:rPr sz="2500" dirty="0" err="1">
                <a:latin typeface="+mn-lt"/>
              </a:rPr>
              <a:t>giảm</a:t>
            </a:r>
            <a:r>
              <a:rPr sz="2500" dirty="0">
                <a:latin typeface="+mn-lt"/>
              </a:rPr>
              <a:t> </a:t>
            </a:r>
            <a:r>
              <a:rPr sz="2500" dirty="0" err="1">
                <a:latin typeface="+mn-lt"/>
              </a:rPr>
              <a:t>hiệu</a:t>
            </a:r>
            <a:r>
              <a:rPr sz="2500" dirty="0">
                <a:latin typeface="+mn-lt"/>
              </a:rPr>
              <a:t> </a:t>
            </a:r>
            <a:r>
              <a:rPr sz="2500" dirty="0" err="1">
                <a:latin typeface="+mn-lt"/>
              </a:rPr>
              <a:t>quả</a:t>
            </a:r>
            <a:r>
              <a:rPr sz="2500" dirty="0">
                <a:latin typeface="+mn-lt"/>
              </a:rPr>
              <a:t> </a:t>
            </a:r>
            <a:r>
              <a:rPr sz="2500" dirty="0" err="1">
                <a:latin typeface="+mn-lt"/>
              </a:rPr>
              <a:t>vận</a:t>
            </a:r>
            <a:r>
              <a:rPr sz="2500" dirty="0">
                <a:latin typeface="+mn-lt"/>
              </a:rPr>
              <a:t> </a:t>
            </a:r>
            <a:r>
              <a:rPr sz="2500" dirty="0" err="1">
                <a:latin typeface="+mn-lt"/>
              </a:rPr>
              <a:t>hành</a:t>
            </a:r>
            <a:r>
              <a:rPr sz="2500" dirty="0">
                <a:latin typeface="+mn-lt"/>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6007CFC-C7C3-142F-1EB2-BC02F468551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BD84250-0C43-25BE-C2CF-A23FC0E92853}"/>
              </a:ext>
            </a:extLst>
          </p:cNvPr>
          <p:cNvSpPr>
            <a:spLocks noGrp="1"/>
          </p:cNvSpPr>
          <p:nvPr>
            <p:ph type="title"/>
          </p:nvPr>
        </p:nvSpPr>
        <p:spPr>
          <a:xfrm>
            <a:off x="2059156" y="742950"/>
            <a:ext cx="6222202" cy="3657600"/>
          </a:xfrm>
          <a:noFill/>
          <a:ln>
            <a:noFill/>
          </a:ln>
        </p:spPr>
        <p:txBody>
          <a:bodyPr spcFirstLastPara="1" wrap="square" lIns="91425" tIns="91425" rIns="91425" bIns="91425" anchor="ctr" anchorCtr="0">
            <a:noAutofit/>
          </a:bodyPr>
          <a:lstStyle/>
          <a:p>
            <a:pPr>
              <a:spcBef>
                <a:spcPts val="300"/>
              </a:spcBef>
              <a:spcAft>
                <a:spcPts val="300"/>
              </a:spcAft>
            </a:pPr>
            <a:r>
              <a:rPr lang="en-US" sz="4000" dirty="0">
                <a:latin typeface="Montserrat" panose="00000500000000000000" pitchFamily="2" charset="0"/>
              </a:rPr>
              <a:t>4.2. PHÂN TÍCH VÀ</a:t>
            </a:r>
            <a:br>
              <a:rPr lang="en-US" sz="4000" dirty="0">
                <a:latin typeface="Montserrat" panose="00000500000000000000" pitchFamily="2" charset="0"/>
              </a:rPr>
            </a:br>
            <a:r>
              <a:rPr lang="en-US" sz="4000" dirty="0">
                <a:latin typeface="Montserrat" panose="00000500000000000000" pitchFamily="2" charset="0"/>
              </a:rPr>
              <a:t> ĐÁNH GIÁ KẾT QUẢ</a:t>
            </a:r>
            <a:br>
              <a:rPr lang="en-US" sz="4000" dirty="0">
                <a:latin typeface="Montserrat" panose="00000500000000000000" pitchFamily="2" charset="0"/>
              </a:rPr>
            </a:br>
            <a:r>
              <a:rPr lang="en-US" sz="4000" dirty="0">
                <a:latin typeface="Montserrat" panose="00000500000000000000" pitchFamily="2" charset="0"/>
              </a:rPr>
              <a:t> DỰ BÁO BẰNG </a:t>
            </a:r>
            <a:br>
              <a:rPr lang="en-US" sz="4000" dirty="0">
                <a:latin typeface="Montserrat" panose="00000500000000000000" pitchFamily="2" charset="0"/>
              </a:rPr>
            </a:br>
            <a:r>
              <a:rPr lang="en-US" sz="4000" dirty="0">
                <a:latin typeface="Montserrat" panose="00000500000000000000" pitchFamily="2" charset="0"/>
              </a:rPr>
              <a:t>MÔ HÌNH SARIMA </a:t>
            </a:r>
          </a:p>
        </p:txBody>
      </p:sp>
    </p:spTree>
    <p:extLst>
      <p:ext uri="{BB962C8B-B14F-4D97-AF65-F5344CB8AC3E}">
        <p14:creationId xmlns="" xmlns:p14="http://schemas.microsoft.com/office/powerpoint/2010/main" val="3697553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5DC0DA3D-89BC-74EE-3549-2F57BF7220DB}"/>
              </a:ext>
            </a:extLst>
          </p:cNvPr>
          <p:cNvPicPr>
            <a:picLocks noChangeAspect="1"/>
          </p:cNvPicPr>
          <p:nvPr/>
        </p:nvPicPr>
        <p:blipFill>
          <a:blip r:embed="rId2"/>
          <a:stretch>
            <a:fillRect/>
          </a:stretch>
        </p:blipFill>
        <p:spPr>
          <a:xfrm>
            <a:off x="258426" y="189780"/>
            <a:ext cx="8627147" cy="3819575"/>
          </a:xfrm>
          <a:prstGeom prst="rect">
            <a:avLst/>
          </a:prstGeom>
        </p:spPr>
      </p:pic>
      <p:sp>
        <p:nvSpPr>
          <p:cNvPr id="4" name="TextBox 3">
            <a:extLst>
              <a:ext uri="{FF2B5EF4-FFF2-40B4-BE49-F238E27FC236}">
                <a16:creationId xmlns="" xmlns:a16="http://schemas.microsoft.com/office/drawing/2014/main" id="{1BB683E8-293D-B18D-1E4C-0591614AA1E0}"/>
              </a:ext>
            </a:extLst>
          </p:cNvPr>
          <p:cNvSpPr txBox="1"/>
          <p:nvPr/>
        </p:nvSpPr>
        <p:spPr>
          <a:xfrm>
            <a:off x="651293" y="4009355"/>
            <a:ext cx="7841411" cy="584775"/>
          </a:xfrm>
          <a:prstGeom prst="rect">
            <a:avLst/>
          </a:prstGeom>
          <a:noFill/>
        </p:spPr>
        <p:txBody>
          <a:bodyPr wrap="square">
            <a:spAutoFit/>
          </a:bodyPr>
          <a:lstStyle/>
          <a:p>
            <a:r>
              <a:rPr lang="vi-VN" sz="1600" dirty="0"/>
              <a:t>Hình 9. Hàm tự tương quan (ACF) và tự tương quan riêng phần (PACF) của</a:t>
            </a:r>
            <a:r>
              <a:rPr lang="en-US" sz="1600" dirty="0"/>
              <a:t> </a:t>
            </a:r>
            <a:r>
              <a:rPr lang="vi-VN" sz="1600" dirty="0"/>
              <a:t>chuỗi doanh thu sau khi sai phâ</a:t>
            </a:r>
            <a:r>
              <a:rPr lang="en-US" sz="1600" dirty="0"/>
              <a:t>n</a:t>
            </a:r>
          </a:p>
        </p:txBody>
      </p:sp>
    </p:spTree>
    <p:extLst>
      <p:ext uri="{BB962C8B-B14F-4D97-AF65-F5344CB8AC3E}">
        <p14:creationId xmlns="" xmlns:p14="http://schemas.microsoft.com/office/powerpoint/2010/main" val="38158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8325" y="346135"/>
            <a:ext cx="8575675" cy="1211263"/>
          </a:xfrm>
          <a:noFill/>
          <a:ln>
            <a:noFill/>
          </a:ln>
        </p:spPr>
        <p:txBody>
          <a:bodyPr spcFirstLastPara="1" wrap="square" lIns="91425" tIns="91425" rIns="91425" bIns="91425" anchor="t" anchorCtr="0">
            <a:noAutofit/>
          </a:bodyPr>
          <a:lstStyle/>
          <a:p>
            <a:pPr algn="ctr"/>
            <a:r>
              <a:rPr lang="en-US" sz="4000" dirty="0">
                <a:latin typeface="Aptos Display" panose="020B0004020202020204" pitchFamily="34" charset="0"/>
              </a:rPr>
              <a:t>B. </a:t>
            </a:r>
            <a:r>
              <a:rPr sz="4000" dirty="0">
                <a:latin typeface="Aptos Display" panose="020B0004020202020204" pitchFamily="34" charset="0"/>
              </a:rPr>
              <a:t>SARIMA – </a:t>
            </a:r>
            <a:r>
              <a:rPr sz="4000" dirty="0" err="1">
                <a:latin typeface="Aptos Display" panose="020B0004020202020204" pitchFamily="34" charset="0"/>
              </a:rPr>
              <a:t>Mô</a:t>
            </a:r>
            <a:r>
              <a:rPr sz="4000" dirty="0">
                <a:latin typeface="Aptos Display" panose="020B0004020202020204" pitchFamily="34" charset="0"/>
              </a:rPr>
              <a:t> </a:t>
            </a:r>
            <a:r>
              <a:rPr sz="4000" dirty="0" err="1">
                <a:latin typeface="Aptos Display" panose="020B0004020202020204" pitchFamily="34" charset="0"/>
              </a:rPr>
              <a:t>hình</a:t>
            </a:r>
            <a:r>
              <a:rPr sz="4000" dirty="0">
                <a:latin typeface="Aptos Display" panose="020B0004020202020204" pitchFamily="34" charset="0"/>
              </a:rPr>
              <a:t> </a:t>
            </a:r>
            <a:r>
              <a:rPr sz="4000" dirty="0" err="1">
                <a:latin typeface="Aptos Display" panose="020B0004020202020204" pitchFamily="34" charset="0"/>
              </a:rPr>
              <a:t>thứ</a:t>
            </a:r>
            <a:r>
              <a:rPr sz="4000" dirty="0">
                <a:latin typeface="Aptos Display" panose="020B0004020202020204" pitchFamily="34" charset="0"/>
              </a:rPr>
              <a:t> </a:t>
            </a:r>
            <a:r>
              <a:rPr sz="4000" dirty="0" err="1">
                <a:latin typeface="Aptos Display" panose="020B0004020202020204" pitchFamily="34" charset="0"/>
              </a:rPr>
              <a:t>nhất</a:t>
            </a:r>
            <a:r>
              <a:rPr sz="4000" dirty="0">
                <a:latin typeface="Aptos Display" panose="020B0004020202020204" pitchFamily="34" charset="0"/>
              </a:rPr>
              <a:t> (</a:t>
            </a:r>
            <a:r>
              <a:rPr sz="4000" dirty="0" err="1">
                <a:latin typeface="Aptos Display" panose="020B0004020202020204" pitchFamily="34" charset="0"/>
              </a:rPr>
              <a:t>Cơ</a:t>
            </a:r>
            <a:r>
              <a:rPr sz="4000" dirty="0">
                <a:latin typeface="Aptos Display" panose="020B0004020202020204" pitchFamily="34" charset="0"/>
              </a:rPr>
              <a:t> </a:t>
            </a:r>
            <a:r>
              <a:rPr sz="4000" dirty="0" err="1">
                <a:latin typeface="Aptos Display" panose="020B0004020202020204" pitchFamily="34" charset="0"/>
              </a:rPr>
              <a:t>sở</a:t>
            </a:r>
            <a:r>
              <a:rPr sz="4000" dirty="0">
                <a:latin typeface="Aptos Display" panose="020B0004020202020204" pitchFamily="34" charset="0"/>
              </a:rPr>
              <a:t>)</a:t>
            </a:r>
          </a:p>
        </p:txBody>
      </p:sp>
      <p:sp>
        <p:nvSpPr>
          <p:cNvPr id="4" name="Picture Placeholder 3"/>
          <p:cNvSpPr>
            <a:spLocks noGrp="1"/>
          </p:cNvSpPr>
          <p:nvPr>
            <p:ph type="pic" idx="4294967295"/>
          </p:nvPr>
        </p:nvSpPr>
        <p:spPr>
          <a:xfrm>
            <a:off x="529578" y="1978403"/>
            <a:ext cx="8007350" cy="1834181"/>
          </a:xfrm>
          <a:noFill/>
          <a:ln>
            <a:noFill/>
          </a:ln>
        </p:spPr>
        <p:txBody>
          <a:bodyPr/>
          <a:lstStyle/>
          <a:p>
            <a:pPr marL="0" indent="0">
              <a:buNone/>
            </a:pPr>
            <a:r>
              <a:rPr sz="2500" dirty="0" err="1">
                <a:latin typeface="+mn-lt"/>
              </a:rPr>
              <a:t>Mô</a:t>
            </a:r>
            <a:r>
              <a:rPr sz="2500" dirty="0">
                <a:latin typeface="+mn-lt"/>
              </a:rPr>
              <a:t> </a:t>
            </a:r>
            <a:r>
              <a:rPr sz="2500" dirty="0" err="1">
                <a:latin typeface="+mn-lt"/>
              </a:rPr>
              <a:t>hình</a:t>
            </a:r>
            <a:r>
              <a:rPr sz="2500" dirty="0">
                <a:latin typeface="+mn-lt"/>
              </a:rPr>
              <a:t> </a:t>
            </a:r>
            <a:r>
              <a:rPr sz="2500" dirty="0" err="1">
                <a:latin typeface="+mn-lt"/>
              </a:rPr>
              <a:t>cơ</a:t>
            </a:r>
            <a:r>
              <a:rPr sz="2500" dirty="0">
                <a:latin typeface="+mn-lt"/>
              </a:rPr>
              <a:t> </a:t>
            </a:r>
            <a:r>
              <a:rPr sz="2500" dirty="0" err="1">
                <a:latin typeface="+mn-lt"/>
              </a:rPr>
              <a:t>sở</a:t>
            </a:r>
            <a:r>
              <a:rPr sz="2500" dirty="0">
                <a:latin typeface="+mn-lt"/>
              </a:rPr>
              <a:t> </a:t>
            </a:r>
            <a:r>
              <a:rPr sz="2500" dirty="0" err="1">
                <a:latin typeface="+mn-lt"/>
              </a:rPr>
              <a:t>có</a:t>
            </a:r>
            <a:r>
              <a:rPr sz="2500" dirty="0">
                <a:latin typeface="+mn-lt"/>
              </a:rPr>
              <a:t> </a:t>
            </a:r>
            <a:r>
              <a:rPr sz="2500" dirty="0" err="1">
                <a:latin typeface="+mn-lt"/>
              </a:rPr>
              <a:t>cấu</a:t>
            </a:r>
            <a:r>
              <a:rPr sz="2500" dirty="0">
                <a:latin typeface="+mn-lt"/>
              </a:rPr>
              <a:t> </a:t>
            </a:r>
            <a:r>
              <a:rPr sz="2500" dirty="0" err="1">
                <a:latin typeface="+mn-lt"/>
              </a:rPr>
              <a:t>trúc</a:t>
            </a:r>
            <a:r>
              <a:rPr sz="2500" dirty="0">
                <a:latin typeface="+mn-lt"/>
              </a:rPr>
              <a:t> </a:t>
            </a:r>
            <a:r>
              <a:rPr sz="2500" dirty="0" err="1">
                <a:latin typeface="+mn-lt"/>
              </a:rPr>
              <a:t>gọn</a:t>
            </a:r>
            <a:r>
              <a:rPr sz="2500" dirty="0">
                <a:latin typeface="+mn-lt"/>
              </a:rPr>
              <a:t> </a:t>
            </a:r>
            <a:r>
              <a:rPr sz="2500" dirty="0" err="1">
                <a:latin typeface="+mn-lt"/>
              </a:rPr>
              <a:t>nhẹ</a:t>
            </a:r>
            <a:r>
              <a:rPr sz="2500" dirty="0">
                <a:latin typeface="+mn-lt"/>
              </a:rPr>
              <a:t>, </a:t>
            </a:r>
            <a:r>
              <a:rPr sz="2500" dirty="0" err="1">
                <a:latin typeface="+mn-lt"/>
              </a:rPr>
              <a:t>tập</a:t>
            </a:r>
            <a:r>
              <a:rPr sz="2500" dirty="0">
                <a:latin typeface="+mn-lt"/>
              </a:rPr>
              <a:t> </a:t>
            </a:r>
            <a:r>
              <a:rPr sz="2500" dirty="0" err="1">
                <a:latin typeface="+mn-lt"/>
              </a:rPr>
              <a:t>trung</a:t>
            </a:r>
            <a:r>
              <a:rPr sz="2500" dirty="0">
                <a:latin typeface="+mn-lt"/>
              </a:rPr>
              <a:t> </a:t>
            </a:r>
            <a:r>
              <a:rPr sz="2500" dirty="0" err="1">
                <a:latin typeface="+mn-lt"/>
              </a:rPr>
              <a:t>nắm</a:t>
            </a:r>
            <a:r>
              <a:rPr sz="2500" dirty="0">
                <a:latin typeface="+mn-lt"/>
              </a:rPr>
              <a:t> </a:t>
            </a:r>
            <a:r>
              <a:rPr sz="2500" dirty="0" err="1">
                <a:latin typeface="+mn-lt"/>
              </a:rPr>
              <a:t>bắt</a:t>
            </a:r>
            <a:r>
              <a:rPr sz="2500" dirty="0">
                <a:latin typeface="+mn-lt"/>
              </a:rPr>
              <a:t> xu </a:t>
            </a:r>
            <a:r>
              <a:rPr sz="2500" dirty="0" err="1">
                <a:latin typeface="+mn-lt"/>
              </a:rPr>
              <a:t>hướng</a:t>
            </a:r>
            <a:r>
              <a:rPr sz="2500" dirty="0">
                <a:latin typeface="+mn-lt"/>
              </a:rPr>
              <a:t> </a:t>
            </a:r>
            <a:r>
              <a:rPr sz="2500" dirty="0" err="1">
                <a:latin typeface="+mn-lt"/>
              </a:rPr>
              <a:t>chung</a:t>
            </a:r>
            <a:r>
              <a:rPr sz="2500" dirty="0">
                <a:latin typeface="+mn-lt"/>
              </a:rPr>
              <a:t> </a:t>
            </a:r>
            <a:r>
              <a:rPr sz="2500" dirty="0" err="1">
                <a:latin typeface="+mn-lt"/>
              </a:rPr>
              <a:t>và</a:t>
            </a:r>
            <a:r>
              <a:rPr sz="2500" dirty="0">
                <a:latin typeface="+mn-lt"/>
              </a:rPr>
              <a:t> </a:t>
            </a:r>
            <a:r>
              <a:rPr sz="2500" dirty="0" err="1">
                <a:latin typeface="+mn-lt"/>
              </a:rPr>
              <a:t>mùa</a:t>
            </a:r>
            <a:r>
              <a:rPr sz="2500" dirty="0">
                <a:latin typeface="+mn-lt"/>
              </a:rPr>
              <a:t> </a:t>
            </a:r>
            <a:r>
              <a:rPr sz="2500" dirty="0" err="1">
                <a:latin typeface="+mn-lt"/>
              </a:rPr>
              <a:t>vụ</a:t>
            </a:r>
            <a:r>
              <a:rPr sz="2500" dirty="0">
                <a:latin typeface="+mn-lt"/>
              </a:rPr>
              <a:t> </a:t>
            </a:r>
            <a:r>
              <a:rPr sz="2500" dirty="0" err="1">
                <a:latin typeface="+mn-lt"/>
              </a:rPr>
              <a:t>cơ</a:t>
            </a:r>
            <a:r>
              <a:rPr sz="2500" dirty="0">
                <a:latin typeface="+mn-lt"/>
              </a:rPr>
              <a:t> </a:t>
            </a:r>
            <a:r>
              <a:rPr sz="2500" dirty="0" err="1">
                <a:latin typeface="+mn-lt"/>
              </a:rPr>
              <a:t>bản</a:t>
            </a:r>
            <a:r>
              <a:rPr sz="2500" dirty="0">
                <a:latin typeface="+mn-lt"/>
              </a:rPr>
              <a:t>. </a:t>
            </a:r>
            <a:r>
              <a:rPr sz="2500" dirty="0" err="1">
                <a:latin typeface="+mn-lt"/>
              </a:rPr>
              <a:t>Phù</a:t>
            </a:r>
            <a:r>
              <a:rPr sz="2500" dirty="0">
                <a:latin typeface="+mn-lt"/>
              </a:rPr>
              <a:t> </a:t>
            </a:r>
            <a:r>
              <a:rPr sz="2500" dirty="0" err="1">
                <a:latin typeface="+mn-lt"/>
              </a:rPr>
              <a:t>hợp</a:t>
            </a:r>
            <a:r>
              <a:rPr sz="2500" dirty="0">
                <a:latin typeface="+mn-lt"/>
              </a:rPr>
              <a:t> </a:t>
            </a:r>
            <a:r>
              <a:rPr sz="2500" dirty="0" err="1">
                <a:latin typeface="+mn-lt"/>
              </a:rPr>
              <a:t>để</a:t>
            </a:r>
            <a:r>
              <a:rPr sz="2500" dirty="0">
                <a:latin typeface="+mn-lt"/>
              </a:rPr>
              <a:t> </a:t>
            </a:r>
            <a:r>
              <a:rPr sz="2500" dirty="0" err="1">
                <a:latin typeface="+mn-lt"/>
              </a:rPr>
              <a:t>mô</a:t>
            </a:r>
            <a:r>
              <a:rPr sz="2500" dirty="0">
                <a:latin typeface="+mn-lt"/>
              </a:rPr>
              <a:t> </a:t>
            </a:r>
            <a:r>
              <a:rPr sz="2500" dirty="0" err="1">
                <a:latin typeface="+mn-lt"/>
              </a:rPr>
              <a:t>tả</a:t>
            </a:r>
            <a:r>
              <a:rPr sz="2500" dirty="0">
                <a:latin typeface="+mn-lt"/>
              </a:rPr>
              <a:t> </a:t>
            </a:r>
            <a:r>
              <a:rPr sz="2500" dirty="0" err="1">
                <a:latin typeface="+mn-lt"/>
              </a:rPr>
              <a:t>tổng</a:t>
            </a:r>
            <a:r>
              <a:rPr sz="2500" dirty="0">
                <a:latin typeface="+mn-lt"/>
              </a:rPr>
              <a:t> </a:t>
            </a:r>
            <a:r>
              <a:rPr sz="2500" dirty="0" err="1">
                <a:latin typeface="+mn-lt"/>
              </a:rPr>
              <a:t>thể</a:t>
            </a:r>
            <a:r>
              <a:rPr sz="2500" dirty="0">
                <a:latin typeface="+mn-lt"/>
              </a:rPr>
              <a:t> </a:t>
            </a:r>
            <a:r>
              <a:rPr sz="2500" dirty="0" err="1">
                <a:latin typeface="+mn-lt"/>
              </a:rPr>
              <a:t>nhưng</a:t>
            </a:r>
            <a:r>
              <a:rPr sz="2500" dirty="0">
                <a:latin typeface="+mn-lt"/>
              </a:rPr>
              <a:t> </a:t>
            </a:r>
            <a:r>
              <a:rPr sz="2500" dirty="0" err="1">
                <a:latin typeface="+mn-lt"/>
              </a:rPr>
              <a:t>còn</a:t>
            </a:r>
            <a:r>
              <a:rPr sz="2500" dirty="0">
                <a:latin typeface="+mn-lt"/>
              </a:rPr>
              <a:t> </a:t>
            </a:r>
            <a:r>
              <a:rPr sz="2500" dirty="0" err="1">
                <a:latin typeface="+mn-lt"/>
              </a:rPr>
              <a:t>hạn</a:t>
            </a:r>
            <a:r>
              <a:rPr sz="2500" dirty="0">
                <a:latin typeface="+mn-lt"/>
              </a:rPr>
              <a:t> </a:t>
            </a:r>
            <a:r>
              <a:rPr sz="2500" dirty="0" err="1">
                <a:latin typeface="+mn-lt"/>
              </a:rPr>
              <a:t>chế</a:t>
            </a:r>
            <a:r>
              <a:rPr sz="2500" dirty="0">
                <a:latin typeface="+mn-lt"/>
              </a:rPr>
              <a:t> </a:t>
            </a:r>
            <a:r>
              <a:rPr sz="2500" dirty="0" err="1">
                <a:latin typeface="+mn-lt"/>
              </a:rPr>
              <a:t>trong</a:t>
            </a:r>
            <a:r>
              <a:rPr sz="2500" dirty="0">
                <a:latin typeface="+mn-lt"/>
              </a:rPr>
              <a:t> </a:t>
            </a:r>
            <a:r>
              <a:rPr sz="2500" dirty="0" err="1">
                <a:latin typeface="+mn-lt"/>
              </a:rPr>
              <a:t>các</a:t>
            </a:r>
            <a:r>
              <a:rPr sz="2500" dirty="0">
                <a:latin typeface="+mn-lt"/>
              </a:rPr>
              <a:t> </a:t>
            </a:r>
            <a:r>
              <a:rPr sz="2500" dirty="0" err="1">
                <a:latin typeface="+mn-lt"/>
              </a:rPr>
              <a:t>giai</a:t>
            </a:r>
            <a:r>
              <a:rPr sz="2500" dirty="0">
                <a:latin typeface="+mn-lt"/>
              </a:rPr>
              <a:t> </a:t>
            </a:r>
            <a:r>
              <a:rPr sz="2500" dirty="0" err="1">
                <a:latin typeface="+mn-lt"/>
              </a:rPr>
              <a:t>đoạn</a:t>
            </a:r>
            <a:r>
              <a:rPr sz="2500" dirty="0">
                <a:latin typeface="+mn-lt"/>
              </a:rPr>
              <a:t> </a:t>
            </a:r>
            <a:r>
              <a:rPr sz="2500" dirty="0" err="1">
                <a:latin typeface="+mn-lt"/>
              </a:rPr>
              <a:t>biến</a:t>
            </a:r>
            <a:r>
              <a:rPr sz="2500" dirty="0">
                <a:latin typeface="+mn-lt"/>
              </a:rPr>
              <a:t> </a:t>
            </a:r>
            <a:r>
              <a:rPr sz="2500" dirty="0" err="1">
                <a:latin typeface="+mn-lt"/>
              </a:rPr>
              <a:t>động</a:t>
            </a:r>
            <a:r>
              <a:rPr sz="2500" dirty="0">
                <a:latin typeface="+mn-lt"/>
              </a:rPr>
              <a:t> </a:t>
            </a:r>
            <a:r>
              <a:rPr sz="2500" dirty="0" err="1">
                <a:latin typeface="+mn-lt"/>
              </a:rPr>
              <a:t>mạnh</a:t>
            </a:r>
            <a:r>
              <a:rPr sz="2500" dirty="0">
                <a:latin typeface="+mn-lt"/>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C3C05062-8AAF-9D7B-FCAD-15E51BA9B41B}"/>
              </a:ext>
            </a:extLst>
          </p:cNvPr>
          <p:cNvPicPr>
            <a:picLocks noChangeAspect="1"/>
          </p:cNvPicPr>
          <p:nvPr/>
        </p:nvPicPr>
        <p:blipFill>
          <a:blip r:embed="rId2"/>
          <a:stretch>
            <a:fillRect/>
          </a:stretch>
        </p:blipFill>
        <p:spPr>
          <a:xfrm>
            <a:off x="0" y="413304"/>
            <a:ext cx="9023230" cy="3850850"/>
          </a:xfrm>
          <a:prstGeom prst="rect">
            <a:avLst/>
          </a:prstGeom>
        </p:spPr>
      </p:pic>
      <p:sp>
        <p:nvSpPr>
          <p:cNvPr id="4" name="TextBox 3">
            <a:extLst>
              <a:ext uri="{FF2B5EF4-FFF2-40B4-BE49-F238E27FC236}">
                <a16:creationId xmlns="" xmlns:a16="http://schemas.microsoft.com/office/drawing/2014/main" id="{3926B594-60A6-BF27-6D64-BDADAD8B50C6}"/>
              </a:ext>
            </a:extLst>
          </p:cNvPr>
          <p:cNvSpPr txBox="1"/>
          <p:nvPr/>
        </p:nvSpPr>
        <p:spPr>
          <a:xfrm>
            <a:off x="491704" y="4258518"/>
            <a:ext cx="7599873" cy="338554"/>
          </a:xfrm>
          <a:prstGeom prst="rect">
            <a:avLst/>
          </a:prstGeom>
          <a:noFill/>
        </p:spPr>
        <p:txBody>
          <a:bodyPr wrap="square">
            <a:spAutoFit/>
          </a:bodyPr>
          <a:lstStyle/>
          <a:p>
            <a:r>
              <a:rPr lang="en-US" sz="1600" dirty="0" err="1"/>
              <a:t>Hình</a:t>
            </a:r>
            <a:r>
              <a:rPr lang="en-US" sz="1600" dirty="0"/>
              <a:t> 10. </a:t>
            </a:r>
            <a:r>
              <a:rPr lang="en-US" sz="1600" dirty="0" err="1"/>
              <a:t>Kết</a:t>
            </a:r>
            <a:r>
              <a:rPr lang="en-US" sz="1600" dirty="0"/>
              <a:t> </a:t>
            </a:r>
            <a:r>
              <a:rPr lang="en-US" sz="1600" dirty="0" err="1"/>
              <a:t>quả</a:t>
            </a:r>
            <a:r>
              <a:rPr lang="en-US" sz="1600" dirty="0"/>
              <a:t> </a:t>
            </a:r>
            <a:r>
              <a:rPr lang="en-US" sz="1600" dirty="0" err="1"/>
              <a:t>dự</a:t>
            </a:r>
            <a:r>
              <a:rPr lang="en-US" sz="1600" dirty="0"/>
              <a:t> </a:t>
            </a:r>
            <a:r>
              <a:rPr lang="en-US" sz="1600" dirty="0" err="1"/>
              <a:t>báo</a:t>
            </a:r>
            <a:r>
              <a:rPr lang="en-US" sz="1600" dirty="0"/>
              <a:t> </a:t>
            </a:r>
            <a:r>
              <a:rPr lang="en-US" sz="1600" dirty="0" err="1"/>
              <a:t>doanh</a:t>
            </a:r>
            <a:r>
              <a:rPr lang="en-US" sz="1600" dirty="0"/>
              <a:t> </a:t>
            </a:r>
            <a:r>
              <a:rPr lang="en-US" sz="1600" dirty="0" err="1"/>
              <a:t>thu</a:t>
            </a:r>
            <a:r>
              <a:rPr lang="en-US" sz="1600" dirty="0"/>
              <a:t> </a:t>
            </a:r>
            <a:r>
              <a:rPr lang="en-US" sz="1600" dirty="0" err="1"/>
              <a:t>ngắn</a:t>
            </a:r>
            <a:r>
              <a:rPr lang="en-US" sz="1600" dirty="0"/>
              <a:t> </a:t>
            </a:r>
            <a:r>
              <a:rPr lang="en-US" sz="1600" dirty="0" err="1"/>
              <a:t>hạn</a:t>
            </a:r>
            <a:r>
              <a:rPr lang="en-US" sz="1600" dirty="0"/>
              <a:t> </a:t>
            </a:r>
            <a:r>
              <a:rPr lang="en-US" sz="1600" dirty="0" err="1"/>
              <a:t>bằng</a:t>
            </a:r>
            <a:r>
              <a:rPr lang="en-US" sz="1600" dirty="0"/>
              <a:t> </a:t>
            </a:r>
            <a:r>
              <a:rPr lang="en-US" sz="1600" dirty="0" err="1"/>
              <a:t>mô</a:t>
            </a:r>
            <a:r>
              <a:rPr lang="en-US" sz="1600" dirty="0"/>
              <a:t> </a:t>
            </a:r>
            <a:r>
              <a:rPr lang="en-US" sz="1600" dirty="0" err="1"/>
              <a:t>hình</a:t>
            </a:r>
            <a:r>
              <a:rPr lang="en-US" sz="1600" dirty="0"/>
              <a:t> SARIMA </a:t>
            </a:r>
            <a:r>
              <a:rPr lang="en-US" sz="1600" dirty="0" err="1"/>
              <a:t>thứ</a:t>
            </a:r>
            <a:r>
              <a:rPr lang="en-US" sz="1600" dirty="0"/>
              <a:t> </a:t>
            </a:r>
            <a:r>
              <a:rPr lang="en-US" sz="1600" dirty="0" err="1"/>
              <a:t>nhất</a:t>
            </a:r>
            <a:endParaRPr lang="en-US" sz="1600" dirty="0"/>
          </a:p>
        </p:txBody>
      </p:sp>
    </p:spTree>
    <p:extLst>
      <p:ext uri="{BB962C8B-B14F-4D97-AF65-F5344CB8AC3E}">
        <p14:creationId xmlns="" xmlns:p14="http://schemas.microsoft.com/office/powerpoint/2010/main" val="39285232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45056" y="259871"/>
            <a:ext cx="8453886" cy="1211263"/>
          </a:xfrm>
          <a:noFill/>
          <a:ln>
            <a:noFill/>
          </a:ln>
        </p:spPr>
        <p:txBody>
          <a:bodyPr spcFirstLastPara="1" wrap="square" lIns="91425" tIns="91425" rIns="91425" bIns="91425" anchor="t" anchorCtr="0">
            <a:noAutofit/>
          </a:bodyPr>
          <a:lstStyle/>
          <a:p>
            <a:pPr algn="ctr"/>
            <a:r>
              <a:rPr sz="3600" dirty="0">
                <a:latin typeface="Aptos Display" panose="020B0004020202020204" pitchFamily="34" charset="0"/>
              </a:rPr>
              <a:t>SARIMA – </a:t>
            </a:r>
            <a:r>
              <a:rPr sz="3600" dirty="0" err="1">
                <a:latin typeface="Aptos Display" panose="020B0004020202020204" pitchFamily="34" charset="0"/>
              </a:rPr>
              <a:t>Mô</a:t>
            </a:r>
            <a:r>
              <a:rPr sz="3600" dirty="0">
                <a:latin typeface="Aptos Display" panose="020B0004020202020204" pitchFamily="34" charset="0"/>
              </a:rPr>
              <a:t> </a:t>
            </a:r>
            <a:r>
              <a:rPr sz="3600" dirty="0" err="1">
                <a:latin typeface="Aptos Display" panose="020B0004020202020204" pitchFamily="34" charset="0"/>
              </a:rPr>
              <a:t>hình</a:t>
            </a:r>
            <a:r>
              <a:rPr sz="3600" dirty="0">
                <a:latin typeface="Aptos Display" panose="020B0004020202020204" pitchFamily="34" charset="0"/>
              </a:rPr>
              <a:t> </a:t>
            </a:r>
            <a:r>
              <a:rPr sz="3600" dirty="0" err="1">
                <a:latin typeface="Aptos Display" panose="020B0004020202020204" pitchFamily="34" charset="0"/>
              </a:rPr>
              <a:t>thứ</a:t>
            </a:r>
            <a:r>
              <a:rPr sz="3600" dirty="0">
                <a:latin typeface="Aptos Display" panose="020B0004020202020204" pitchFamily="34" charset="0"/>
              </a:rPr>
              <a:t> </a:t>
            </a:r>
            <a:r>
              <a:rPr sz="3600" dirty="0" err="1">
                <a:latin typeface="Aptos Display" panose="020B0004020202020204" pitchFamily="34" charset="0"/>
              </a:rPr>
              <a:t>hai</a:t>
            </a:r>
            <a:r>
              <a:rPr sz="3600" dirty="0">
                <a:latin typeface="Aptos Display" panose="020B0004020202020204" pitchFamily="34" charset="0"/>
              </a:rPr>
              <a:t> (</a:t>
            </a:r>
            <a:r>
              <a:rPr sz="3600" dirty="0" err="1">
                <a:latin typeface="Aptos Display" panose="020B0004020202020204" pitchFamily="34" charset="0"/>
              </a:rPr>
              <a:t>Cải</a:t>
            </a:r>
            <a:r>
              <a:rPr sz="3600" dirty="0">
                <a:latin typeface="Aptos Display" panose="020B0004020202020204" pitchFamily="34" charset="0"/>
              </a:rPr>
              <a:t> </a:t>
            </a:r>
            <a:r>
              <a:rPr sz="3600" dirty="0" err="1">
                <a:latin typeface="Aptos Display" panose="020B0004020202020204" pitchFamily="34" charset="0"/>
              </a:rPr>
              <a:t>tiến</a:t>
            </a:r>
            <a:r>
              <a:rPr sz="3600" dirty="0">
                <a:latin typeface="Aptos Display" panose="020B0004020202020204" pitchFamily="34" charset="0"/>
              </a:rPr>
              <a:t>)</a:t>
            </a:r>
          </a:p>
        </p:txBody>
      </p:sp>
      <p:sp>
        <p:nvSpPr>
          <p:cNvPr id="4" name="Picture Placeholder 3"/>
          <p:cNvSpPr>
            <a:spLocks noGrp="1"/>
          </p:cNvSpPr>
          <p:nvPr>
            <p:ph type="pic" idx="4294967295"/>
          </p:nvPr>
        </p:nvSpPr>
        <p:spPr>
          <a:xfrm>
            <a:off x="345055" y="1367616"/>
            <a:ext cx="8453887" cy="1530590"/>
          </a:xfrm>
          <a:noFill/>
          <a:ln>
            <a:noFill/>
          </a:ln>
        </p:spPr>
        <p:txBody>
          <a:bodyPr/>
          <a:lstStyle/>
          <a:p>
            <a:pPr marL="0" indent="0">
              <a:buNone/>
            </a:pPr>
            <a:r>
              <a:rPr sz="2500" dirty="0" err="1">
                <a:latin typeface="+mn-lt"/>
              </a:rPr>
              <a:t>Mô</a:t>
            </a:r>
            <a:r>
              <a:rPr sz="2500" dirty="0">
                <a:latin typeface="+mn-lt"/>
              </a:rPr>
              <a:t> </a:t>
            </a:r>
            <a:r>
              <a:rPr sz="2500" dirty="0" err="1">
                <a:latin typeface="+mn-lt"/>
              </a:rPr>
              <a:t>hình</a:t>
            </a:r>
            <a:r>
              <a:rPr sz="2500" dirty="0">
                <a:latin typeface="+mn-lt"/>
              </a:rPr>
              <a:t> </a:t>
            </a:r>
            <a:r>
              <a:rPr sz="2500" dirty="0" err="1">
                <a:latin typeface="+mn-lt"/>
              </a:rPr>
              <a:t>cải</a:t>
            </a:r>
            <a:r>
              <a:rPr sz="2500" dirty="0">
                <a:latin typeface="+mn-lt"/>
              </a:rPr>
              <a:t> </a:t>
            </a:r>
            <a:r>
              <a:rPr sz="2500" dirty="0" err="1">
                <a:latin typeface="+mn-lt"/>
              </a:rPr>
              <a:t>tiến</a:t>
            </a:r>
            <a:r>
              <a:rPr sz="2500" dirty="0">
                <a:latin typeface="+mn-lt"/>
              </a:rPr>
              <a:t> </a:t>
            </a:r>
            <a:r>
              <a:rPr sz="2500" dirty="0" err="1">
                <a:latin typeface="+mn-lt"/>
              </a:rPr>
              <a:t>điều</a:t>
            </a:r>
            <a:r>
              <a:rPr sz="2500" dirty="0">
                <a:latin typeface="+mn-lt"/>
              </a:rPr>
              <a:t> </a:t>
            </a:r>
            <a:r>
              <a:rPr sz="2500" dirty="0" err="1">
                <a:latin typeface="+mn-lt"/>
              </a:rPr>
              <a:t>chỉnh</a:t>
            </a:r>
            <a:r>
              <a:rPr sz="2500" dirty="0">
                <a:latin typeface="+mn-lt"/>
              </a:rPr>
              <a:t> </a:t>
            </a:r>
            <a:r>
              <a:rPr sz="2500" dirty="0" err="1">
                <a:latin typeface="+mn-lt"/>
              </a:rPr>
              <a:t>tham</a:t>
            </a:r>
            <a:r>
              <a:rPr sz="2500" dirty="0">
                <a:latin typeface="+mn-lt"/>
              </a:rPr>
              <a:t> </a:t>
            </a:r>
            <a:r>
              <a:rPr sz="2500" dirty="0" err="1">
                <a:latin typeface="+mn-lt"/>
              </a:rPr>
              <a:t>số</a:t>
            </a:r>
            <a:r>
              <a:rPr sz="2500" dirty="0">
                <a:latin typeface="+mn-lt"/>
              </a:rPr>
              <a:t> </a:t>
            </a:r>
            <a:r>
              <a:rPr sz="2500" dirty="0" err="1">
                <a:latin typeface="+mn-lt"/>
              </a:rPr>
              <a:t>để</a:t>
            </a:r>
            <a:r>
              <a:rPr sz="2500" dirty="0">
                <a:latin typeface="+mn-lt"/>
              </a:rPr>
              <a:t> </a:t>
            </a:r>
            <a:r>
              <a:rPr sz="2500" dirty="0" err="1">
                <a:latin typeface="+mn-lt"/>
              </a:rPr>
              <a:t>phản</a:t>
            </a:r>
            <a:r>
              <a:rPr sz="2500" dirty="0">
                <a:latin typeface="+mn-lt"/>
              </a:rPr>
              <a:t> </a:t>
            </a:r>
            <a:r>
              <a:rPr sz="2500" dirty="0" err="1">
                <a:latin typeface="+mn-lt"/>
              </a:rPr>
              <a:t>ánh</a:t>
            </a:r>
            <a:r>
              <a:rPr sz="2500" dirty="0">
                <a:latin typeface="+mn-lt"/>
              </a:rPr>
              <a:t> </a:t>
            </a:r>
            <a:r>
              <a:rPr sz="2500" dirty="0" err="1">
                <a:latin typeface="+mn-lt"/>
              </a:rPr>
              <a:t>tốt</a:t>
            </a:r>
            <a:r>
              <a:rPr sz="2500" dirty="0">
                <a:latin typeface="+mn-lt"/>
              </a:rPr>
              <a:t> </a:t>
            </a:r>
            <a:r>
              <a:rPr sz="2500" dirty="0" err="1">
                <a:latin typeface="+mn-lt"/>
              </a:rPr>
              <a:t>hơn</a:t>
            </a:r>
            <a:r>
              <a:rPr sz="2500" dirty="0">
                <a:latin typeface="+mn-lt"/>
              </a:rPr>
              <a:t> dao </a:t>
            </a:r>
            <a:r>
              <a:rPr sz="2500" dirty="0" err="1">
                <a:latin typeface="+mn-lt"/>
              </a:rPr>
              <a:t>động</a:t>
            </a:r>
            <a:r>
              <a:rPr sz="2500" dirty="0">
                <a:latin typeface="+mn-lt"/>
              </a:rPr>
              <a:t> </a:t>
            </a:r>
            <a:r>
              <a:rPr sz="2500" dirty="0" err="1">
                <a:latin typeface="+mn-lt"/>
              </a:rPr>
              <a:t>ngắn</a:t>
            </a:r>
            <a:r>
              <a:rPr sz="2500" dirty="0">
                <a:latin typeface="+mn-lt"/>
              </a:rPr>
              <a:t> </a:t>
            </a:r>
            <a:r>
              <a:rPr sz="2500" dirty="0" err="1">
                <a:latin typeface="+mn-lt"/>
              </a:rPr>
              <a:t>hạn</a:t>
            </a:r>
            <a:r>
              <a:rPr sz="2500" dirty="0">
                <a:latin typeface="+mn-lt"/>
              </a:rPr>
              <a:t> </a:t>
            </a:r>
            <a:r>
              <a:rPr sz="2500" dirty="0" err="1">
                <a:latin typeface="+mn-lt"/>
              </a:rPr>
              <a:t>và</a:t>
            </a:r>
            <a:r>
              <a:rPr sz="2500" dirty="0">
                <a:latin typeface="+mn-lt"/>
              </a:rPr>
              <a:t> </a:t>
            </a:r>
            <a:r>
              <a:rPr sz="2500" dirty="0" err="1">
                <a:latin typeface="+mn-lt"/>
              </a:rPr>
              <a:t>mùa</a:t>
            </a:r>
            <a:r>
              <a:rPr sz="2500" dirty="0">
                <a:latin typeface="+mn-lt"/>
              </a:rPr>
              <a:t> </a:t>
            </a:r>
            <a:r>
              <a:rPr sz="2500" dirty="0" err="1">
                <a:latin typeface="+mn-lt"/>
              </a:rPr>
              <a:t>vụ</a:t>
            </a:r>
            <a:r>
              <a:rPr sz="2500" dirty="0">
                <a:latin typeface="+mn-lt"/>
              </a:rPr>
              <a:t> </a:t>
            </a:r>
            <a:r>
              <a:rPr sz="2500" dirty="0" err="1">
                <a:latin typeface="+mn-lt"/>
              </a:rPr>
              <a:t>phức</a:t>
            </a:r>
            <a:r>
              <a:rPr sz="2500" dirty="0">
                <a:latin typeface="+mn-lt"/>
              </a:rPr>
              <a:t> </a:t>
            </a:r>
            <a:r>
              <a:rPr sz="2500" dirty="0" err="1">
                <a:latin typeface="+mn-lt"/>
              </a:rPr>
              <a:t>tạp</a:t>
            </a:r>
            <a:r>
              <a:rPr sz="2500" dirty="0">
                <a:latin typeface="+mn-lt"/>
              </a:rPr>
              <a:t>. </a:t>
            </a:r>
            <a:r>
              <a:rPr sz="2500" dirty="0" err="1">
                <a:latin typeface="+mn-lt"/>
              </a:rPr>
              <a:t>Kết</a:t>
            </a:r>
            <a:r>
              <a:rPr sz="2500" dirty="0">
                <a:latin typeface="+mn-lt"/>
              </a:rPr>
              <a:t> </a:t>
            </a:r>
            <a:r>
              <a:rPr sz="2500" dirty="0" err="1">
                <a:latin typeface="+mn-lt"/>
              </a:rPr>
              <a:t>quả</a:t>
            </a:r>
            <a:r>
              <a:rPr sz="2500" dirty="0">
                <a:latin typeface="+mn-lt"/>
              </a:rPr>
              <a:t> </a:t>
            </a:r>
            <a:r>
              <a:rPr sz="2500" dirty="0" err="1">
                <a:latin typeface="+mn-lt"/>
              </a:rPr>
              <a:t>cho</a:t>
            </a:r>
            <a:r>
              <a:rPr sz="2500" dirty="0">
                <a:latin typeface="+mn-lt"/>
              </a:rPr>
              <a:t> </a:t>
            </a:r>
            <a:r>
              <a:rPr sz="2500" dirty="0" err="1">
                <a:latin typeface="+mn-lt"/>
              </a:rPr>
              <a:t>thấy</a:t>
            </a:r>
            <a:r>
              <a:rPr sz="2500" dirty="0">
                <a:latin typeface="+mn-lt"/>
              </a:rPr>
              <a:t> AIC/BIC </a:t>
            </a:r>
            <a:r>
              <a:rPr sz="2500" dirty="0" err="1">
                <a:latin typeface="+mn-lt"/>
              </a:rPr>
              <a:t>thấp</a:t>
            </a:r>
            <a:r>
              <a:rPr sz="2500" dirty="0">
                <a:latin typeface="+mn-lt"/>
              </a:rPr>
              <a:t> </a:t>
            </a:r>
            <a:r>
              <a:rPr sz="2500" dirty="0" err="1">
                <a:latin typeface="+mn-lt"/>
              </a:rPr>
              <a:t>hơn</a:t>
            </a:r>
            <a:r>
              <a:rPr sz="2500" dirty="0">
                <a:latin typeface="+mn-lt"/>
              </a:rPr>
              <a:t> </a:t>
            </a:r>
            <a:r>
              <a:rPr sz="2500" dirty="0" err="1">
                <a:latin typeface="+mn-lt"/>
              </a:rPr>
              <a:t>và</a:t>
            </a:r>
            <a:r>
              <a:rPr sz="2500" dirty="0">
                <a:latin typeface="+mn-lt"/>
              </a:rPr>
              <a:t> </a:t>
            </a:r>
            <a:r>
              <a:rPr sz="2500" dirty="0" err="1">
                <a:latin typeface="+mn-lt"/>
              </a:rPr>
              <a:t>sai</a:t>
            </a:r>
            <a:r>
              <a:rPr sz="2500" dirty="0">
                <a:latin typeface="+mn-lt"/>
              </a:rPr>
              <a:t> </a:t>
            </a:r>
            <a:r>
              <a:rPr sz="2500" dirty="0" err="1">
                <a:latin typeface="+mn-lt"/>
              </a:rPr>
              <a:t>số</a:t>
            </a:r>
            <a:r>
              <a:rPr sz="2500" dirty="0">
                <a:latin typeface="+mn-lt"/>
              </a:rPr>
              <a:t> </a:t>
            </a:r>
            <a:r>
              <a:rPr sz="2500" dirty="0" err="1">
                <a:latin typeface="+mn-lt"/>
              </a:rPr>
              <a:t>dự</a:t>
            </a:r>
            <a:r>
              <a:rPr sz="2500" dirty="0">
                <a:latin typeface="+mn-lt"/>
              </a:rPr>
              <a:t> </a:t>
            </a:r>
            <a:r>
              <a:rPr sz="2500" dirty="0" err="1">
                <a:latin typeface="+mn-lt"/>
              </a:rPr>
              <a:t>báo</a:t>
            </a:r>
            <a:r>
              <a:rPr sz="2500" dirty="0">
                <a:latin typeface="+mn-lt"/>
              </a:rPr>
              <a:t> </a:t>
            </a:r>
            <a:r>
              <a:rPr sz="2500" dirty="0" err="1">
                <a:latin typeface="+mn-lt"/>
              </a:rPr>
              <a:t>nhỏ</a:t>
            </a:r>
            <a:r>
              <a:rPr sz="2500" dirty="0">
                <a:latin typeface="+mn-lt"/>
              </a:rPr>
              <a:t> </a:t>
            </a:r>
            <a:r>
              <a:rPr sz="2500" dirty="0" err="1">
                <a:latin typeface="+mn-lt"/>
              </a:rPr>
              <a:t>hơn</a:t>
            </a:r>
            <a:r>
              <a:rPr sz="2500" dirty="0">
                <a:latin typeface="+mn-lt"/>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7325" y="190860"/>
            <a:ext cx="7697218" cy="1211263"/>
          </a:xfrm>
          <a:noFill/>
          <a:ln>
            <a:noFill/>
          </a:ln>
        </p:spPr>
        <p:txBody>
          <a:bodyPr spcFirstLastPara="1" wrap="square" lIns="91425" tIns="91425" rIns="91425" bIns="91425" anchor="t" anchorCtr="0">
            <a:noAutofit/>
          </a:bodyPr>
          <a:lstStyle/>
          <a:p>
            <a:pPr algn="ctr"/>
            <a:r>
              <a:rPr sz="4000" dirty="0">
                <a:latin typeface="Aptos Display" panose="020B0004020202020204" pitchFamily="34" charset="0"/>
              </a:rPr>
              <a:t>So </a:t>
            </a:r>
            <a:r>
              <a:rPr sz="4000" dirty="0" err="1">
                <a:latin typeface="Aptos Display" panose="020B0004020202020204" pitchFamily="34" charset="0"/>
              </a:rPr>
              <a:t>sánh</a:t>
            </a:r>
            <a:r>
              <a:rPr sz="4000" dirty="0">
                <a:latin typeface="Aptos Display" panose="020B0004020202020204" pitchFamily="34" charset="0"/>
              </a:rPr>
              <a:t> </a:t>
            </a:r>
            <a:r>
              <a:rPr sz="4000" dirty="0" err="1">
                <a:latin typeface="Aptos Display" panose="020B0004020202020204" pitchFamily="34" charset="0"/>
              </a:rPr>
              <a:t>hai</a:t>
            </a:r>
            <a:r>
              <a:rPr sz="4000" dirty="0">
                <a:latin typeface="Aptos Display" panose="020B0004020202020204" pitchFamily="34" charset="0"/>
              </a:rPr>
              <a:t> </a:t>
            </a:r>
            <a:r>
              <a:rPr sz="4000" dirty="0" err="1">
                <a:latin typeface="Aptos Display" panose="020B0004020202020204" pitchFamily="34" charset="0"/>
              </a:rPr>
              <a:t>mô</a:t>
            </a:r>
            <a:r>
              <a:rPr sz="4000" dirty="0">
                <a:latin typeface="Aptos Display" panose="020B0004020202020204" pitchFamily="34" charset="0"/>
              </a:rPr>
              <a:t> </a:t>
            </a:r>
            <a:r>
              <a:rPr sz="4000" dirty="0" err="1">
                <a:latin typeface="Aptos Display" panose="020B0004020202020204" pitchFamily="34" charset="0"/>
              </a:rPr>
              <a:t>hình</a:t>
            </a:r>
            <a:r>
              <a:rPr sz="4000" dirty="0">
                <a:latin typeface="Aptos Display" panose="020B0004020202020204" pitchFamily="34" charset="0"/>
              </a:rPr>
              <a:t> SARIMA</a:t>
            </a:r>
          </a:p>
        </p:txBody>
      </p:sp>
      <p:sp>
        <p:nvSpPr>
          <p:cNvPr id="4" name="Picture Placeholder 3"/>
          <p:cNvSpPr>
            <a:spLocks noGrp="1"/>
          </p:cNvSpPr>
          <p:nvPr>
            <p:ph type="pic" idx="4294967295"/>
          </p:nvPr>
        </p:nvSpPr>
        <p:spPr>
          <a:xfrm>
            <a:off x="465827" y="888640"/>
            <a:ext cx="8327538" cy="3840480"/>
          </a:xfrm>
          <a:noFill/>
          <a:ln>
            <a:noFill/>
          </a:ln>
        </p:spPr>
        <p:txBody>
          <a:bodyPr/>
          <a:lstStyle/>
          <a:p>
            <a:pPr marL="0" indent="0">
              <a:buNone/>
            </a:pPr>
            <a:r>
              <a:rPr sz="2400" dirty="0">
                <a:latin typeface="+mn-lt"/>
              </a:rPr>
              <a:t>SARIMA 1 </a:t>
            </a:r>
            <a:r>
              <a:rPr sz="2400" dirty="0" err="1">
                <a:latin typeface="+mn-lt"/>
              </a:rPr>
              <a:t>phù</a:t>
            </a:r>
            <a:r>
              <a:rPr sz="2400" dirty="0">
                <a:latin typeface="+mn-lt"/>
              </a:rPr>
              <a:t> </a:t>
            </a:r>
            <a:r>
              <a:rPr sz="2400" dirty="0" err="1">
                <a:latin typeface="+mn-lt"/>
              </a:rPr>
              <a:t>hợp</a:t>
            </a:r>
            <a:r>
              <a:rPr sz="2400" dirty="0">
                <a:latin typeface="+mn-lt"/>
              </a:rPr>
              <a:t> </a:t>
            </a:r>
            <a:r>
              <a:rPr sz="2400" dirty="0" err="1">
                <a:latin typeface="+mn-lt"/>
              </a:rPr>
              <a:t>giám</a:t>
            </a:r>
            <a:r>
              <a:rPr sz="2400" dirty="0">
                <a:latin typeface="+mn-lt"/>
              </a:rPr>
              <a:t> </a:t>
            </a:r>
            <a:r>
              <a:rPr sz="2400" dirty="0" err="1">
                <a:latin typeface="+mn-lt"/>
              </a:rPr>
              <a:t>sát</a:t>
            </a:r>
            <a:r>
              <a:rPr sz="2400" dirty="0">
                <a:latin typeface="+mn-lt"/>
              </a:rPr>
              <a:t> xu </a:t>
            </a:r>
            <a:r>
              <a:rPr sz="2400" dirty="0" err="1">
                <a:latin typeface="+mn-lt"/>
              </a:rPr>
              <a:t>hướng</a:t>
            </a:r>
            <a:r>
              <a:rPr sz="2400" dirty="0">
                <a:latin typeface="+mn-lt"/>
              </a:rPr>
              <a:t> </a:t>
            </a:r>
            <a:r>
              <a:rPr sz="2400" dirty="0" err="1">
                <a:latin typeface="+mn-lt"/>
              </a:rPr>
              <a:t>dài</a:t>
            </a:r>
            <a:r>
              <a:rPr sz="2400" dirty="0">
                <a:latin typeface="+mn-lt"/>
              </a:rPr>
              <a:t> </a:t>
            </a:r>
            <a:r>
              <a:rPr sz="2400" dirty="0" err="1">
                <a:latin typeface="+mn-lt"/>
              </a:rPr>
              <a:t>hạn</a:t>
            </a:r>
            <a:r>
              <a:rPr sz="2400" dirty="0">
                <a:latin typeface="+mn-lt"/>
              </a:rPr>
              <a:t> </a:t>
            </a:r>
            <a:r>
              <a:rPr sz="2400" dirty="0" err="1">
                <a:latin typeface="+mn-lt"/>
              </a:rPr>
              <a:t>nhờ</a:t>
            </a:r>
            <a:r>
              <a:rPr sz="2400" dirty="0">
                <a:latin typeface="+mn-lt"/>
              </a:rPr>
              <a:t> </a:t>
            </a:r>
            <a:r>
              <a:rPr sz="2400" dirty="0" err="1">
                <a:latin typeface="+mn-lt"/>
              </a:rPr>
              <a:t>tính</a:t>
            </a:r>
            <a:r>
              <a:rPr sz="2400" dirty="0">
                <a:latin typeface="+mn-lt"/>
              </a:rPr>
              <a:t> </a:t>
            </a:r>
            <a:r>
              <a:rPr sz="2400" dirty="0" err="1">
                <a:latin typeface="+mn-lt"/>
              </a:rPr>
              <a:t>đơn</a:t>
            </a:r>
            <a:r>
              <a:rPr sz="2400" dirty="0">
                <a:latin typeface="+mn-lt"/>
              </a:rPr>
              <a:t> </a:t>
            </a:r>
            <a:r>
              <a:rPr sz="2400" dirty="0" err="1">
                <a:latin typeface="+mn-lt"/>
              </a:rPr>
              <a:t>giản</a:t>
            </a:r>
            <a:r>
              <a:rPr sz="2400" dirty="0">
                <a:latin typeface="+mn-lt"/>
              </a:rPr>
              <a:t> </a:t>
            </a:r>
            <a:r>
              <a:rPr sz="2400" dirty="0" err="1">
                <a:latin typeface="+mn-lt"/>
              </a:rPr>
              <a:t>và</a:t>
            </a:r>
            <a:r>
              <a:rPr sz="2400" dirty="0">
                <a:latin typeface="+mn-lt"/>
              </a:rPr>
              <a:t> </a:t>
            </a:r>
            <a:r>
              <a:rPr sz="2400" dirty="0" err="1">
                <a:latin typeface="+mn-lt"/>
              </a:rPr>
              <a:t>khả</a:t>
            </a:r>
            <a:r>
              <a:rPr sz="2400" dirty="0">
                <a:latin typeface="+mn-lt"/>
              </a:rPr>
              <a:t> </a:t>
            </a:r>
            <a:r>
              <a:rPr sz="2400" dirty="0" err="1">
                <a:latin typeface="+mn-lt"/>
              </a:rPr>
              <a:t>năng</a:t>
            </a:r>
            <a:r>
              <a:rPr sz="2400" dirty="0">
                <a:latin typeface="+mn-lt"/>
              </a:rPr>
              <a:t> </a:t>
            </a:r>
            <a:r>
              <a:rPr sz="2400" dirty="0" err="1">
                <a:latin typeface="+mn-lt"/>
              </a:rPr>
              <a:t>diễn</a:t>
            </a:r>
            <a:r>
              <a:rPr sz="2400" dirty="0">
                <a:latin typeface="+mn-lt"/>
              </a:rPr>
              <a:t> </a:t>
            </a:r>
            <a:r>
              <a:rPr sz="2400" dirty="0" err="1">
                <a:latin typeface="+mn-lt"/>
              </a:rPr>
              <a:t>giải</a:t>
            </a:r>
            <a:r>
              <a:rPr sz="2400" dirty="0">
                <a:latin typeface="+mn-lt"/>
              </a:rPr>
              <a:t> </a:t>
            </a:r>
            <a:r>
              <a:rPr sz="2400" dirty="0" err="1">
                <a:latin typeface="+mn-lt"/>
              </a:rPr>
              <a:t>tốt</a:t>
            </a:r>
            <a:endParaRPr lang="en-US" sz="2400" dirty="0">
              <a:latin typeface="+mn-lt"/>
            </a:endParaRPr>
          </a:p>
          <a:p>
            <a:pPr marL="0" indent="0">
              <a:buNone/>
            </a:pPr>
            <a:endParaRPr lang="en-US" sz="2400" dirty="0">
              <a:latin typeface="+mn-lt"/>
            </a:endParaRPr>
          </a:p>
          <a:p>
            <a:pPr marL="0" indent="0">
              <a:buNone/>
            </a:pPr>
            <a:r>
              <a:rPr lang="vi-VN" sz="2400" dirty="0">
                <a:solidFill>
                  <a:srgbClr val="1B1B1B"/>
                </a:solidFill>
                <a:latin typeface="+mn-lt"/>
              </a:rPr>
              <a:t>SARIMA 2 phù hợp hơn cho dự báo ngắn hạn trong bối cảnh biến động cao</a:t>
            </a:r>
          </a:p>
          <a:p>
            <a:pPr marL="0" indent="0">
              <a:buNone/>
            </a:pPr>
            <a:endParaRPr lang="en-US" sz="2400" dirty="0">
              <a:latin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8043B274-FB65-5A5B-752A-58AC00EAC34D}"/>
              </a:ext>
            </a:extLst>
          </p:cNvPr>
          <p:cNvPicPr>
            <a:picLocks noChangeAspect="1"/>
          </p:cNvPicPr>
          <p:nvPr/>
        </p:nvPicPr>
        <p:blipFill>
          <a:blip r:embed="rId2"/>
          <a:stretch>
            <a:fillRect/>
          </a:stretch>
        </p:blipFill>
        <p:spPr>
          <a:xfrm>
            <a:off x="0" y="207034"/>
            <a:ext cx="9144000" cy="3717031"/>
          </a:xfrm>
          <a:prstGeom prst="rect">
            <a:avLst/>
          </a:prstGeom>
        </p:spPr>
      </p:pic>
      <p:sp>
        <p:nvSpPr>
          <p:cNvPr id="4" name="TextBox 3">
            <a:extLst>
              <a:ext uri="{FF2B5EF4-FFF2-40B4-BE49-F238E27FC236}">
                <a16:creationId xmlns="" xmlns:a16="http://schemas.microsoft.com/office/drawing/2014/main" id="{57754AB4-56DD-C42C-91E2-1DC613FC4ACF}"/>
              </a:ext>
            </a:extLst>
          </p:cNvPr>
          <p:cNvSpPr txBox="1"/>
          <p:nvPr/>
        </p:nvSpPr>
        <p:spPr>
          <a:xfrm>
            <a:off x="957531" y="3906812"/>
            <a:ext cx="7944929" cy="338554"/>
          </a:xfrm>
          <a:prstGeom prst="rect">
            <a:avLst/>
          </a:prstGeom>
          <a:noFill/>
        </p:spPr>
        <p:txBody>
          <a:bodyPr wrap="square">
            <a:spAutoFit/>
          </a:bodyPr>
          <a:lstStyle/>
          <a:p>
            <a:r>
              <a:rPr lang="en-US" sz="1600" dirty="0" err="1"/>
              <a:t>Hình</a:t>
            </a:r>
            <a:r>
              <a:rPr lang="en-US" sz="1600" dirty="0"/>
              <a:t> 12. So </a:t>
            </a:r>
            <a:r>
              <a:rPr lang="en-US" sz="1600" dirty="0" err="1"/>
              <a:t>sánh</a:t>
            </a:r>
            <a:r>
              <a:rPr lang="en-US" sz="1600" dirty="0"/>
              <a:t> </a:t>
            </a:r>
            <a:r>
              <a:rPr lang="en-US" sz="1600" dirty="0" err="1"/>
              <a:t>kết</a:t>
            </a:r>
            <a:r>
              <a:rPr lang="en-US" sz="1600" dirty="0"/>
              <a:t> </a:t>
            </a:r>
            <a:r>
              <a:rPr lang="en-US" sz="1600" dirty="0" err="1"/>
              <a:t>quả</a:t>
            </a:r>
            <a:r>
              <a:rPr lang="en-US" sz="1600" dirty="0"/>
              <a:t> </a:t>
            </a:r>
            <a:r>
              <a:rPr lang="en-US" sz="1600" dirty="0" err="1"/>
              <a:t>dự</a:t>
            </a:r>
            <a:r>
              <a:rPr lang="en-US" sz="1600" dirty="0"/>
              <a:t> </a:t>
            </a:r>
            <a:r>
              <a:rPr lang="en-US" sz="1600" dirty="0" err="1"/>
              <a:t>báo</a:t>
            </a:r>
            <a:r>
              <a:rPr lang="en-US" sz="1600" dirty="0"/>
              <a:t> </a:t>
            </a:r>
            <a:r>
              <a:rPr lang="en-US" sz="1600" dirty="0" err="1"/>
              <a:t>của</a:t>
            </a:r>
            <a:r>
              <a:rPr lang="en-US" sz="1600" dirty="0"/>
              <a:t> </a:t>
            </a:r>
            <a:r>
              <a:rPr lang="en-US" sz="1600" dirty="0" err="1"/>
              <a:t>hai</a:t>
            </a:r>
            <a:r>
              <a:rPr lang="en-US" sz="1600" dirty="0"/>
              <a:t> </a:t>
            </a:r>
            <a:r>
              <a:rPr lang="en-US" sz="1600" dirty="0" err="1"/>
              <a:t>mô</a:t>
            </a:r>
            <a:r>
              <a:rPr lang="en-US" sz="1600" dirty="0"/>
              <a:t> </a:t>
            </a:r>
            <a:r>
              <a:rPr lang="en-US" sz="1600" dirty="0" err="1"/>
              <a:t>hình</a:t>
            </a:r>
            <a:r>
              <a:rPr lang="en-US" sz="1600" dirty="0"/>
              <a:t> SARIMA </a:t>
            </a:r>
            <a:r>
              <a:rPr lang="en-US" sz="1600" dirty="0" err="1"/>
              <a:t>với</a:t>
            </a:r>
            <a:r>
              <a:rPr lang="en-US" sz="1600" dirty="0"/>
              <a:t> </a:t>
            </a:r>
            <a:r>
              <a:rPr lang="en-US" sz="1600" dirty="0" err="1"/>
              <a:t>doanh</a:t>
            </a:r>
            <a:r>
              <a:rPr lang="en-US" sz="1600" dirty="0"/>
              <a:t> </a:t>
            </a:r>
            <a:r>
              <a:rPr lang="en-US" sz="1600" dirty="0" err="1"/>
              <a:t>thu</a:t>
            </a:r>
            <a:r>
              <a:rPr lang="en-US" sz="1600" dirty="0"/>
              <a:t> </a:t>
            </a:r>
            <a:r>
              <a:rPr lang="en-US" sz="1600" dirty="0" err="1"/>
              <a:t>thực</a:t>
            </a:r>
            <a:r>
              <a:rPr lang="en-US" sz="1600" dirty="0"/>
              <a:t> </a:t>
            </a:r>
            <a:r>
              <a:rPr lang="en-US" sz="1600" dirty="0" err="1"/>
              <a:t>tế</a:t>
            </a:r>
            <a:endParaRPr lang="en-US" sz="1600" dirty="0"/>
          </a:p>
        </p:txBody>
      </p:sp>
    </p:spTree>
    <p:extLst>
      <p:ext uri="{BB962C8B-B14F-4D97-AF65-F5344CB8AC3E}">
        <p14:creationId xmlns="" xmlns:p14="http://schemas.microsoft.com/office/powerpoint/2010/main" val="23067139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79561" y="259870"/>
            <a:ext cx="7799298" cy="1211263"/>
          </a:xfrm>
          <a:noFill/>
          <a:ln>
            <a:noFill/>
          </a:ln>
        </p:spPr>
        <p:txBody>
          <a:bodyPr spcFirstLastPara="1" wrap="square" lIns="91425" tIns="91425" rIns="91425" bIns="91425" anchor="t" anchorCtr="0">
            <a:noAutofit/>
          </a:bodyPr>
          <a:lstStyle/>
          <a:p>
            <a:pPr algn="ctr"/>
            <a:r>
              <a:rPr sz="3600" dirty="0" err="1">
                <a:latin typeface="Aptos Display" panose="020B0004020202020204" pitchFamily="34" charset="0"/>
              </a:rPr>
              <a:t>Hàm</a:t>
            </a:r>
            <a:r>
              <a:rPr sz="3600" dirty="0">
                <a:latin typeface="Aptos Display" panose="020B0004020202020204" pitchFamily="34" charset="0"/>
              </a:rPr>
              <a:t> ý </a:t>
            </a:r>
            <a:r>
              <a:rPr sz="3600" dirty="0" err="1">
                <a:latin typeface="Aptos Display" panose="020B0004020202020204" pitchFamily="34" charset="0"/>
              </a:rPr>
              <a:t>quản</a:t>
            </a:r>
            <a:r>
              <a:rPr sz="3600" dirty="0">
                <a:latin typeface="Aptos Display" panose="020B0004020202020204" pitchFamily="34" charset="0"/>
              </a:rPr>
              <a:t> </a:t>
            </a:r>
            <a:r>
              <a:rPr sz="3600" dirty="0" err="1">
                <a:latin typeface="Aptos Display" panose="020B0004020202020204" pitchFamily="34" charset="0"/>
              </a:rPr>
              <a:t>trị</a:t>
            </a:r>
            <a:r>
              <a:rPr sz="3600" dirty="0">
                <a:latin typeface="Aptos Display" panose="020B0004020202020204" pitchFamily="34" charset="0"/>
              </a:rPr>
              <a:t> </a:t>
            </a:r>
            <a:r>
              <a:rPr sz="3600" dirty="0" err="1">
                <a:latin typeface="Aptos Display" panose="020B0004020202020204" pitchFamily="34" charset="0"/>
              </a:rPr>
              <a:t>từ</a:t>
            </a:r>
            <a:r>
              <a:rPr sz="3600" dirty="0">
                <a:latin typeface="Aptos Display" panose="020B0004020202020204" pitchFamily="34" charset="0"/>
              </a:rPr>
              <a:t> </a:t>
            </a:r>
            <a:r>
              <a:rPr sz="3600" dirty="0" err="1">
                <a:latin typeface="Aptos Display" panose="020B0004020202020204" pitchFamily="34" charset="0"/>
              </a:rPr>
              <a:t>kết</a:t>
            </a:r>
            <a:r>
              <a:rPr sz="3600" dirty="0">
                <a:latin typeface="Aptos Display" panose="020B0004020202020204" pitchFamily="34" charset="0"/>
              </a:rPr>
              <a:t> </a:t>
            </a:r>
            <a:r>
              <a:rPr sz="3600" dirty="0" err="1">
                <a:latin typeface="Aptos Display" panose="020B0004020202020204" pitchFamily="34" charset="0"/>
              </a:rPr>
              <a:t>quả</a:t>
            </a:r>
            <a:r>
              <a:rPr sz="3600" dirty="0">
                <a:latin typeface="Aptos Display" panose="020B0004020202020204" pitchFamily="34" charset="0"/>
              </a:rPr>
              <a:t> </a:t>
            </a:r>
            <a:r>
              <a:rPr sz="3600" dirty="0" err="1">
                <a:latin typeface="Aptos Display" panose="020B0004020202020204" pitchFamily="34" charset="0"/>
              </a:rPr>
              <a:t>dự</a:t>
            </a:r>
            <a:r>
              <a:rPr sz="3600" dirty="0">
                <a:latin typeface="Aptos Display" panose="020B0004020202020204" pitchFamily="34" charset="0"/>
              </a:rPr>
              <a:t> </a:t>
            </a:r>
            <a:r>
              <a:rPr sz="3600" dirty="0" err="1">
                <a:latin typeface="Aptos Display" panose="020B0004020202020204" pitchFamily="34" charset="0"/>
              </a:rPr>
              <a:t>báo</a:t>
            </a:r>
            <a:endParaRPr sz="3600" dirty="0">
              <a:latin typeface="Aptos Display" panose="020B0004020202020204" pitchFamily="34" charset="0"/>
            </a:endParaRPr>
          </a:p>
        </p:txBody>
      </p:sp>
      <p:sp>
        <p:nvSpPr>
          <p:cNvPr id="4" name="Picture Placeholder 3"/>
          <p:cNvSpPr>
            <a:spLocks noGrp="1"/>
          </p:cNvSpPr>
          <p:nvPr>
            <p:ph type="pic" idx="4294967295"/>
          </p:nvPr>
        </p:nvSpPr>
        <p:spPr>
          <a:xfrm>
            <a:off x="379561" y="1079500"/>
            <a:ext cx="8384878" cy="3665028"/>
          </a:xfrm>
          <a:noFill/>
          <a:ln>
            <a:noFill/>
          </a:ln>
        </p:spPr>
        <p:txBody>
          <a:bodyPr/>
          <a:lstStyle/>
          <a:p>
            <a:pPr marL="0" indent="0">
              <a:buNone/>
            </a:pPr>
            <a:r>
              <a:rPr lang="en-US" sz="2500" dirty="0">
                <a:latin typeface="+mn-lt"/>
                <a:sym typeface="Wingdings" panose="05000000000000000000" pitchFamily="2" charset="2"/>
              </a:rPr>
              <a:t> </a:t>
            </a:r>
            <a:r>
              <a:rPr sz="2500" dirty="0" err="1">
                <a:latin typeface="+mn-lt"/>
              </a:rPr>
              <a:t>Dự</a:t>
            </a:r>
            <a:r>
              <a:rPr sz="2500" dirty="0">
                <a:latin typeface="+mn-lt"/>
              </a:rPr>
              <a:t> </a:t>
            </a:r>
            <a:r>
              <a:rPr sz="2500" dirty="0" err="1">
                <a:latin typeface="+mn-lt"/>
              </a:rPr>
              <a:t>báo</a:t>
            </a:r>
            <a:r>
              <a:rPr sz="2500" dirty="0">
                <a:latin typeface="+mn-lt"/>
              </a:rPr>
              <a:t> </a:t>
            </a:r>
            <a:r>
              <a:rPr sz="2500" dirty="0" err="1">
                <a:latin typeface="+mn-lt"/>
              </a:rPr>
              <a:t>giúp</a:t>
            </a:r>
            <a:r>
              <a:rPr sz="2500" dirty="0">
                <a:latin typeface="+mn-lt"/>
              </a:rPr>
              <a:t> </a:t>
            </a:r>
            <a:r>
              <a:rPr sz="2500" dirty="0" err="1">
                <a:latin typeface="+mn-lt"/>
              </a:rPr>
              <a:t>doanh</a:t>
            </a:r>
            <a:r>
              <a:rPr sz="2500" dirty="0">
                <a:latin typeface="+mn-lt"/>
              </a:rPr>
              <a:t> </a:t>
            </a:r>
            <a:r>
              <a:rPr sz="2500" dirty="0" err="1">
                <a:latin typeface="+mn-lt"/>
              </a:rPr>
              <a:t>nghiệp</a:t>
            </a:r>
            <a:r>
              <a:rPr sz="2500" dirty="0">
                <a:latin typeface="+mn-lt"/>
              </a:rPr>
              <a:t> </a:t>
            </a:r>
            <a:r>
              <a:rPr sz="2500" dirty="0" err="1">
                <a:latin typeface="+mn-lt"/>
              </a:rPr>
              <a:t>chủ</a:t>
            </a:r>
            <a:r>
              <a:rPr sz="2500" dirty="0">
                <a:latin typeface="+mn-lt"/>
              </a:rPr>
              <a:t> </a:t>
            </a:r>
            <a:r>
              <a:rPr sz="2500" dirty="0" err="1">
                <a:latin typeface="+mn-lt"/>
              </a:rPr>
              <a:t>động</a:t>
            </a:r>
            <a:r>
              <a:rPr sz="2500" dirty="0">
                <a:latin typeface="+mn-lt"/>
              </a:rPr>
              <a:t> </a:t>
            </a:r>
            <a:r>
              <a:rPr sz="2500" dirty="0" err="1">
                <a:latin typeface="+mn-lt"/>
              </a:rPr>
              <a:t>chuẩn</a:t>
            </a:r>
            <a:r>
              <a:rPr sz="2500" dirty="0">
                <a:latin typeface="+mn-lt"/>
              </a:rPr>
              <a:t> </a:t>
            </a:r>
            <a:r>
              <a:rPr sz="2500" dirty="0" err="1">
                <a:latin typeface="+mn-lt"/>
              </a:rPr>
              <a:t>bị</a:t>
            </a:r>
            <a:r>
              <a:rPr sz="2500" dirty="0">
                <a:latin typeface="+mn-lt"/>
              </a:rPr>
              <a:t> </a:t>
            </a:r>
            <a:r>
              <a:rPr sz="2500" dirty="0" err="1">
                <a:latin typeface="+mn-lt"/>
              </a:rPr>
              <a:t>tồn</a:t>
            </a:r>
            <a:r>
              <a:rPr sz="2500" dirty="0">
                <a:latin typeface="+mn-lt"/>
              </a:rPr>
              <a:t> </a:t>
            </a:r>
            <a:r>
              <a:rPr sz="2500" dirty="0" err="1">
                <a:latin typeface="+mn-lt"/>
              </a:rPr>
              <a:t>kho</a:t>
            </a:r>
            <a:r>
              <a:rPr sz="2500" dirty="0">
                <a:latin typeface="+mn-lt"/>
              </a:rPr>
              <a:t> </a:t>
            </a:r>
            <a:r>
              <a:rPr sz="2500" dirty="0" err="1">
                <a:latin typeface="+mn-lt"/>
              </a:rPr>
              <a:t>và</a:t>
            </a:r>
            <a:r>
              <a:rPr sz="2500" dirty="0">
                <a:latin typeface="+mn-lt"/>
              </a:rPr>
              <a:t> </a:t>
            </a:r>
            <a:r>
              <a:rPr sz="2500" dirty="0" err="1">
                <a:latin typeface="+mn-lt"/>
              </a:rPr>
              <a:t>nguồn</a:t>
            </a:r>
            <a:r>
              <a:rPr sz="2500" dirty="0">
                <a:latin typeface="+mn-lt"/>
              </a:rPr>
              <a:t> </a:t>
            </a:r>
            <a:r>
              <a:rPr sz="2500" dirty="0" err="1">
                <a:latin typeface="+mn-lt"/>
              </a:rPr>
              <a:t>lực</a:t>
            </a:r>
            <a:r>
              <a:rPr sz="2500" dirty="0">
                <a:latin typeface="+mn-lt"/>
              </a:rPr>
              <a:t> ở </a:t>
            </a:r>
            <a:r>
              <a:rPr sz="2500" dirty="0" err="1">
                <a:latin typeface="+mn-lt"/>
              </a:rPr>
              <a:t>các</a:t>
            </a:r>
            <a:r>
              <a:rPr sz="2500" dirty="0">
                <a:latin typeface="+mn-lt"/>
              </a:rPr>
              <a:t> </a:t>
            </a:r>
            <a:r>
              <a:rPr sz="2500" dirty="0" err="1">
                <a:latin typeface="+mn-lt"/>
              </a:rPr>
              <a:t>giai</a:t>
            </a:r>
            <a:r>
              <a:rPr sz="2500" dirty="0">
                <a:latin typeface="+mn-lt"/>
              </a:rPr>
              <a:t> </a:t>
            </a:r>
            <a:r>
              <a:rPr sz="2500" dirty="0" err="1">
                <a:latin typeface="+mn-lt"/>
              </a:rPr>
              <a:t>đoạn</a:t>
            </a:r>
            <a:r>
              <a:rPr sz="2500" dirty="0">
                <a:latin typeface="+mn-lt"/>
              </a:rPr>
              <a:t> </a:t>
            </a:r>
            <a:r>
              <a:rPr sz="2500" dirty="0" err="1">
                <a:latin typeface="+mn-lt"/>
              </a:rPr>
              <a:t>cao</a:t>
            </a:r>
            <a:r>
              <a:rPr sz="2500" dirty="0">
                <a:latin typeface="+mn-lt"/>
              </a:rPr>
              <a:t> </a:t>
            </a:r>
            <a:r>
              <a:rPr sz="2500" dirty="0" err="1">
                <a:latin typeface="+mn-lt"/>
              </a:rPr>
              <a:t>điểm</a:t>
            </a:r>
            <a:r>
              <a:rPr sz="2500" dirty="0">
                <a:latin typeface="+mn-lt"/>
              </a:rPr>
              <a:t>, </a:t>
            </a:r>
            <a:r>
              <a:rPr sz="2500" dirty="0" err="1">
                <a:latin typeface="+mn-lt"/>
              </a:rPr>
              <a:t>đồng</a:t>
            </a:r>
            <a:r>
              <a:rPr sz="2500" dirty="0">
                <a:latin typeface="+mn-lt"/>
              </a:rPr>
              <a:t> </a:t>
            </a:r>
            <a:r>
              <a:rPr sz="2500" dirty="0" err="1">
                <a:latin typeface="+mn-lt"/>
              </a:rPr>
              <a:t>thời</a:t>
            </a:r>
            <a:r>
              <a:rPr sz="2500" dirty="0">
                <a:latin typeface="+mn-lt"/>
              </a:rPr>
              <a:t> </a:t>
            </a:r>
            <a:r>
              <a:rPr sz="2500" dirty="0" err="1">
                <a:latin typeface="+mn-lt"/>
              </a:rPr>
              <a:t>giảm</a:t>
            </a:r>
            <a:r>
              <a:rPr sz="2500" dirty="0">
                <a:latin typeface="+mn-lt"/>
              </a:rPr>
              <a:t> </a:t>
            </a:r>
            <a:r>
              <a:rPr sz="2500" dirty="0" err="1">
                <a:latin typeface="+mn-lt"/>
              </a:rPr>
              <a:t>rủi</a:t>
            </a:r>
            <a:r>
              <a:rPr sz="2500" dirty="0">
                <a:latin typeface="+mn-lt"/>
              </a:rPr>
              <a:t> </a:t>
            </a:r>
            <a:r>
              <a:rPr sz="2500" dirty="0" err="1">
                <a:latin typeface="+mn-lt"/>
              </a:rPr>
              <a:t>ro</a:t>
            </a:r>
            <a:r>
              <a:rPr sz="2500" dirty="0">
                <a:latin typeface="+mn-lt"/>
              </a:rPr>
              <a:t> </a:t>
            </a:r>
            <a:r>
              <a:rPr sz="2500" dirty="0" err="1">
                <a:latin typeface="+mn-lt"/>
              </a:rPr>
              <a:t>tồn</a:t>
            </a:r>
            <a:r>
              <a:rPr sz="2500" dirty="0">
                <a:latin typeface="+mn-lt"/>
              </a:rPr>
              <a:t> </a:t>
            </a:r>
            <a:r>
              <a:rPr sz="2500" dirty="0" err="1">
                <a:latin typeface="+mn-lt"/>
              </a:rPr>
              <a:t>kho</a:t>
            </a:r>
            <a:r>
              <a:rPr sz="2500" dirty="0">
                <a:latin typeface="+mn-lt"/>
              </a:rPr>
              <a:t> </a:t>
            </a:r>
            <a:r>
              <a:rPr sz="2500" dirty="0" err="1">
                <a:latin typeface="+mn-lt"/>
              </a:rPr>
              <a:t>dư</a:t>
            </a:r>
            <a:r>
              <a:rPr sz="2500" dirty="0">
                <a:latin typeface="+mn-lt"/>
              </a:rPr>
              <a:t> </a:t>
            </a:r>
            <a:r>
              <a:rPr sz="2500" dirty="0" err="1">
                <a:latin typeface="+mn-lt"/>
              </a:rPr>
              <a:t>thừa</a:t>
            </a:r>
            <a:r>
              <a:rPr lang="en-US" sz="2500" dirty="0">
                <a:latin typeface="+mn-lt"/>
              </a:rPr>
              <a:t> ở </a:t>
            </a:r>
            <a:r>
              <a:rPr lang="en-US" sz="2500" dirty="0" err="1">
                <a:latin typeface="+mn-lt"/>
              </a:rPr>
              <a:t>giai</a:t>
            </a:r>
            <a:r>
              <a:rPr lang="en-US" sz="2500" dirty="0">
                <a:latin typeface="+mn-lt"/>
              </a:rPr>
              <a:t> </a:t>
            </a:r>
            <a:r>
              <a:rPr lang="en-US" sz="2500" dirty="0" err="1">
                <a:latin typeface="+mn-lt"/>
              </a:rPr>
              <a:t>đoạn</a:t>
            </a:r>
            <a:r>
              <a:rPr lang="en-US" sz="2500" dirty="0">
                <a:latin typeface="+mn-lt"/>
              </a:rPr>
              <a:t> </a:t>
            </a:r>
            <a:r>
              <a:rPr lang="en-US" sz="2500" dirty="0" err="1">
                <a:latin typeface="+mn-lt"/>
              </a:rPr>
              <a:t>thấp</a:t>
            </a:r>
            <a:r>
              <a:rPr lang="en-US" sz="2500" dirty="0">
                <a:latin typeface="+mn-lt"/>
              </a:rPr>
              <a:t> </a:t>
            </a:r>
            <a:r>
              <a:rPr lang="en-US" sz="2500" dirty="0" err="1">
                <a:latin typeface="+mn-lt"/>
              </a:rPr>
              <a:t>điểm</a:t>
            </a:r>
            <a:r>
              <a:rPr sz="2500" dirty="0">
                <a:latin typeface="+mn-lt"/>
              </a:rPr>
              <a:t>. </a:t>
            </a:r>
            <a:endParaRPr lang="en-US" sz="2500" dirty="0">
              <a:latin typeface="+mn-lt"/>
            </a:endParaRPr>
          </a:p>
          <a:p>
            <a:pPr marL="0" indent="0">
              <a:buNone/>
            </a:pPr>
            <a:r>
              <a:rPr lang="en-US" sz="2500" dirty="0">
                <a:latin typeface="+mn-lt"/>
                <a:sym typeface="Wingdings" panose="05000000000000000000" pitchFamily="2" charset="2"/>
              </a:rPr>
              <a:t> </a:t>
            </a:r>
            <a:r>
              <a:rPr lang="en-US" sz="2500" dirty="0" err="1">
                <a:latin typeface="+mn-lt"/>
                <a:sym typeface="Wingdings" panose="05000000000000000000" pitchFamily="2" charset="2"/>
              </a:rPr>
              <a:t>Nhấn</a:t>
            </a:r>
            <a:r>
              <a:rPr lang="en-US" sz="2500" dirty="0">
                <a:latin typeface="+mn-lt"/>
                <a:sym typeface="Wingdings" panose="05000000000000000000" pitchFamily="2" charset="2"/>
              </a:rPr>
              <a:t> </a:t>
            </a:r>
            <a:r>
              <a:rPr lang="en-US" sz="2500" dirty="0" err="1">
                <a:latin typeface="+mn-lt"/>
                <a:sym typeface="Wingdings" panose="05000000000000000000" pitchFamily="2" charset="2"/>
              </a:rPr>
              <a:t>mạnh</a:t>
            </a:r>
            <a:r>
              <a:rPr lang="en-US" sz="2500" dirty="0">
                <a:latin typeface="+mn-lt"/>
                <a:sym typeface="Wingdings" panose="05000000000000000000" pitchFamily="2" charset="2"/>
              </a:rPr>
              <a:t> </a:t>
            </a:r>
            <a:r>
              <a:rPr lang="en-US" sz="2500" dirty="0" err="1">
                <a:latin typeface="+mn-lt"/>
                <a:sym typeface="Wingdings" panose="05000000000000000000" pitchFamily="2" charset="2"/>
              </a:rPr>
              <a:t>tầm</a:t>
            </a:r>
            <a:r>
              <a:rPr lang="en-US" sz="2500" dirty="0">
                <a:latin typeface="+mn-lt"/>
                <a:sym typeface="Wingdings" panose="05000000000000000000" pitchFamily="2" charset="2"/>
              </a:rPr>
              <a:t> </a:t>
            </a:r>
            <a:r>
              <a:rPr lang="en-US" sz="2500" dirty="0" err="1">
                <a:latin typeface="+mn-lt"/>
                <a:sym typeface="Wingdings" panose="05000000000000000000" pitchFamily="2" charset="2"/>
              </a:rPr>
              <a:t>quan</a:t>
            </a:r>
            <a:r>
              <a:rPr lang="en-US" sz="2500" dirty="0">
                <a:latin typeface="+mn-lt"/>
                <a:sym typeface="Wingdings" panose="05000000000000000000" pitchFamily="2" charset="2"/>
              </a:rPr>
              <a:t> </a:t>
            </a:r>
            <a:r>
              <a:rPr lang="en-US" sz="2500" dirty="0" err="1">
                <a:latin typeface="+mn-lt"/>
                <a:sym typeface="Wingdings" panose="05000000000000000000" pitchFamily="2" charset="2"/>
              </a:rPr>
              <a:t>trọng</a:t>
            </a:r>
            <a:r>
              <a:rPr lang="en-US" sz="2500" dirty="0">
                <a:latin typeface="+mn-lt"/>
                <a:sym typeface="Wingdings" panose="05000000000000000000" pitchFamily="2" charset="2"/>
              </a:rPr>
              <a:t> </a:t>
            </a:r>
            <a:r>
              <a:rPr lang="en-US" sz="2500" dirty="0" err="1">
                <a:latin typeface="+mn-lt"/>
                <a:sym typeface="Wingdings" panose="05000000000000000000" pitchFamily="2" charset="2"/>
              </a:rPr>
              <a:t>của</a:t>
            </a:r>
            <a:r>
              <a:rPr lang="en-US" sz="2500" dirty="0">
                <a:latin typeface="+mn-lt"/>
                <a:sym typeface="Wingdings" panose="05000000000000000000" pitchFamily="2" charset="2"/>
              </a:rPr>
              <a:t> </a:t>
            </a:r>
            <a:r>
              <a:rPr lang="en-US" sz="2500" dirty="0" err="1">
                <a:latin typeface="+mn-lt"/>
                <a:sym typeface="Wingdings" panose="05000000000000000000" pitchFamily="2" charset="2"/>
              </a:rPr>
              <a:t>việc</a:t>
            </a:r>
            <a:r>
              <a:rPr lang="en-US" sz="2500" dirty="0">
                <a:latin typeface="+mn-lt"/>
                <a:sym typeface="Wingdings" panose="05000000000000000000" pitchFamily="2" charset="2"/>
              </a:rPr>
              <a:t> </a:t>
            </a:r>
            <a:r>
              <a:rPr lang="en-US" sz="2500" dirty="0" err="1">
                <a:latin typeface="+mn-lt"/>
                <a:sym typeface="Wingdings" panose="05000000000000000000" pitchFamily="2" charset="2"/>
              </a:rPr>
              <a:t>lựa</a:t>
            </a:r>
            <a:r>
              <a:rPr lang="en-US" sz="2500" dirty="0">
                <a:latin typeface="+mn-lt"/>
                <a:sym typeface="Wingdings" panose="05000000000000000000" pitchFamily="2" charset="2"/>
              </a:rPr>
              <a:t> </a:t>
            </a:r>
            <a:r>
              <a:rPr lang="en-US" sz="2500" dirty="0" err="1">
                <a:latin typeface="+mn-lt"/>
                <a:sym typeface="Wingdings" panose="05000000000000000000" pitchFamily="2" charset="2"/>
              </a:rPr>
              <a:t>ch</a:t>
            </a:r>
            <a:r>
              <a:rPr sz="2500" dirty="0" err="1">
                <a:latin typeface="+mn-lt"/>
              </a:rPr>
              <a:t>ọn</a:t>
            </a:r>
            <a:r>
              <a:rPr sz="2500" dirty="0">
                <a:latin typeface="+mn-lt"/>
              </a:rPr>
              <a:t> </a:t>
            </a:r>
            <a:r>
              <a:rPr sz="2500" dirty="0" err="1">
                <a:latin typeface="+mn-lt"/>
              </a:rPr>
              <a:t>mô</a:t>
            </a:r>
            <a:r>
              <a:rPr sz="2500" dirty="0">
                <a:latin typeface="+mn-lt"/>
              </a:rPr>
              <a:t> </a:t>
            </a:r>
            <a:r>
              <a:rPr sz="2500" dirty="0" err="1">
                <a:latin typeface="+mn-lt"/>
              </a:rPr>
              <a:t>hình</a:t>
            </a:r>
            <a:r>
              <a:rPr sz="2500" dirty="0">
                <a:latin typeface="+mn-lt"/>
              </a:rPr>
              <a:t> </a:t>
            </a:r>
            <a:r>
              <a:rPr sz="2500" dirty="0" err="1">
                <a:latin typeface="+mn-lt"/>
              </a:rPr>
              <a:t>phù</a:t>
            </a:r>
            <a:r>
              <a:rPr sz="2500" dirty="0">
                <a:latin typeface="+mn-lt"/>
              </a:rPr>
              <a:t> </a:t>
            </a:r>
            <a:r>
              <a:rPr sz="2500" dirty="0" err="1">
                <a:latin typeface="+mn-lt"/>
              </a:rPr>
              <a:t>hợp</a:t>
            </a:r>
            <a:endParaRPr lang="en-US" sz="2500" dirty="0">
              <a:latin typeface="+mn-lt"/>
            </a:endParaRPr>
          </a:p>
          <a:p>
            <a:pPr marL="0" indent="0">
              <a:buNone/>
            </a:pPr>
            <a:r>
              <a:rPr lang="en-US" sz="2500" dirty="0">
                <a:latin typeface="+mn-lt"/>
                <a:sym typeface="Wingdings" panose="05000000000000000000" pitchFamily="2" charset="2"/>
              </a:rPr>
              <a:t> </a:t>
            </a:r>
            <a:r>
              <a:rPr lang="en-US" sz="2500" dirty="0" err="1">
                <a:latin typeface="+mn-lt"/>
                <a:sym typeface="Wingdings" panose="05000000000000000000" pitchFamily="2" charset="2"/>
              </a:rPr>
              <a:t>Chuyển</a:t>
            </a:r>
            <a:r>
              <a:rPr lang="en-US" sz="2500" dirty="0">
                <a:latin typeface="+mn-lt"/>
                <a:sym typeface="Wingdings" panose="05000000000000000000" pitchFamily="2" charset="2"/>
              </a:rPr>
              <a:t> </a:t>
            </a:r>
            <a:r>
              <a:rPr lang="en-US" sz="2500" dirty="0" err="1">
                <a:latin typeface="+mn-lt"/>
                <a:sym typeface="Wingdings" panose="05000000000000000000" pitchFamily="2" charset="2"/>
              </a:rPr>
              <a:t>từ</a:t>
            </a:r>
            <a:r>
              <a:rPr lang="en-US" sz="2500" dirty="0">
                <a:latin typeface="+mn-lt"/>
                <a:sym typeface="Wingdings" panose="05000000000000000000" pitchFamily="2" charset="2"/>
              </a:rPr>
              <a:t> </a:t>
            </a:r>
            <a:r>
              <a:rPr lang="en-US" sz="2500" dirty="0" err="1">
                <a:latin typeface="+mn-lt"/>
                <a:sym typeface="Wingdings" panose="05000000000000000000" pitchFamily="2" charset="2"/>
              </a:rPr>
              <a:t>cách</a:t>
            </a:r>
            <a:r>
              <a:rPr lang="en-US" sz="2500" dirty="0">
                <a:latin typeface="+mn-lt"/>
                <a:sym typeface="Wingdings" panose="05000000000000000000" pitchFamily="2" charset="2"/>
              </a:rPr>
              <a:t> </a:t>
            </a:r>
            <a:r>
              <a:rPr lang="en-US" sz="2500" dirty="0" err="1">
                <a:latin typeface="+mn-lt"/>
                <a:sym typeface="Wingdings" panose="05000000000000000000" pitchFamily="2" charset="2"/>
              </a:rPr>
              <a:t>quản</a:t>
            </a:r>
            <a:r>
              <a:rPr lang="en-US" sz="2500" dirty="0">
                <a:latin typeface="+mn-lt"/>
                <a:sym typeface="Wingdings" panose="05000000000000000000" pitchFamily="2" charset="2"/>
              </a:rPr>
              <a:t> </a:t>
            </a:r>
            <a:r>
              <a:rPr lang="en-US" sz="2500" dirty="0" err="1">
                <a:latin typeface="+mn-lt"/>
                <a:sym typeface="Wingdings" panose="05000000000000000000" pitchFamily="2" charset="2"/>
              </a:rPr>
              <a:t>lý</a:t>
            </a:r>
            <a:r>
              <a:rPr lang="en-US" sz="2500" dirty="0">
                <a:latin typeface="+mn-lt"/>
                <a:sym typeface="Wingdings" panose="05000000000000000000" pitchFamily="2" charset="2"/>
              </a:rPr>
              <a:t> </a:t>
            </a:r>
            <a:r>
              <a:rPr lang="en-US" sz="2500" dirty="0" err="1">
                <a:latin typeface="+mn-lt"/>
                <a:sym typeface="Wingdings" panose="05000000000000000000" pitchFamily="2" charset="2"/>
              </a:rPr>
              <a:t>dựa</a:t>
            </a:r>
            <a:r>
              <a:rPr lang="en-US" sz="2500" dirty="0">
                <a:latin typeface="+mn-lt"/>
                <a:sym typeface="Wingdings" panose="05000000000000000000" pitchFamily="2" charset="2"/>
              </a:rPr>
              <a:t> </a:t>
            </a:r>
            <a:r>
              <a:rPr lang="en-US" sz="2500" dirty="0" err="1">
                <a:latin typeface="+mn-lt"/>
                <a:sym typeface="Wingdings" panose="05000000000000000000" pitchFamily="2" charset="2"/>
              </a:rPr>
              <a:t>trên</a:t>
            </a:r>
            <a:r>
              <a:rPr lang="en-US" sz="2500" dirty="0">
                <a:latin typeface="+mn-lt"/>
                <a:sym typeface="Wingdings" panose="05000000000000000000" pitchFamily="2" charset="2"/>
              </a:rPr>
              <a:t> </a:t>
            </a:r>
            <a:r>
              <a:rPr lang="en-US" sz="2500" dirty="0" err="1">
                <a:latin typeface="+mn-lt"/>
                <a:sym typeface="Wingdings" panose="05000000000000000000" pitchFamily="2" charset="2"/>
              </a:rPr>
              <a:t>kinh</a:t>
            </a:r>
            <a:r>
              <a:rPr lang="en-US" sz="2500" dirty="0">
                <a:latin typeface="+mn-lt"/>
                <a:sym typeface="Wingdings" panose="05000000000000000000" pitchFamily="2" charset="2"/>
              </a:rPr>
              <a:t> </a:t>
            </a:r>
            <a:r>
              <a:rPr lang="en-US" sz="2500" dirty="0" err="1">
                <a:latin typeface="+mn-lt"/>
                <a:sym typeface="Wingdings" panose="05000000000000000000" pitchFamily="2" charset="2"/>
              </a:rPr>
              <a:t>nghiệm</a:t>
            </a:r>
            <a:r>
              <a:rPr lang="en-US" sz="2500" dirty="0">
                <a:latin typeface="+mn-lt"/>
                <a:sym typeface="Wingdings" panose="05000000000000000000" pitchFamily="2" charset="2"/>
              </a:rPr>
              <a:t> sang </a:t>
            </a:r>
            <a:r>
              <a:rPr lang="en-US" sz="2500" dirty="0" err="1">
                <a:latin typeface="+mn-lt"/>
                <a:sym typeface="Wingdings" panose="05000000000000000000" pitchFamily="2" charset="2"/>
              </a:rPr>
              <a:t>quản</a:t>
            </a:r>
            <a:r>
              <a:rPr lang="en-US" sz="2500" dirty="0">
                <a:latin typeface="+mn-lt"/>
                <a:sym typeface="Wingdings" panose="05000000000000000000" pitchFamily="2" charset="2"/>
              </a:rPr>
              <a:t> </a:t>
            </a:r>
            <a:r>
              <a:rPr lang="en-US" sz="2500" dirty="0" err="1">
                <a:latin typeface="+mn-lt"/>
                <a:sym typeface="Wingdings" panose="05000000000000000000" pitchFamily="2" charset="2"/>
              </a:rPr>
              <a:t>lý</a:t>
            </a:r>
            <a:r>
              <a:rPr lang="en-US" sz="2500" dirty="0">
                <a:latin typeface="+mn-lt"/>
                <a:sym typeface="Wingdings" panose="05000000000000000000" pitchFamily="2" charset="2"/>
              </a:rPr>
              <a:t> </a:t>
            </a:r>
            <a:r>
              <a:rPr lang="en-US" sz="2500" dirty="0" err="1">
                <a:latin typeface="+mn-lt"/>
                <a:sym typeface="Wingdings" panose="05000000000000000000" pitchFamily="2" charset="2"/>
              </a:rPr>
              <a:t>dựa</a:t>
            </a:r>
            <a:r>
              <a:rPr lang="en-US" sz="2500" dirty="0">
                <a:latin typeface="+mn-lt"/>
                <a:sym typeface="Wingdings" panose="05000000000000000000" pitchFamily="2" charset="2"/>
              </a:rPr>
              <a:t> </a:t>
            </a:r>
            <a:r>
              <a:rPr lang="en-US" sz="2500" dirty="0" err="1">
                <a:latin typeface="+mn-lt"/>
                <a:sym typeface="Wingdings" panose="05000000000000000000" pitchFamily="2" charset="2"/>
              </a:rPr>
              <a:t>trên</a:t>
            </a:r>
            <a:r>
              <a:rPr lang="en-US" sz="2500" dirty="0">
                <a:latin typeface="+mn-lt"/>
                <a:sym typeface="Wingdings" panose="05000000000000000000" pitchFamily="2" charset="2"/>
              </a:rPr>
              <a:t> </a:t>
            </a:r>
            <a:r>
              <a:rPr lang="en-US" sz="2500" dirty="0" err="1">
                <a:latin typeface="+mn-lt"/>
                <a:sym typeface="Wingdings" panose="05000000000000000000" pitchFamily="2" charset="2"/>
              </a:rPr>
              <a:t>dữ</a:t>
            </a:r>
            <a:r>
              <a:rPr lang="en-US" sz="2500" dirty="0">
                <a:latin typeface="+mn-lt"/>
                <a:sym typeface="Wingdings" panose="05000000000000000000" pitchFamily="2" charset="2"/>
              </a:rPr>
              <a:t> </a:t>
            </a:r>
            <a:r>
              <a:rPr lang="en-US" sz="2500" dirty="0" err="1">
                <a:latin typeface="+mn-lt"/>
                <a:sym typeface="Wingdings" panose="05000000000000000000" pitchFamily="2" charset="2"/>
              </a:rPr>
              <a:t>liệu</a:t>
            </a:r>
            <a:r>
              <a:rPr lang="en-US" sz="2500" dirty="0">
                <a:latin typeface="+mn-lt"/>
                <a:sym typeface="Wingdings" panose="05000000000000000000" pitchFamily="2" charset="2"/>
              </a:rPr>
              <a:t> </a:t>
            </a:r>
            <a:r>
              <a:rPr lang="en-US" sz="2500" dirty="0">
                <a:latin typeface="+mn-lt"/>
                <a:sym typeface="Symbol" panose="05050102010706020507" pitchFamily="18" charset="2"/>
              </a:rPr>
              <a:t> </a:t>
            </a:r>
            <a:r>
              <a:rPr lang="en-US" sz="2500" dirty="0" err="1">
                <a:latin typeface="+mn-lt"/>
                <a:sym typeface="Symbol" panose="05050102010706020507" pitchFamily="18" charset="2"/>
              </a:rPr>
              <a:t>nâng</a:t>
            </a:r>
            <a:r>
              <a:rPr lang="en-US" sz="2500" dirty="0">
                <a:latin typeface="+mn-lt"/>
                <a:sym typeface="Symbol" panose="05050102010706020507" pitchFamily="18" charset="2"/>
              </a:rPr>
              <a:t> </a:t>
            </a:r>
            <a:r>
              <a:rPr lang="en-US" sz="2500" dirty="0" err="1">
                <a:latin typeface="+mn-lt"/>
                <a:sym typeface="Symbol" panose="05050102010706020507" pitchFamily="18" charset="2"/>
              </a:rPr>
              <a:t>cao</a:t>
            </a:r>
            <a:r>
              <a:rPr lang="en-US" sz="2500" dirty="0">
                <a:latin typeface="+mn-lt"/>
                <a:sym typeface="Symbol" panose="05050102010706020507" pitchFamily="18" charset="2"/>
              </a:rPr>
              <a:t> </a:t>
            </a:r>
            <a:r>
              <a:rPr lang="en-US" sz="2500" dirty="0" err="1">
                <a:latin typeface="+mn-lt"/>
                <a:sym typeface="Symbol" panose="05050102010706020507" pitchFamily="18" charset="2"/>
              </a:rPr>
              <a:t>tính</a:t>
            </a:r>
            <a:r>
              <a:rPr lang="en-US" sz="2500" dirty="0">
                <a:latin typeface="+mn-lt"/>
                <a:sym typeface="Symbol" panose="05050102010706020507" pitchFamily="18" charset="2"/>
              </a:rPr>
              <a:t> </a:t>
            </a:r>
            <a:r>
              <a:rPr lang="en-US" sz="2500" dirty="0" err="1">
                <a:latin typeface="+mn-lt"/>
                <a:sym typeface="Symbol" panose="05050102010706020507" pitchFamily="18" charset="2"/>
              </a:rPr>
              <a:t>chủ</a:t>
            </a:r>
            <a:r>
              <a:rPr lang="en-US" sz="2500" dirty="0">
                <a:latin typeface="+mn-lt"/>
                <a:sym typeface="Symbol" panose="05050102010706020507" pitchFamily="18" charset="2"/>
              </a:rPr>
              <a:t> </a:t>
            </a:r>
            <a:r>
              <a:rPr lang="en-US" sz="2500" dirty="0" err="1">
                <a:latin typeface="+mn-lt"/>
                <a:sym typeface="Symbol" panose="05050102010706020507" pitchFamily="18" charset="2"/>
              </a:rPr>
              <a:t>động</a:t>
            </a:r>
            <a:r>
              <a:rPr lang="en-US" sz="2500" dirty="0">
                <a:latin typeface="+mn-lt"/>
                <a:sym typeface="Symbol" panose="05050102010706020507" pitchFamily="18" charset="2"/>
              </a:rPr>
              <a:t> </a:t>
            </a:r>
            <a:r>
              <a:rPr lang="en-US" sz="2500" dirty="0" err="1">
                <a:latin typeface="+mn-lt"/>
                <a:sym typeface="Symbol" panose="05050102010706020507" pitchFamily="18" charset="2"/>
              </a:rPr>
              <a:t>và</a:t>
            </a:r>
            <a:r>
              <a:rPr lang="en-US" sz="2500" dirty="0">
                <a:latin typeface="+mn-lt"/>
                <a:sym typeface="Symbol" panose="05050102010706020507" pitchFamily="18" charset="2"/>
              </a:rPr>
              <a:t> </a:t>
            </a:r>
            <a:r>
              <a:rPr lang="en-US" sz="2500" dirty="0" err="1">
                <a:latin typeface="+mn-lt"/>
                <a:sym typeface="Symbol" panose="05050102010706020507" pitchFamily="18" charset="2"/>
              </a:rPr>
              <a:t>hiệu</a:t>
            </a:r>
            <a:r>
              <a:rPr lang="en-US" sz="2500" dirty="0">
                <a:latin typeface="+mn-lt"/>
                <a:sym typeface="Symbol" panose="05050102010706020507" pitchFamily="18" charset="2"/>
              </a:rPr>
              <a:t> </a:t>
            </a:r>
            <a:r>
              <a:rPr lang="en-US" sz="2500" dirty="0" err="1">
                <a:latin typeface="+mn-lt"/>
                <a:sym typeface="Symbol" panose="05050102010706020507" pitchFamily="18" charset="2"/>
              </a:rPr>
              <a:t>quả</a:t>
            </a:r>
            <a:endParaRPr sz="2500" dirty="0">
              <a:latin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3819" y="311898"/>
            <a:ext cx="6660611" cy="1211263"/>
          </a:xfrm>
          <a:noFill/>
          <a:ln>
            <a:noFill/>
          </a:ln>
        </p:spPr>
        <p:txBody>
          <a:bodyPr spcFirstLastPara="1" wrap="square" lIns="91425" tIns="91425" rIns="91425" bIns="91425" anchor="t" anchorCtr="0">
            <a:noAutofit/>
          </a:bodyPr>
          <a:lstStyle/>
          <a:p>
            <a:pPr algn="ctr"/>
            <a:r>
              <a:rPr sz="3600" dirty="0" err="1">
                <a:latin typeface="Aptos Display" panose="020B0004020202020204" pitchFamily="34" charset="0"/>
              </a:rPr>
              <a:t>Hạn</a:t>
            </a:r>
            <a:r>
              <a:rPr sz="3600" dirty="0">
                <a:latin typeface="Aptos Display" panose="020B0004020202020204" pitchFamily="34" charset="0"/>
              </a:rPr>
              <a:t> </a:t>
            </a:r>
            <a:r>
              <a:rPr sz="3600" dirty="0" err="1">
                <a:latin typeface="Aptos Display" panose="020B0004020202020204" pitchFamily="34" charset="0"/>
              </a:rPr>
              <a:t>chế</a:t>
            </a:r>
            <a:r>
              <a:rPr sz="3600" dirty="0">
                <a:latin typeface="Aptos Display" panose="020B0004020202020204" pitchFamily="34" charset="0"/>
              </a:rPr>
              <a:t> &amp; </a:t>
            </a:r>
            <a:r>
              <a:rPr sz="3600" dirty="0" err="1">
                <a:latin typeface="Aptos Display" panose="020B0004020202020204" pitchFamily="34" charset="0"/>
              </a:rPr>
              <a:t>Hướng</a:t>
            </a:r>
            <a:r>
              <a:rPr sz="3600" dirty="0">
                <a:latin typeface="Aptos Display" panose="020B0004020202020204" pitchFamily="34" charset="0"/>
              </a:rPr>
              <a:t> </a:t>
            </a:r>
            <a:r>
              <a:rPr sz="3600" dirty="0" err="1">
                <a:latin typeface="Aptos Display" panose="020B0004020202020204" pitchFamily="34" charset="0"/>
              </a:rPr>
              <a:t>phát</a:t>
            </a:r>
            <a:r>
              <a:rPr sz="3600" dirty="0">
                <a:latin typeface="Aptos Display" panose="020B0004020202020204" pitchFamily="34" charset="0"/>
              </a:rPr>
              <a:t> </a:t>
            </a:r>
            <a:r>
              <a:rPr sz="3600" dirty="0" err="1">
                <a:latin typeface="Aptos Display" panose="020B0004020202020204" pitchFamily="34" charset="0"/>
              </a:rPr>
              <a:t>triển</a:t>
            </a:r>
            <a:endParaRPr sz="3600" dirty="0">
              <a:latin typeface="Aptos Display" panose="020B0004020202020204" pitchFamily="34" charset="0"/>
            </a:endParaRPr>
          </a:p>
        </p:txBody>
      </p:sp>
      <p:sp>
        <p:nvSpPr>
          <p:cNvPr id="4" name="Picture Placeholder 3"/>
          <p:cNvSpPr>
            <a:spLocks noGrp="1"/>
          </p:cNvSpPr>
          <p:nvPr>
            <p:ph type="pic" idx="4294967295"/>
          </p:nvPr>
        </p:nvSpPr>
        <p:spPr>
          <a:xfrm>
            <a:off x="553109" y="1323376"/>
            <a:ext cx="8057072" cy="2496748"/>
          </a:xfrm>
          <a:noFill/>
          <a:ln>
            <a:noFill/>
          </a:ln>
        </p:spPr>
        <p:txBody>
          <a:bodyPr/>
          <a:lstStyle/>
          <a:p>
            <a:pPr marL="0" indent="0">
              <a:buNone/>
            </a:pPr>
            <a:r>
              <a:rPr sz="2500" dirty="0" err="1">
                <a:latin typeface="+mn-lt"/>
              </a:rPr>
              <a:t>Mô</a:t>
            </a:r>
            <a:r>
              <a:rPr sz="2500" dirty="0">
                <a:latin typeface="+mn-lt"/>
              </a:rPr>
              <a:t> </a:t>
            </a:r>
            <a:r>
              <a:rPr sz="2500" dirty="0" err="1">
                <a:latin typeface="+mn-lt"/>
              </a:rPr>
              <a:t>hình</a:t>
            </a:r>
            <a:r>
              <a:rPr sz="2500" dirty="0">
                <a:latin typeface="+mn-lt"/>
              </a:rPr>
              <a:t> </a:t>
            </a:r>
            <a:r>
              <a:rPr sz="2500" dirty="0" err="1">
                <a:latin typeface="+mn-lt"/>
              </a:rPr>
              <a:t>hiện</a:t>
            </a:r>
            <a:r>
              <a:rPr sz="2500" dirty="0">
                <a:latin typeface="+mn-lt"/>
              </a:rPr>
              <a:t> </a:t>
            </a:r>
            <a:r>
              <a:rPr sz="2500" dirty="0" err="1">
                <a:latin typeface="+mn-lt"/>
              </a:rPr>
              <a:t>tại</a:t>
            </a:r>
            <a:r>
              <a:rPr sz="2500" dirty="0">
                <a:latin typeface="+mn-lt"/>
              </a:rPr>
              <a:t> </a:t>
            </a:r>
            <a:r>
              <a:rPr sz="2500" dirty="0" err="1">
                <a:latin typeface="+mn-lt"/>
              </a:rPr>
              <a:t>chưa</a:t>
            </a:r>
            <a:r>
              <a:rPr sz="2500" dirty="0">
                <a:latin typeface="+mn-lt"/>
              </a:rPr>
              <a:t> </a:t>
            </a:r>
            <a:r>
              <a:rPr sz="2500" dirty="0" err="1">
                <a:latin typeface="+mn-lt"/>
              </a:rPr>
              <a:t>xét</a:t>
            </a:r>
            <a:r>
              <a:rPr sz="2500" dirty="0">
                <a:latin typeface="+mn-lt"/>
              </a:rPr>
              <a:t> </a:t>
            </a:r>
            <a:r>
              <a:rPr sz="2500" dirty="0" err="1">
                <a:latin typeface="+mn-lt"/>
              </a:rPr>
              <a:t>biến</a:t>
            </a:r>
            <a:r>
              <a:rPr sz="2500" dirty="0">
                <a:latin typeface="+mn-lt"/>
              </a:rPr>
              <a:t> </a:t>
            </a:r>
            <a:r>
              <a:rPr sz="2500" dirty="0" err="1">
                <a:latin typeface="+mn-lt"/>
              </a:rPr>
              <a:t>ngoại</a:t>
            </a:r>
            <a:r>
              <a:rPr sz="2500" dirty="0">
                <a:latin typeface="+mn-lt"/>
              </a:rPr>
              <a:t> </a:t>
            </a:r>
            <a:r>
              <a:rPr sz="2500" dirty="0" err="1">
                <a:latin typeface="+mn-lt"/>
              </a:rPr>
              <a:t>sinh</a:t>
            </a:r>
            <a:r>
              <a:rPr sz="2500" dirty="0">
                <a:latin typeface="+mn-lt"/>
              </a:rPr>
              <a:t> </a:t>
            </a:r>
            <a:r>
              <a:rPr sz="2500" dirty="0" err="1">
                <a:latin typeface="+mn-lt"/>
              </a:rPr>
              <a:t>như</a:t>
            </a:r>
            <a:r>
              <a:rPr sz="2500" dirty="0">
                <a:latin typeface="+mn-lt"/>
              </a:rPr>
              <a:t> </a:t>
            </a:r>
            <a:r>
              <a:rPr sz="2500" dirty="0" err="1">
                <a:latin typeface="+mn-lt"/>
              </a:rPr>
              <a:t>khuyến</a:t>
            </a:r>
            <a:r>
              <a:rPr sz="2500" dirty="0">
                <a:latin typeface="+mn-lt"/>
              </a:rPr>
              <a:t> </a:t>
            </a:r>
            <a:r>
              <a:rPr sz="2500" dirty="0" err="1">
                <a:latin typeface="+mn-lt"/>
              </a:rPr>
              <a:t>mãi</a:t>
            </a:r>
            <a:r>
              <a:rPr sz="2500" dirty="0">
                <a:latin typeface="+mn-lt"/>
              </a:rPr>
              <a:t> hay </a:t>
            </a:r>
            <a:r>
              <a:rPr sz="2500" dirty="0" err="1">
                <a:latin typeface="+mn-lt"/>
              </a:rPr>
              <a:t>yếu</a:t>
            </a:r>
            <a:r>
              <a:rPr sz="2500" dirty="0">
                <a:latin typeface="+mn-lt"/>
              </a:rPr>
              <a:t> </a:t>
            </a:r>
            <a:r>
              <a:rPr sz="2500" dirty="0" err="1">
                <a:latin typeface="+mn-lt"/>
              </a:rPr>
              <a:t>tố</a:t>
            </a:r>
            <a:r>
              <a:rPr sz="2500" dirty="0">
                <a:latin typeface="+mn-lt"/>
              </a:rPr>
              <a:t> </a:t>
            </a:r>
            <a:r>
              <a:rPr sz="2500" dirty="0" err="1">
                <a:latin typeface="+mn-lt"/>
              </a:rPr>
              <a:t>vĩ</a:t>
            </a:r>
            <a:r>
              <a:rPr sz="2500" dirty="0">
                <a:latin typeface="+mn-lt"/>
              </a:rPr>
              <a:t> </a:t>
            </a:r>
            <a:r>
              <a:rPr sz="2500" dirty="0" err="1">
                <a:latin typeface="+mn-lt"/>
              </a:rPr>
              <a:t>mô</a:t>
            </a:r>
            <a:r>
              <a:rPr lang="en-US" sz="2500" dirty="0">
                <a:latin typeface="+mn-lt"/>
              </a:rPr>
              <a:t> hay </a:t>
            </a:r>
            <a:r>
              <a:rPr lang="en-US" sz="2500" dirty="0" err="1">
                <a:latin typeface="+mn-lt"/>
              </a:rPr>
              <a:t>chương</a:t>
            </a:r>
            <a:r>
              <a:rPr lang="en-US" sz="2500" dirty="0">
                <a:latin typeface="+mn-lt"/>
              </a:rPr>
              <a:t> </a:t>
            </a:r>
            <a:r>
              <a:rPr lang="en-US" sz="2500" dirty="0" err="1">
                <a:latin typeface="+mn-lt"/>
              </a:rPr>
              <a:t>trình</a:t>
            </a:r>
            <a:r>
              <a:rPr lang="en-US" sz="2500" dirty="0">
                <a:latin typeface="+mn-lt"/>
              </a:rPr>
              <a:t> </a:t>
            </a:r>
            <a:r>
              <a:rPr lang="en-US" sz="2500" dirty="0" err="1">
                <a:latin typeface="+mn-lt"/>
              </a:rPr>
              <a:t>đặc</a:t>
            </a:r>
            <a:r>
              <a:rPr lang="en-US" sz="2500" dirty="0">
                <a:latin typeface="+mn-lt"/>
              </a:rPr>
              <a:t> </a:t>
            </a:r>
            <a:r>
              <a:rPr lang="en-US" sz="2500" dirty="0" err="1">
                <a:latin typeface="+mn-lt"/>
              </a:rPr>
              <a:t>biệt</a:t>
            </a:r>
            <a:r>
              <a:rPr sz="2500" dirty="0">
                <a:latin typeface="+mn-lt"/>
              </a:rPr>
              <a:t>. </a:t>
            </a:r>
            <a:endParaRPr lang="en-US" sz="2500" dirty="0">
              <a:latin typeface="+mn-lt"/>
            </a:endParaRPr>
          </a:p>
          <a:p>
            <a:pPr marL="0" indent="0">
              <a:buNone/>
            </a:pPr>
            <a:r>
              <a:rPr sz="2500" dirty="0" err="1">
                <a:latin typeface="+mn-lt"/>
              </a:rPr>
              <a:t>Hướng</a:t>
            </a:r>
            <a:r>
              <a:rPr sz="2500" dirty="0">
                <a:latin typeface="+mn-lt"/>
              </a:rPr>
              <a:t> </a:t>
            </a:r>
            <a:r>
              <a:rPr sz="2500" dirty="0" err="1">
                <a:latin typeface="+mn-lt"/>
              </a:rPr>
              <a:t>tiếp</a:t>
            </a:r>
            <a:r>
              <a:rPr sz="2500" dirty="0">
                <a:latin typeface="+mn-lt"/>
              </a:rPr>
              <a:t> </a:t>
            </a:r>
            <a:r>
              <a:rPr sz="2500" dirty="0" err="1">
                <a:latin typeface="+mn-lt"/>
              </a:rPr>
              <a:t>theo</a:t>
            </a:r>
            <a:r>
              <a:rPr sz="2500" dirty="0">
                <a:latin typeface="+mn-lt"/>
              </a:rPr>
              <a:t> </a:t>
            </a:r>
            <a:r>
              <a:rPr sz="2500" dirty="0" err="1">
                <a:latin typeface="+mn-lt"/>
              </a:rPr>
              <a:t>là</a:t>
            </a:r>
            <a:r>
              <a:rPr sz="2500" dirty="0">
                <a:latin typeface="+mn-lt"/>
              </a:rPr>
              <a:t> </a:t>
            </a:r>
            <a:r>
              <a:rPr sz="2500" dirty="0" err="1">
                <a:latin typeface="+mn-lt"/>
              </a:rPr>
              <a:t>mở</a:t>
            </a:r>
            <a:r>
              <a:rPr sz="2500" dirty="0">
                <a:latin typeface="+mn-lt"/>
              </a:rPr>
              <a:t> </a:t>
            </a:r>
            <a:r>
              <a:rPr sz="2500" dirty="0" err="1">
                <a:latin typeface="+mn-lt"/>
              </a:rPr>
              <a:t>rộng</a:t>
            </a:r>
            <a:r>
              <a:rPr sz="2500" dirty="0">
                <a:latin typeface="+mn-lt"/>
              </a:rPr>
              <a:t> SARIMAX </a:t>
            </a:r>
            <a:r>
              <a:rPr sz="2500" dirty="0" err="1">
                <a:latin typeface="+mn-lt"/>
              </a:rPr>
              <a:t>hoặc</a:t>
            </a:r>
            <a:r>
              <a:rPr sz="2500" dirty="0">
                <a:latin typeface="+mn-lt"/>
              </a:rPr>
              <a:t> </a:t>
            </a:r>
            <a:r>
              <a:rPr sz="2500" dirty="0" err="1">
                <a:latin typeface="+mn-lt"/>
              </a:rPr>
              <a:t>kết</a:t>
            </a:r>
            <a:r>
              <a:rPr sz="2500" dirty="0">
                <a:latin typeface="+mn-lt"/>
              </a:rPr>
              <a:t> </a:t>
            </a:r>
            <a:r>
              <a:rPr sz="2500" dirty="0" err="1">
                <a:latin typeface="+mn-lt"/>
              </a:rPr>
              <a:t>hợp</a:t>
            </a:r>
            <a:r>
              <a:rPr sz="2500" dirty="0">
                <a:latin typeface="+mn-lt"/>
              </a:rPr>
              <a:t> </a:t>
            </a:r>
            <a:r>
              <a:rPr sz="2500" dirty="0" err="1">
                <a:latin typeface="+mn-lt"/>
              </a:rPr>
              <a:t>các</a:t>
            </a:r>
            <a:r>
              <a:rPr sz="2500" dirty="0">
                <a:latin typeface="+mn-lt"/>
              </a:rPr>
              <a:t> </a:t>
            </a:r>
            <a:r>
              <a:rPr sz="2500" dirty="0" err="1">
                <a:latin typeface="+mn-lt"/>
              </a:rPr>
              <a:t>phương</a:t>
            </a:r>
            <a:r>
              <a:rPr sz="2500" dirty="0">
                <a:latin typeface="+mn-lt"/>
              </a:rPr>
              <a:t> </a:t>
            </a:r>
            <a:r>
              <a:rPr sz="2500" dirty="0" err="1">
                <a:latin typeface="+mn-lt"/>
              </a:rPr>
              <a:t>pháp</a:t>
            </a:r>
            <a:r>
              <a:rPr sz="2500" dirty="0">
                <a:latin typeface="+mn-lt"/>
              </a:rPr>
              <a:t> </a:t>
            </a:r>
            <a:r>
              <a:rPr sz="2500" dirty="0" err="1">
                <a:latin typeface="+mn-lt"/>
              </a:rPr>
              <a:t>học</a:t>
            </a:r>
            <a:r>
              <a:rPr sz="2500" dirty="0">
                <a:latin typeface="+mn-lt"/>
              </a:rPr>
              <a:t> </a:t>
            </a:r>
            <a:r>
              <a:rPr sz="2500" dirty="0" err="1">
                <a:latin typeface="+mn-lt"/>
              </a:rPr>
              <a:t>máy</a:t>
            </a:r>
            <a:r>
              <a:rPr sz="2500" dirty="0">
                <a:latin typeface="+mn-lt"/>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B04C6A-C246-EFF2-F4E0-B57F852896D1}"/>
              </a:ext>
            </a:extLst>
          </p:cNvPr>
          <p:cNvSpPr>
            <a:spLocks noGrp="1"/>
          </p:cNvSpPr>
          <p:nvPr>
            <p:ph type="title"/>
          </p:nvPr>
        </p:nvSpPr>
        <p:spPr>
          <a:xfrm>
            <a:off x="2317949" y="1307100"/>
            <a:ext cx="5756375" cy="2529300"/>
          </a:xfrm>
          <a:noFill/>
          <a:ln>
            <a:noFill/>
          </a:ln>
        </p:spPr>
        <p:txBody>
          <a:bodyPr spcFirstLastPara="1" wrap="square" lIns="91425" tIns="91425" rIns="91425" bIns="91425" anchor="ctr" anchorCtr="0">
            <a:noAutofit/>
          </a:bodyPr>
          <a:lstStyle/>
          <a:p>
            <a:pPr>
              <a:spcBef>
                <a:spcPts val="300"/>
              </a:spcBef>
              <a:spcAft>
                <a:spcPts val="300"/>
              </a:spcAft>
            </a:pPr>
            <a:r>
              <a:rPr lang="en-US" sz="4800" dirty="0" smtClean="0">
                <a:latin typeface="+mn-lt"/>
              </a:rPr>
              <a:t>4.3. ĐẶC ĐIỂM CÁC CHIỀU</a:t>
            </a:r>
            <a:endParaRPr lang="en-US" sz="4800" dirty="0">
              <a:latin typeface="+mn-lt"/>
            </a:endParaRPr>
          </a:p>
        </p:txBody>
      </p:sp>
    </p:spTree>
    <p:extLst>
      <p:ext uri="{BB962C8B-B14F-4D97-AF65-F5344CB8AC3E}">
        <p14:creationId xmlns="" xmlns:p14="http://schemas.microsoft.com/office/powerpoint/2010/main" val="39292028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2699" y="311898"/>
            <a:ext cx="8214102" cy="1211263"/>
          </a:xfrm>
          <a:noFill/>
          <a:ln>
            <a:noFill/>
          </a:ln>
        </p:spPr>
        <p:txBody>
          <a:bodyPr spcFirstLastPara="1" wrap="square" lIns="91425" tIns="91425" rIns="91425" bIns="91425" anchor="t" anchorCtr="0">
            <a:noAutofit/>
          </a:bodyPr>
          <a:lstStyle/>
          <a:p>
            <a:pPr algn="ctr"/>
            <a:r>
              <a:rPr lang="vi-VN" dirty="0" smtClean="0">
                <a:latin typeface="Aptos Display"/>
              </a:rPr>
              <a:t>Đặc điểm doanh thu theo Tier khách hàng</a:t>
            </a:r>
            <a:endParaRPr dirty="0">
              <a:latin typeface="Aptos Display"/>
            </a:endParaRPr>
          </a:p>
        </p:txBody>
      </p:sp>
      <p:sp>
        <p:nvSpPr>
          <p:cNvPr id="5" name="Rectangle 4"/>
          <p:cNvSpPr/>
          <p:nvPr/>
        </p:nvSpPr>
        <p:spPr>
          <a:xfrm>
            <a:off x="449451" y="926022"/>
            <a:ext cx="8237349" cy="3293209"/>
          </a:xfrm>
          <a:prstGeom prst="rect">
            <a:avLst/>
          </a:prstGeom>
        </p:spPr>
        <p:txBody>
          <a:bodyPr wrap="square">
            <a:spAutoFit/>
          </a:bodyPr>
          <a:lstStyle/>
          <a:p>
            <a:r>
              <a:rPr lang="vi-VN" sz="1600" b="1" dirty="0" smtClean="0"/>
              <a:t>Gold</a:t>
            </a:r>
            <a:endParaRPr lang="vi-VN" sz="1600" dirty="0" smtClean="0"/>
          </a:p>
          <a:p>
            <a:pPr marL="457200">
              <a:buFont typeface="Wingdings" pitchFamily="2" charset="2"/>
              <a:buChar char="§"/>
            </a:pPr>
            <a:r>
              <a:rPr lang="vi-VN" sz="1600" b="1" dirty="0" smtClean="0"/>
              <a:t>Trụ cột doanh thu</a:t>
            </a:r>
            <a:r>
              <a:rPr lang="vi-VN" sz="1600" dirty="0" smtClean="0"/>
              <a:t>, xu hướng tăng mạnh và ổn định</a:t>
            </a:r>
          </a:p>
          <a:p>
            <a:pPr marL="457200">
              <a:buFont typeface="Wingdings" pitchFamily="2" charset="2"/>
              <a:buChar char="§"/>
            </a:pPr>
            <a:r>
              <a:rPr lang="vi-VN" sz="1600" dirty="0" smtClean="0"/>
              <a:t>Mùa vụ thấp → </a:t>
            </a:r>
            <a:r>
              <a:rPr lang="vi-VN" sz="1600" b="1" dirty="0" smtClean="0"/>
              <a:t>dễ dự báo</a:t>
            </a:r>
            <a:r>
              <a:rPr lang="vi-VN" sz="1600" dirty="0" smtClean="0"/>
              <a:t>, phù hợp </a:t>
            </a:r>
            <a:r>
              <a:rPr lang="vi-VN" sz="1600" b="1" dirty="0" smtClean="0"/>
              <a:t>hoạch định dài hạn</a:t>
            </a:r>
            <a:endParaRPr lang="vi-VN" sz="1600" dirty="0" smtClean="0"/>
          </a:p>
          <a:p>
            <a:r>
              <a:rPr lang="vi-VN" sz="1600" b="1" dirty="0" smtClean="0"/>
              <a:t>Silver</a:t>
            </a:r>
            <a:endParaRPr lang="vi-VN" sz="1600" dirty="0" smtClean="0"/>
          </a:p>
          <a:p>
            <a:pPr marL="457200">
              <a:buFont typeface="Wingdings" pitchFamily="2" charset="2"/>
              <a:buChar char="§"/>
            </a:pPr>
            <a:r>
              <a:rPr lang="vi-VN" sz="1600" b="1" dirty="0" smtClean="0"/>
              <a:t>Tăng trưởng dương nhưng vừa phải</a:t>
            </a:r>
            <a:endParaRPr lang="vi-VN" sz="1600" dirty="0" smtClean="0"/>
          </a:p>
          <a:p>
            <a:pPr marL="457200">
              <a:buFont typeface="Wingdings" pitchFamily="2" charset="2"/>
              <a:buChar char="§"/>
            </a:pPr>
            <a:r>
              <a:rPr lang="vi-VN" sz="1600" dirty="0" smtClean="0"/>
              <a:t>Mùa vụ rõ → nhạy với </a:t>
            </a:r>
            <a:r>
              <a:rPr lang="vi-VN" sz="1600" b="1" dirty="0" smtClean="0"/>
              <a:t>khuyến mãi &amp; chu kỳ tiêu dùng</a:t>
            </a:r>
            <a:endParaRPr lang="vi-VN" sz="1600" dirty="0" smtClean="0"/>
          </a:p>
          <a:p>
            <a:r>
              <a:rPr lang="vi-VN" sz="1600" b="1" dirty="0" smtClean="0"/>
              <a:t>Bronze</a:t>
            </a:r>
            <a:endParaRPr lang="vi-VN" sz="1600" dirty="0" smtClean="0"/>
          </a:p>
          <a:p>
            <a:pPr marL="457200">
              <a:buFont typeface="Wingdings" pitchFamily="2" charset="2"/>
              <a:buChar char="§"/>
            </a:pPr>
            <a:r>
              <a:rPr lang="vi-VN" sz="1600" b="1" dirty="0" smtClean="0"/>
              <a:t>Xu hướng suy giảm</a:t>
            </a:r>
            <a:r>
              <a:rPr lang="vi-VN" sz="1600" dirty="0" smtClean="0"/>
              <a:t>, biến động cao</a:t>
            </a:r>
          </a:p>
          <a:p>
            <a:pPr marL="457200">
              <a:buFont typeface="Wingdings" pitchFamily="2" charset="2"/>
              <a:buChar char="§"/>
            </a:pPr>
            <a:r>
              <a:rPr lang="vi-VN" sz="1600" dirty="0" smtClean="0"/>
              <a:t>Nhiễu lớn → </a:t>
            </a:r>
            <a:r>
              <a:rPr lang="vi-VN" sz="1600" b="1" dirty="0" smtClean="0"/>
              <a:t>khó dự báo</a:t>
            </a:r>
            <a:r>
              <a:rPr lang="vi-VN" sz="1600" dirty="0" smtClean="0"/>
              <a:t>, chủ yếu tạo doanh thu ngắn hạn</a:t>
            </a:r>
          </a:p>
          <a:p>
            <a:r>
              <a:rPr lang="vi-VN" sz="1600" b="1" dirty="0" smtClean="0"/>
              <a:t>Hàm ý quản trị</a:t>
            </a:r>
            <a:endParaRPr lang="vi-VN" sz="1600" dirty="0" smtClean="0"/>
          </a:p>
          <a:p>
            <a:pPr marL="457200">
              <a:buFont typeface="Wingdings" pitchFamily="2" charset="2"/>
              <a:buChar char="§"/>
            </a:pPr>
            <a:r>
              <a:rPr lang="vi-VN" sz="1600" dirty="0" smtClean="0"/>
              <a:t>Gold: nền tảng cung ứng ổn định</a:t>
            </a:r>
          </a:p>
          <a:p>
            <a:pPr marL="457200">
              <a:buFont typeface="Wingdings" pitchFamily="2" charset="2"/>
              <a:buChar char="§"/>
            </a:pPr>
            <a:r>
              <a:rPr lang="vi-VN" sz="1600" dirty="0" smtClean="0"/>
              <a:t>Silver &amp; Bronze: nguồn biến động và </a:t>
            </a:r>
            <a:r>
              <a:rPr lang="vi-VN" sz="1600" b="1" dirty="0" smtClean="0"/>
              <a:t>động lực tăng trưởng ngắn hạn</a:t>
            </a:r>
            <a:r>
              <a:rPr lang="vi-VN" sz="1600" dirty="0" smtClean="0"/>
              <a:t>, cần chiến lược linh hoạt</a:t>
            </a:r>
            <a:endParaRPr lang="vi-VN"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64950" y="280901"/>
            <a:ext cx="8214102" cy="1211263"/>
          </a:xfrm>
          <a:noFill/>
          <a:ln>
            <a:noFill/>
          </a:ln>
        </p:spPr>
        <p:txBody>
          <a:bodyPr spcFirstLastPara="1" wrap="square" lIns="91425" tIns="91425" rIns="91425" bIns="91425" anchor="t" anchorCtr="0">
            <a:noAutofit/>
          </a:bodyPr>
          <a:lstStyle/>
          <a:p>
            <a:pPr algn="ctr"/>
            <a:r>
              <a:rPr lang="vi-VN" dirty="0" smtClean="0">
                <a:latin typeface="Aptos Display"/>
              </a:rPr>
              <a:t>Đặc điểm doanh thu theo </a:t>
            </a:r>
            <a:r>
              <a:rPr lang="en-US" dirty="0" smtClean="0">
                <a:latin typeface="Aptos Display"/>
              </a:rPr>
              <a:t>Buyer Type</a:t>
            </a:r>
            <a:endParaRPr dirty="0">
              <a:latin typeface="Aptos Display"/>
            </a:endParaRPr>
          </a:p>
        </p:txBody>
      </p:sp>
      <p:sp>
        <p:nvSpPr>
          <p:cNvPr id="3" name="Rectangle 2"/>
          <p:cNvSpPr/>
          <p:nvPr/>
        </p:nvSpPr>
        <p:spPr>
          <a:xfrm>
            <a:off x="464949" y="1232922"/>
            <a:ext cx="8229600" cy="2554545"/>
          </a:xfrm>
          <a:prstGeom prst="rect">
            <a:avLst/>
          </a:prstGeom>
        </p:spPr>
        <p:txBody>
          <a:bodyPr wrap="square">
            <a:spAutoFit/>
          </a:bodyPr>
          <a:lstStyle/>
          <a:p>
            <a:r>
              <a:rPr lang="vi-VN" sz="1600" b="1" dirty="0" smtClean="0"/>
              <a:t>Bán lẻ (Retail)</a:t>
            </a:r>
            <a:endParaRPr lang="vi-VN" sz="1600" dirty="0" smtClean="0"/>
          </a:p>
          <a:p>
            <a:pPr marL="457200">
              <a:buFont typeface="Wingdings" pitchFamily="2" charset="2"/>
              <a:buChar char="§"/>
            </a:pPr>
            <a:r>
              <a:rPr lang="vi-VN" sz="1600" b="1" dirty="0" smtClean="0"/>
              <a:t>Xu hướng tăng nhẹ</a:t>
            </a:r>
            <a:r>
              <a:rPr lang="vi-VN" sz="1600" dirty="0" smtClean="0"/>
              <a:t>, doanh thu ổn định</a:t>
            </a:r>
          </a:p>
          <a:p>
            <a:pPr marL="457200">
              <a:buFont typeface="Wingdings" pitchFamily="2" charset="2"/>
              <a:buChar char="§"/>
            </a:pPr>
            <a:r>
              <a:rPr lang="vi-VN" sz="1600" dirty="0" smtClean="0"/>
              <a:t>Mùa vụ theo tuần rõ → phù hợp </a:t>
            </a:r>
            <a:r>
              <a:rPr lang="vi-VN" sz="1600" b="1" dirty="0" smtClean="0"/>
              <a:t>dự báo ngắn hạn &amp; quản trị tồn kho linh hoạt</a:t>
            </a:r>
            <a:endParaRPr lang="vi-VN" sz="1600" dirty="0" smtClean="0"/>
          </a:p>
          <a:p>
            <a:r>
              <a:rPr lang="vi-VN" sz="1600" b="1" dirty="0" smtClean="0"/>
              <a:t>Bán sỉ (Wholesale)</a:t>
            </a:r>
            <a:endParaRPr lang="vi-VN" sz="1600" dirty="0" smtClean="0"/>
          </a:p>
          <a:p>
            <a:pPr marL="457200">
              <a:buFont typeface="Wingdings" pitchFamily="2" charset="2"/>
              <a:buChar char="§"/>
            </a:pPr>
            <a:r>
              <a:rPr lang="vi-VN" sz="1600" b="1" dirty="0" smtClean="0"/>
              <a:t>Xu hướng suy giảm</a:t>
            </a:r>
            <a:r>
              <a:rPr lang="vi-VN" sz="1600" dirty="0" smtClean="0"/>
              <a:t>, biến động rất cao</a:t>
            </a:r>
          </a:p>
          <a:p>
            <a:pPr marL="457200">
              <a:buFont typeface="Wingdings" pitchFamily="2" charset="2"/>
              <a:buChar char="§"/>
            </a:pPr>
            <a:r>
              <a:rPr lang="vi-VN" sz="1600" dirty="0" smtClean="0"/>
              <a:t>Phụ thuộc đơn hàng theo đợt → </a:t>
            </a:r>
            <a:r>
              <a:rPr lang="vi-VN" sz="1600" b="1" dirty="0" smtClean="0"/>
              <a:t>rủi ro dự báo lớn</a:t>
            </a:r>
            <a:endParaRPr lang="vi-VN" sz="1600" dirty="0" smtClean="0"/>
          </a:p>
          <a:p>
            <a:r>
              <a:rPr lang="vi-VN" sz="1600" b="1" dirty="0" smtClean="0"/>
              <a:t>Hàm ý quản trị</a:t>
            </a:r>
            <a:endParaRPr lang="vi-VN" sz="1600" dirty="0" smtClean="0"/>
          </a:p>
          <a:p>
            <a:pPr marL="457200">
              <a:buFont typeface="Wingdings" pitchFamily="2" charset="2"/>
              <a:buChar char="§"/>
            </a:pPr>
            <a:r>
              <a:rPr lang="vi-VN" sz="1600" dirty="0" smtClean="0"/>
              <a:t>Động lực doanh thu </a:t>
            </a:r>
            <a:r>
              <a:rPr lang="vi-VN" sz="1600" b="1" dirty="0" smtClean="0"/>
              <a:t>dịch chuyển từ bán sỉ sang bán lẻ</a:t>
            </a:r>
            <a:r>
              <a:rPr lang="vi-VN" sz="1600" dirty="0" smtClean="0"/>
              <a:t> trong ngắn hạn</a:t>
            </a:r>
          </a:p>
          <a:p>
            <a:pPr marL="457200">
              <a:buFont typeface="Wingdings" pitchFamily="2" charset="2"/>
              <a:buChar char="§"/>
            </a:pPr>
            <a:r>
              <a:rPr lang="vi-VN" sz="1600" dirty="0" smtClean="0"/>
              <a:t>Cần ưu tiên </a:t>
            </a:r>
            <a:r>
              <a:rPr lang="vi-VN" sz="1600" b="1" dirty="0" smtClean="0"/>
              <a:t>khả năng phản ứng nhanh</a:t>
            </a:r>
            <a:r>
              <a:rPr lang="vi-VN" sz="1600" dirty="0" smtClean="0"/>
              <a:t> cho kênh bán lẻ, đồng thời </a:t>
            </a:r>
            <a:r>
              <a:rPr lang="vi-VN" sz="1600" b="1" dirty="0" smtClean="0"/>
              <a:t>rà soát chiến lược khách hàng sỉ</a:t>
            </a:r>
            <a:endParaRPr lang="vi-VN" sz="1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B04C6A-C246-EFF2-F4E0-B57F852896D1}"/>
              </a:ext>
            </a:extLst>
          </p:cNvPr>
          <p:cNvSpPr>
            <a:spLocks noGrp="1"/>
          </p:cNvSpPr>
          <p:nvPr>
            <p:ph type="title"/>
          </p:nvPr>
        </p:nvSpPr>
        <p:spPr>
          <a:xfrm>
            <a:off x="2317949" y="1307100"/>
            <a:ext cx="5756375" cy="2529300"/>
          </a:xfrm>
          <a:noFill/>
          <a:ln>
            <a:noFill/>
          </a:ln>
        </p:spPr>
        <p:txBody>
          <a:bodyPr spcFirstLastPara="1" wrap="square" lIns="91425" tIns="91425" rIns="91425" bIns="91425" anchor="ctr" anchorCtr="0">
            <a:noAutofit/>
          </a:bodyPr>
          <a:lstStyle/>
          <a:p>
            <a:pPr>
              <a:spcBef>
                <a:spcPts val="300"/>
              </a:spcBef>
              <a:spcAft>
                <a:spcPts val="300"/>
              </a:spcAft>
            </a:pPr>
            <a:r>
              <a:rPr lang="en-US" sz="4800" dirty="0" smtClean="0">
                <a:latin typeface="+mn-lt"/>
              </a:rPr>
              <a:t>5. KẾT LUẬN</a:t>
            </a:r>
            <a:endParaRPr lang="en-US" sz="4800" dirty="0">
              <a:latin typeface="+mn-lt"/>
            </a:endParaRPr>
          </a:p>
        </p:txBody>
      </p:sp>
    </p:spTree>
    <p:extLst>
      <p:ext uri="{BB962C8B-B14F-4D97-AF65-F5344CB8AC3E}">
        <p14:creationId xmlns="" xmlns:p14="http://schemas.microsoft.com/office/powerpoint/2010/main" val="39292028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50189" y="914400"/>
            <a:ext cx="8229599" cy="3416320"/>
          </a:xfrm>
          <a:prstGeom prst="rect">
            <a:avLst/>
          </a:prstGeom>
          <a:noFill/>
        </p:spPr>
        <p:txBody>
          <a:bodyPr wrap="square" rtlCol="0">
            <a:spAutoFit/>
          </a:bodyPr>
          <a:lstStyle/>
          <a:p>
            <a:pPr marL="457200" indent="-225425" algn="just">
              <a:buFont typeface="Wingdings" pitchFamily="2" charset="2"/>
              <a:buChar char="q"/>
            </a:pPr>
            <a:r>
              <a:rPr lang="vi-VN" sz="1800" b="1" dirty="0" smtClean="0"/>
              <a:t>Doanh thu có xu hướng tăng theo thời gian</a:t>
            </a:r>
            <a:r>
              <a:rPr lang="vi-VN" sz="1800" dirty="0" smtClean="0"/>
              <a:t> nhưng chịu ảnh hưởng rõ rệt của </a:t>
            </a:r>
            <a:r>
              <a:rPr lang="vi-VN" sz="1800" b="1" dirty="0" smtClean="0"/>
              <a:t>mùa vụ và biến động ngắn hạn</a:t>
            </a:r>
            <a:r>
              <a:rPr lang="vi-VN" sz="1800" dirty="0" smtClean="0"/>
              <a:t>, đồng thời tập trung vào một số </a:t>
            </a:r>
            <a:r>
              <a:rPr lang="vi-VN" sz="1800" b="1" dirty="0" smtClean="0"/>
              <a:t>sản phẩm và nhóm khách hàng chủ chốt</a:t>
            </a:r>
            <a:r>
              <a:rPr lang="vi-VN" sz="1800" dirty="0" smtClean="0"/>
              <a:t>, phản ánh đặc trưng điển hình của bán lẻ.</a:t>
            </a:r>
          </a:p>
          <a:p>
            <a:pPr marL="457200" indent="-225425" algn="just">
              <a:buFont typeface="Wingdings" pitchFamily="2" charset="2"/>
              <a:buChar char="q"/>
            </a:pPr>
            <a:r>
              <a:rPr lang="vi-VN" sz="1800" b="1" dirty="0" smtClean="0"/>
              <a:t>Động lực doanh thu khác biệt rõ rệt giữa các phân khúc</a:t>
            </a:r>
            <a:r>
              <a:rPr lang="vi-VN" sz="1800" dirty="0" smtClean="0"/>
              <a:t>: nhóm khách hàng giá trị cao và kênh bán lẻ đóng vai trò nền tảng với mức độ ổn định và khả năng dự báo tốt hơn, trong khi các nhóm còn lại biến động mạnh và tiềm ẩn rủi ro hoạch định.</a:t>
            </a:r>
          </a:p>
          <a:p>
            <a:pPr marL="457200" indent="-225425" algn="just">
              <a:buFont typeface="Wingdings" pitchFamily="2" charset="2"/>
              <a:buChar char="q"/>
            </a:pPr>
            <a:r>
              <a:rPr lang="vi-VN" sz="1800" b="1" dirty="0" smtClean="0"/>
              <a:t>Mô hình SARIMA cho kết quả dự báo ngắn hạn hiệu quả</a:t>
            </a:r>
            <a:r>
              <a:rPr lang="vi-VN" sz="1800" dirty="0" smtClean="0"/>
              <a:t>, nắm bắt tốt xu hướng và mùa vụ, cung cấp cơ sở định lượng cho các quyết định về tồn kho, phân bổ nguồn lực và lập kế hoạch bán hàng trong quản trị chuỗi cung ứng.</a:t>
            </a:r>
          </a:p>
        </p:txBody>
      </p:sp>
      <p:sp>
        <p:nvSpPr>
          <p:cNvPr id="5" name="Title 1"/>
          <p:cNvSpPr txBox="1">
            <a:spLocks/>
          </p:cNvSpPr>
          <p:nvPr/>
        </p:nvSpPr>
        <p:spPr>
          <a:xfrm>
            <a:off x="464950" y="280901"/>
            <a:ext cx="8214102" cy="1211263"/>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chemeClr val="dk1"/>
              </a:buClr>
              <a:buSzPts val="2800"/>
              <a:buFont typeface="Poppins"/>
              <a:buNone/>
              <a:tabLst/>
              <a:defRPr/>
            </a:pPr>
            <a:r>
              <a:rPr kumimoji="0" lang="en-US" sz="2800" b="1" i="0" u="none" strike="noStrike" kern="0" cap="none" spc="0" normalizeH="0" baseline="0" noProof="0" dirty="0" err="1" smtClean="0">
                <a:ln>
                  <a:noFill/>
                </a:ln>
                <a:solidFill>
                  <a:schemeClr val="dk1"/>
                </a:solidFill>
                <a:effectLst/>
                <a:uLnTx/>
                <a:uFillTx/>
                <a:latin typeface="Aptos Display"/>
                <a:ea typeface="Poppins"/>
                <a:cs typeface="Poppins"/>
                <a:sym typeface="Poppins"/>
              </a:rPr>
              <a:t>Kết</a:t>
            </a:r>
            <a:r>
              <a:rPr kumimoji="0" lang="en-US" sz="2800" b="1" i="0" u="none" strike="noStrike" kern="0" cap="none" spc="0" normalizeH="0" noProof="0" dirty="0" smtClean="0">
                <a:ln>
                  <a:noFill/>
                </a:ln>
                <a:solidFill>
                  <a:schemeClr val="dk1"/>
                </a:solidFill>
                <a:effectLst/>
                <a:uLnTx/>
                <a:uFillTx/>
                <a:latin typeface="Aptos Display"/>
                <a:ea typeface="Poppins"/>
                <a:cs typeface="Poppins"/>
                <a:sym typeface="Poppins"/>
              </a:rPr>
              <a:t> </a:t>
            </a:r>
            <a:r>
              <a:rPr kumimoji="0" lang="en-US" sz="2800" b="1" i="0" u="none" strike="noStrike" kern="0" cap="none" spc="0" normalizeH="0" noProof="0" dirty="0" err="1" smtClean="0">
                <a:ln>
                  <a:noFill/>
                </a:ln>
                <a:solidFill>
                  <a:schemeClr val="dk1"/>
                </a:solidFill>
                <a:effectLst/>
                <a:uLnTx/>
                <a:uFillTx/>
                <a:latin typeface="Aptos Display"/>
                <a:ea typeface="Poppins"/>
                <a:cs typeface="Poppins"/>
                <a:sym typeface="Poppins"/>
              </a:rPr>
              <a:t>luận</a:t>
            </a:r>
            <a:endParaRPr kumimoji="0" lang="vi-VN" sz="2800" b="1" i="0" u="none" strike="noStrike" kern="0" cap="none" spc="0" normalizeH="0" baseline="0" noProof="0" dirty="0">
              <a:ln>
                <a:noFill/>
              </a:ln>
              <a:solidFill>
                <a:schemeClr val="dk1"/>
              </a:solidFill>
              <a:effectLst/>
              <a:uLnTx/>
              <a:uFillTx/>
              <a:latin typeface="Aptos Display"/>
              <a:ea typeface="Poppins"/>
              <a:cs typeface="Poppins"/>
              <a:sym typeface="Poppin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B04C6A-C246-EFF2-F4E0-B57F852896D1}"/>
              </a:ext>
            </a:extLst>
          </p:cNvPr>
          <p:cNvSpPr>
            <a:spLocks noGrp="1"/>
          </p:cNvSpPr>
          <p:nvPr>
            <p:ph type="title"/>
          </p:nvPr>
        </p:nvSpPr>
        <p:spPr>
          <a:xfrm>
            <a:off x="2317950" y="1307100"/>
            <a:ext cx="4563298" cy="2529300"/>
          </a:xfrm>
          <a:noFill/>
          <a:ln>
            <a:noFill/>
          </a:ln>
        </p:spPr>
        <p:txBody>
          <a:bodyPr spcFirstLastPara="1" wrap="square" lIns="91425" tIns="91425" rIns="91425" bIns="91425" anchor="ctr" anchorCtr="0">
            <a:noAutofit/>
          </a:bodyPr>
          <a:lstStyle/>
          <a:p>
            <a:pPr>
              <a:spcBef>
                <a:spcPts val="300"/>
              </a:spcBef>
              <a:spcAft>
                <a:spcPts val="300"/>
              </a:spcAft>
            </a:pPr>
            <a:r>
              <a:rPr lang="en-US" sz="4800" dirty="0" smtClean="0">
                <a:latin typeface="Montserrat" panose="00000500000000000000" pitchFamily="2" charset="0"/>
              </a:rPr>
              <a:t>CẢM ƠN</a:t>
            </a:r>
            <a:endParaRPr lang="en-US" sz="4800" dirty="0">
              <a:latin typeface="Montserrat" panose="00000500000000000000" pitchFamily="2" charset="0"/>
            </a:endParaRPr>
          </a:p>
        </p:txBody>
      </p:sp>
    </p:spTree>
    <p:extLst>
      <p:ext uri="{BB962C8B-B14F-4D97-AF65-F5344CB8AC3E}">
        <p14:creationId xmlns="" xmlns:p14="http://schemas.microsoft.com/office/powerpoint/2010/main" val="3929202884"/>
      </p:ext>
    </p:extLst>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681</TotalTime>
  <Words>2578</Words>
  <Application>Microsoft Office PowerPoint</Application>
  <PresentationFormat>On-screen Show (16:9)</PresentationFormat>
  <Paragraphs>173</Paragraphs>
  <Slides>59</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59</vt:i4>
      </vt:variant>
    </vt:vector>
  </HeadingPairs>
  <TitlesOfParts>
    <vt:vector size="72" baseType="lpstr">
      <vt:lpstr>Arial</vt:lpstr>
      <vt:lpstr>Poppins</vt:lpstr>
      <vt:lpstr>Didact Gothic</vt:lpstr>
      <vt:lpstr>Raleway</vt:lpstr>
      <vt:lpstr>Segoe UI Black</vt:lpstr>
      <vt:lpstr>Aptos Display</vt:lpstr>
      <vt:lpstr>Wingdings</vt:lpstr>
      <vt:lpstr>Century</vt:lpstr>
      <vt:lpstr>Symbol</vt:lpstr>
      <vt:lpstr>Montserrat</vt:lpstr>
      <vt:lpstr>Libre Franklin</vt:lpstr>
      <vt:lpstr>Nunito Light</vt:lpstr>
      <vt:lpstr>Cycle Diagrams Theme for a Business Plan by Slidesgo</vt:lpstr>
      <vt:lpstr>PHÂN TÍCH DỮ LIỆU  BÁN LẺ TRỰC TUYẾN</vt:lpstr>
      <vt:lpstr>Table of contents</vt:lpstr>
      <vt:lpstr>BỐI CẢNH VÀ MỤC TIÊU</vt:lpstr>
      <vt:lpstr>Business Goal 1</vt:lpstr>
      <vt:lpstr>Mục tiêu phân tích</vt:lpstr>
      <vt:lpstr>Bài toán nghiệp vụ</vt:lpstr>
      <vt:lpstr>Câu chuyện dữ liệu</vt:lpstr>
      <vt:lpstr>SMART – Specific &amp; Measurable</vt:lpstr>
      <vt:lpstr>SMART – Achievable &amp; Relevant</vt:lpstr>
      <vt:lpstr>SMART – Time - bound</vt:lpstr>
      <vt:lpstr>Business Goal 2</vt:lpstr>
      <vt:lpstr>Mục tiêu phân tích</vt:lpstr>
      <vt:lpstr>Bài toán nghiệp vụ</vt:lpstr>
      <vt:lpstr>Câu chuyện dữ liệu</vt:lpstr>
      <vt:lpstr>SMART Goals</vt:lpstr>
      <vt:lpstr>2. PHƯƠNG PHÁP TIẾP CẬN  BÀI TOÁN</vt:lpstr>
      <vt:lpstr>Slide 17</vt:lpstr>
      <vt:lpstr>Slide 18</vt:lpstr>
      <vt:lpstr>Slide 19</vt:lpstr>
      <vt:lpstr>3. KẾT QUẢ</vt:lpstr>
      <vt:lpstr>3. 1. Tổng quan dữ liệu</vt:lpstr>
      <vt:lpstr>3. 1. Tổng quan dữ liệu</vt:lpstr>
      <vt:lpstr>Xu hướng doanh thu theo thời gian</vt:lpstr>
      <vt:lpstr>Làm trơn &amp; biến động doanh thu</vt:lpstr>
      <vt:lpstr>Slide 25</vt:lpstr>
      <vt:lpstr>Slide 26</vt:lpstr>
      <vt:lpstr>Tăng trưởng WoW &amp; MoM</vt:lpstr>
      <vt:lpstr>Slide 28</vt:lpstr>
      <vt:lpstr>Slide 29</vt:lpstr>
      <vt:lpstr>Phân tích theo sản phẩm</vt:lpstr>
      <vt:lpstr>Slide 31</vt:lpstr>
      <vt:lpstr>Phân tích theo khách hàng</vt:lpstr>
      <vt:lpstr>Slide 33</vt:lpstr>
      <vt:lpstr>Phân tích theo quốc gia</vt:lpstr>
      <vt:lpstr>Slide 35</vt:lpstr>
      <vt:lpstr>Phân tích theo Tier</vt:lpstr>
      <vt:lpstr>Phân tích theo Tier</vt:lpstr>
      <vt:lpstr>Phân tích theo BuyerType</vt:lpstr>
      <vt:lpstr>Phân tích theo BuyerType</vt:lpstr>
      <vt:lpstr>Phân tích theo BuyerType</vt:lpstr>
      <vt:lpstr>4. INSIGHTS</vt:lpstr>
      <vt:lpstr>4.1. NHẬN ĐỊNH VÀ  RỦI RO </vt:lpstr>
      <vt:lpstr>Nhận định chính</vt:lpstr>
      <vt:lpstr>Rủi ro tiềm ẩn</vt:lpstr>
      <vt:lpstr>4.2. PHÂN TÍCH VÀ  ĐÁNH GIÁ KẾT QUẢ  DỰ BÁO BẰNG  MÔ HÌNH SARIMA </vt:lpstr>
      <vt:lpstr>Slide 46</vt:lpstr>
      <vt:lpstr>B. SARIMA – Mô hình thứ nhất (Cơ sở)</vt:lpstr>
      <vt:lpstr>Slide 48</vt:lpstr>
      <vt:lpstr>SARIMA – Mô hình thứ hai (Cải tiến)</vt:lpstr>
      <vt:lpstr>So sánh hai mô hình SARIMA</vt:lpstr>
      <vt:lpstr>Slide 51</vt:lpstr>
      <vt:lpstr>Hàm ý quản trị từ kết quả dự báo</vt:lpstr>
      <vt:lpstr>Hạn chế &amp; Hướng phát triển</vt:lpstr>
      <vt:lpstr>4.3. ĐẶC ĐIỂM CÁC CHIỀU</vt:lpstr>
      <vt:lpstr>Đặc điểm doanh thu theo Tier khách hàng</vt:lpstr>
      <vt:lpstr>Đặc điểm doanh thu theo Buyer Type</vt:lpstr>
      <vt:lpstr>5. KẾT LUẬN</vt:lpstr>
      <vt:lpstr>Slide 58</vt:lpstr>
      <vt:lpstr>CẢM ƠN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DỮ LIỆU  BÁN LẺ TRỰC TUYẾN</dc:title>
  <cp:lastModifiedBy>Phong Hao Pham</cp:lastModifiedBy>
  <cp:revision>41</cp:revision>
  <dcterms:modified xsi:type="dcterms:W3CDTF">2026-01-31T06:23:56Z</dcterms:modified>
</cp:coreProperties>
</file>